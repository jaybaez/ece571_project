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7" r:id="rId1"/>
  </p:sldMasterIdLst>
  <p:notesMasterIdLst>
    <p:notesMasterId r:id="rId43"/>
  </p:notesMasterIdLst>
  <p:sldIdLst>
    <p:sldId id="436" r:id="rId2"/>
    <p:sldId id="417" r:id="rId3"/>
    <p:sldId id="369" r:id="rId4"/>
    <p:sldId id="395" r:id="rId5"/>
    <p:sldId id="396" r:id="rId6"/>
    <p:sldId id="397" r:id="rId7"/>
    <p:sldId id="398" r:id="rId8"/>
    <p:sldId id="399" r:id="rId9"/>
    <p:sldId id="406" r:id="rId10"/>
    <p:sldId id="420" r:id="rId11"/>
    <p:sldId id="407" r:id="rId12"/>
    <p:sldId id="421" r:id="rId13"/>
    <p:sldId id="419" r:id="rId14"/>
    <p:sldId id="408" r:id="rId15"/>
    <p:sldId id="400" r:id="rId16"/>
    <p:sldId id="401" r:id="rId17"/>
    <p:sldId id="402" r:id="rId18"/>
    <p:sldId id="403" r:id="rId19"/>
    <p:sldId id="404" r:id="rId20"/>
    <p:sldId id="409" r:id="rId21"/>
    <p:sldId id="418" r:id="rId22"/>
    <p:sldId id="411" r:id="rId23"/>
    <p:sldId id="424" r:id="rId24"/>
    <p:sldId id="422" r:id="rId25"/>
    <p:sldId id="423" r:id="rId26"/>
    <p:sldId id="426" r:id="rId27"/>
    <p:sldId id="425" r:id="rId28"/>
    <p:sldId id="427" r:id="rId29"/>
    <p:sldId id="428" r:id="rId30"/>
    <p:sldId id="429" r:id="rId31"/>
    <p:sldId id="430" r:id="rId32"/>
    <p:sldId id="431" r:id="rId33"/>
    <p:sldId id="432" r:id="rId34"/>
    <p:sldId id="433" r:id="rId35"/>
    <p:sldId id="443" r:id="rId36"/>
    <p:sldId id="437" r:id="rId37"/>
    <p:sldId id="438" r:id="rId38"/>
    <p:sldId id="439" r:id="rId39"/>
    <p:sldId id="440" r:id="rId40"/>
    <p:sldId id="441" r:id="rId41"/>
    <p:sldId id="442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936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159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0EBB0EF-93BF-4477-BA90-D0D0A68F02D6}" type="datetime1">
              <a:rPr lang="en-US" altLang="en-US"/>
              <a:pPr>
                <a:defRPr/>
              </a:pPr>
              <a:t>11/4/2020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B01637AE-FE30-490B-A65A-C004893569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w.dictionary.yahoo.com/dictionary?p=skateboarding&amp;docuid=LtbiyXnJV0tbDV/4FbUhLA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yun.dreye.com/ews/index_dict.php" TargetMode="External"/><Relationship Id="rId4" Type="http://schemas.openxmlformats.org/officeDocument/2006/relationships/hyperlink" Target="https://tw.dictionary.yahoo.com/dictionary?p=skateboard&amp;tab=related-expression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/>
          </a:p>
        </p:txBody>
      </p:sp>
      <p:sp>
        <p:nvSpPr>
          <p:cNvPr id="3891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41FFE87-4FA2-48CC-900A-B5210EE2CAA5}" type="slidenum">
              <a:rPr lang="zh-TW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TW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/>
          </a:p>
        </p:txBody>
      </p:sp>
      <p:sp>
        <p:nvSpPr>
          <p:cNvPr id="4096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A91D2FE-0E4C-4694-8118-974F50346DEA}" type="slidenum">
              <a:rPr lang="zh-TW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TW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/>
          </a:p>
        </p:txBody>
      </p:sp>
      <p:sp>
        <p:nvSpPr>
          <p:cNvPr id="4301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8E7A2D4-7006-4412-BE0E-B4C0F6F7DA91}" type="slidenum">
              <a:rPr lang="zh-TW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TW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r>
              <a:rPr lang="en-US" altLang="zh-TW" smtClean="0"/>
              <a:t>Caption generation story like</a:t>
            </a:r>
            <a:endParaRPr lang="zh-TW" altLang="en-US" smtClean="0"/>
          </a:p>
          <a:p>
            <a:pPr defTabSz="914400"/>
            <a:r>
              <a:rPr lang="en-US" altLang="zh-TW" smtClean="0"/>
              <a:t>How to do story like !!!!!!!!!!!!!!!!!!</a:t>
            </a:r>
          </a:p>
          <a:p>
            <a:pPr defTabSz="914400"/>
            <a:endParaRPr lang="en-US" altLang="zh-TW" smtClean="0"/>
          </a:p>
          <a:p>
            <a:pPr defTabSz="914400"/>
            <a:r>
              <a:rPr lang="en-US" altLang="zh-TW" smtClean="0"/>
              <a:t>http://www.cs.toronto.edu/~mbweb/</a:t>
            </a:r>
          </a:p>
          <a:p>
            <a:pPr defTabSz="914400"/>
            <a:r>
              <a:rPr lang="en-US" altLang="zh-TW" smtClean="0"/>
              <a:t>https://github.com/ryankiros/neural-storyteller</a:t>
            </a:r>
            <a:endParaRPr lang="zh-TW" altLang="en-US" smtClean="0"/>
          </a:p>
          <a:p>
            <a:pPr defTabSz="914400"/>
            <a:endParaRPr lang="zh-TW" altLang="en-US" smtClean="0"/>
          </a:p>
        </p:txBody>
      </p:sp>
      <p:sp>
        <p:nvSpPr>
          <p:cNvPr id="4506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DC6B8A-66E5-42CF-B50E-0233B1DB402B}" type="slidenum">
              <a:rPr lang="zh-TW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TW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 smtClean="0">
                <a:ea typeface="PMingLiU" pitchFamily="18" charset="-120"/>
              </a:rPr>
              <a:t>滑板相關詞</a:t>
            </a:r>
          </a:p>
          <a:p>
            <a:r>
              <a:rPr lang="en-US" altLang="zh-TW" smtClean="0">
                <a:ea typeface="PMingLiU" pitchFamily="18" charset="-120"/>
                <a:hlinkClick r:id="rId3"/>
              </a:rPr>
              <a:t>skateboarding</a:t>
            </a:r>
            <a:endParaRPr lang="en-US" altLang="zh-TW" smtClean="0">
              <a:ea typeface="PMingLiU" pitchFamily="18" charset="-120"/>
            </a:endParaRPr>
          </a:p>
          <a:p>
            <a:r>
              <a:rPr lang="zh-TW" altLang="en-US" smtClean="0">
                <a:ea typeface="PMingLiU" pitchFamily="18" charset="-120"/>
                <a:hlinkClick r:id="rId4"/>
              </a:rPr>
              <a:t>查看全部</a:t>
            </a:r>
            <a:endParaRPr lang="zh-TW" altLang="en-US" smtClean="0">
              <a:ea typeface="PMingLiU" pitchFamily="18" charset="-120"/>
            </a:endParaRPr>
          </a:p>
          <a:p>
            <a:pPr fontAlgn="t"/>
            <a:r>
              <a:rPr lang="en-US" altLang="zh-TW" b="1" smtClean="0">
                <a:ea typeface="PMingLiU" pitchFamily="18" charset="-120"/>
              </a:rPr>
              <a:t>skateboard</a:t>
            </a:r>
          </a:p>
          <a:p>
            <a:r>
              <a:rPr lang="en-US" altLang="zh-TW" smtClean="0">
                <a:ea typeface="PMingLiU" pitchFamily="18" charset="-120"/>
              </a:rPr>
              <a:t> </a:t>
            </a:r>
            <a:r>
              <a:rPr lang="en-US" altLang="zh-TW" baseline="30000" smtClean="0">
                <a:ea typeface="PMingLiU" pitchFamily="18" charset="-120"/>
              </a:rPr>
              <a:t>1</a:t>
            </a:r>
            <a:r>
              <a:rPr lang="en-US" altLang="zh-TW" smtClean="0">
                <a:ea typeface="PMingLiU" pitchFamily="18" charset="-120"/>
              </a:rPr>
              <a:t> </a:t>
            </a:r>
            <a:r>
              <a:rPr lang="en-US" altLang="zh-TW" smtClean="0">
                <a:ea typeface="PMingLiU" pitchFamily="18" charset="-120"/>
                <a:hlinkClick r:id="rId5"/>
              </a:rPr>
              <a:t>Dr.eye</a:t>
            </a:r>
            <a:r>
              <a:rPr lang="zh-TW" altLang="en-US" smtClean="0">
                <a:ea typeface="PMingLiU" pitchFamily="18" charset="-120"/>
                <a:hlinkClick r:id="rId5"/>
              </a:rPr>
              <a:t>譯典通</a:t>
            </a:r>
            <a:endParaRPr lang="zh-TW" altLang="en-US" smtClean="0">
              <a:ea typeface="PMingLiU" pitchFamily="18" charset="-120"/>
            </a:endParaRPr>
          </a:p>
          <a:p>
            <a:r>
              <a:rPr lang="en-US" altLang="zh-TW" smtClean="0">
                <a:ea typeface="PMingLiU" pitchFamily="18" charset="-120"/>
              </a:rPr>
              <a:t>KK [ˋsket</a:t>
            </a:r>
            <a:r>
              <a:rPr lang="el-GR" altLang="zh-TW" smtClean="0">
                <a:ea typeface="PMingLiU" pitchFamily="18" charset="-120"/>
              </a:rPr>
              <a:t>͵</a:t>
            </a:r>
            <a:r>
              <a:rPr lang="en-US" altLang="zh-TW" smtClean="0">
                <a:ea typeface="PMingLiU" pitchFamily="18" charset="-120"/>
              </a:rPr>
              <a:t>bord] DJ [ˋskeitbɔ:d]  </a:t>
            </a:r>
          </a:p>
          <a:p>
            <a:endParaRPr lang="zh-TW" altLang="en-US" smtClean="0"/>
          </a:p>
        </p:txBody>
      </p:sp>
      <p:sp>
        <p:nvSpPr>
          <p:cNvPr id="4710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DBE2C38-9E23-458A-BD7E-6C146FA19305}" type="slidenum">
              <a:rPr lang="zh-TW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TW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TW" smtClean="0"/>
              <a:t>Another application is summarization</a:t>
            </a:r>
            <a:endParaRPr lang="zh-TW" altLang="en-US" smtClean="0"/>
          </a:p>
        </p:txBody>
      </p:sp>
      <p:sp>
        <p:nvSpPr>
          <p:cNvPr id="4915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34F3717-2D7C-44CA-94FE-F1A2A3DCABD8}" type="slidenum">
              <a:rPr lang="zh-TW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TW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B52D06-9491-4075-A6A0-7E51689968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7333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0F6B4-F596-49FA-8F58-66B7FAD9C5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357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85BC2-5D47-4128-95DB-F845B820D7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769E5-67F5-498F-8A36-B2963D65C6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197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62145-A845-4359-A8F3-720C5C33E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89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04E75-6778-4E0C-88F4-8C2AB870EE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154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488E2-F289-4538-9415-AD19B19377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1527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970F76-2614-42FE-A435-E48D1FBC6A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0441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8E93C-1F41-473E-964E-86C0B3155D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317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87DF57-DBEE-4939-91E8-2185B64173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74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8D0DD-8627-4505-807C-C390550059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800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2236269-D7D0-4A77-86EC-91C0F180BC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Introduction to LSTM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Fully Connected Network</a:t>
            </a:r>
          </a:p>
        </p:txBody>
      </p:sp>
      <p:pic>
        <p:nvPicPr>
          <p:cNvPr id="4099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05000"/>
            <a:ext cx="7035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4"/>
          <p:cNvSpPr txBox="1">
            <a:spLocks noChangeArrowheads="1"/>
          </p:cNvSpPr>
          <p:nvPr/>
        </p:nvSpPr>
        <p:spPr bwMode="auto">
          <a:xfrm>
            <a:off x="457200" y="5791200"/>
            <a:ext cx="77406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This is our fully connected network. If x</a:t>
            </a:r>
            <a:r>
              <a:rPr lang="en-US" altLang="en-US" baseline="-25000">
                <a:latin typeface="Arial" panose="020B0604020202020204" pitchFamily="34" charset="0"/>
                <a:ea typeface="MS PGothic" panose="020B0600070205080204" pitchFamily="34" charset="-128"/>
              </a:rPr>
              <a:t>1 .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... x</a:t>
            </a:r>
            <a:r>
              <a:rPr lang="en-US" altLang="en-US" baseline="-25000">
                <a:latin typeface="Arial" panose="020B0604020202020204" pitchFamily="34" charset="0"/>
                <a:ea typeface="MS PGothic" panose="020B0600070205080204" pitchFamily="34" charset="-128"/>
              </a:rPr>
              <a:t>n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, n is very large and growing, 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this network would become too large. We now will input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one x</a:t>
            </a:r>
            <a:r>
              <a:rPr lang="en-US" altLang="en-US" baseline="-25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at a time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and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re-use the same edge weights.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Recurrent Neural Network</a:t>
            </a:r>
          </a:p>
        </p:txBody>
      </p:sp>
      <p:pic>
        <p:nvPicPr>
          <p:cNvPr id="512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00200"/>
            <a:ext cx="6096000" cy="244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495800"/>
            <a:ext cx="8274050" cy="217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How does RNN reduce complexity?</a:t>
            </a:r>
          </a:p>
        </p:txBody>
      </p:sp>
      <p:sp>
        <p:nvSpPr>
          <p:cNvPr id="6147" name="Content Placeholder 33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495300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Given function f: h’,y=f(h,x)</a:t>
            </a:r>
          </a:p>
        </p:txBody>
      </p:sp>
      <p:sp>
        <p:nvSpPr>
          <p:cNvPr id="6" name="矩形 34"/>
          <p:cNvSpPr/>
          <p:nvPr/>
        </p:nvSpPr>
        <p:spPr>
          <a:xfrm>
            <a:off x="1443038" y="3709988"/>
            <a:ext cx="930275" cy="930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7" name="矩形 35"/>
          <p:cNvSpPr/>
          <p:nvPr/>
        </p:nvSpPr>
        <p:spPr>
          <a:xfrm>
            <a:off x="477838" y="3709988"/>
            <a:ext cx="508000" cy="9302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h</a:t>
            </a:r>
            <a:r>
              <a:rPr lang="en-US" altLang="zh-TW" sz="2400" baseline="30000" dirty="0">
                <a:solidFill>
                  <a:srgbClr val="000000"/>
                </a:solidFill>
              </a:rPr>
              <a:t>0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8" name="矩形 36"/>
          <p:cNvSpPr/>
          <p:nvPr/>
        </p:nvSpPr>
        <p:spPr>
          <a:xfrm>
            <a:off x="2797175" y="3732213"/>
            <a:ext cx="508000" cy="93186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h</a:t>
            </a:r>
            <a:r>
              <a:rPr lang="en-US" altLang="zh-TW" sz="2400" baseline="30000" dirty="0">
                <a:solidFill>
                  <a:srgbClr val="000000"/>
                </a:solidFill>
              </a:rPr>
              <a:t>1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9" name="矩形 37"/>
          <p:cNvSpPr/>
          <p:nvPr/>
        </p:nvSpPr>
        <p:spPr>
          <a:xfrm>
            <a:off x="1447800" y="2819400"/>
            <a:ext cx="931863" cy="4651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y</a:t>
            </a:r>
            <a:r>
              <a:rPr lang="en-US" altLang="zh-TW" sz="2400" baseline="30000" dirty="0">
                <a:solidFill>
                  <a:srgbClr val="000000"/>
                </a:solidFill>
              </a:rPr>
              <a:t>1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10" name="矩形 38"/>
          <p:cNvSpPr/>
          <p:nvPr/>
        </p:nvSpPr>
        <p:spPr>
          <a:xfrm>
            <a:off x="1443038" y="5032375"/>
            <a:ext cx="930275" cy="4651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x</a:t>
            </a:r>
            <a:r>
              <a:rPr lang="en-US" altLang="zh-TW" sz="2400" baseline="30000" dirty="0"/>
              <a:t>1</a:t>
            </a:r>
            <a:endParaRPr lang="zh-TW" altLang="en-US" sz="2800" baseline="30000" dirty="0"/>
          </a:p>
        </p:txBody>
      </p:sp>
      <p:cxnSp>
        <p:nvCxnSpPr>
          <p:cNvPr id="11" name="直線單箭頭接點 39"/>
          <p:cNvCxnSpPr>
            <a:cxnSpLocks/>
          </p:cNvCxnSpPr>
          <p:nvPr/>
        </p:nvCxnSpPr>
        <p:spPr>
          <a:xfrm>
            <a:off x="1036638" y="4181475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40"/>
          <p:cNvCxnSpPr>
            <a:cxnSpLocks/>
          </p:cNvCxnSpPr>
          <p:nvPr/>
        </p:nvCxnSpPr>
        <p:spPr>
          <a:xfrm>
            <a:off x="2408238" y="4198938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41"/>
          <p:cNvCxnSpPr>
            <a:cxnSpLocks/>
          </p:cNvCxnSpPr>
          <p:nvPr/>
        </p:nvCxnSpPr>
        <p:spPr>
          <a:xfrm rot="16200000">
            <a:off x="1731169" y="3501232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42"/>
          <p:cNvCxnSpPr>
            <a:cxnSpLocks/>
          </p:cNvCxnSpPr>
          <p:nvPr/>
        </p:nvCxnSpPr>
        <p:spPr>
          <a:xfrm rot="16200000">
            <a:off x="1730375" y="4835526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43"/>
          <p:cNvSpPr/>
          <p:nvPr/>
        </p:nvSpPr>
        <p:spPr>
          <a:xfrm>
            <a:off x="3729038" y="3738563"/>
            <a:ext cx="930275" cy="931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16" name="矩形 44"/>
          <p:cNvSpPr/>
          <p:nvPr/>
        </p:nvSpPr>
        <p:spPr>
          <a:xfrm>
            <a:off x="5083175" y="3762375"/>
            <a:ext cx="508000" cy="9302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h</a:t>
            </a:r>
            <a:r>
              <a:rPr lang="en-US" altLang="zh-TW" sz="2400" baseline="30000" dirty="0">
                <a:solidFill>
                  <a:srgbClr val="000000"/>
                </a:solidFill>
              </a:rPr>
              <a:t>2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17" name="矩形 45"/>
          <p:cNvSpPr/>
          <p:nvPr/>
        </p:nvSpPr>
        <p:spPr>
          <a:xfrm>
            <a:off x="3729038" y="2852738"/>
            <a:ext cx="930275" cy="4667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y</a:t>
            </a:r>
            <a:r>
              <a:rPr lang="en-US" altLang="zh-TW" sz="2400" baseline="30000" dirty="0">
                <a:solidFill>
                  <a:srgbClr val="000000"/>
                </a:solidFill>
              </a:rPr>
              <a:t>2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18" name="矩形 46"/>
          <p:cNvSpPr/>
          <p:nvPr/>
        </p:nvSpPr>
        <p:spPr>
          <a:xfrm>
            <a:off x="3729038" y="5060950"/>
            <a:ext cx="930275" cy="4651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x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cxnSp>
        <p:nvCxnSpPr>
          <p:cNvPr id="19" name="直線單箭頭接點 47"/>
          <p:cNvCxnSpPr>
            <a:cxnSpLocks/>
          </p:cNvCxnSpPr>
          <p:nvPr/>
        </p:nvCxnSpPr>
        <p:spPr>
          <a:xfrm>
            <a:off x="3322638" y="4210050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48"/>
          <p:cNvCxnSpPr>
            <a:cxnSpLocks/>
          </p:cNvCxnSpPr>
          <p:nvPr/>
        </p:nvCxnSpPr>
        <p:spPr>
          <a:xfrm>
            <a:off x="4694238" y="4227513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49"/>
          <p:cNvCxnSpPr>
            <a:cxnSpLocks/>
          </p:cNvCxnSpPr>
          <p:nvPr/>
        </p:nvCxnSpPr>
        <p:spPr>
          <a:xfrm rot="16200000">
            <a:off x="4016375" y="3530601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50"/>
          <p:cNvCxnSpPr>
            <a:cxnSpLocks/>
          </p:cNvCxnSpPr>
          <p:nvPr/>
        </p:nvCxnSpPr>
        <p:spPr>
          <a:xfrm rot="16200000">
            <a:off x="4017169" y="4864894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51"/>
          <p:cNvSpPr/>
          <p:nvPr/>
        </p:nvSpPr>
        <p:spPr>
          <a:xfrm>
            <a:off x="6048375" y="3743325"/>
            <a:ext cx="931863" cy="931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4" name="矩形 52"/>
          <p:cNvSpPr/>
          <p:nvPr/>
        </p:nvSpPr>
        <p:spPr>
          <a:xfrm>
            <a:off x="7402513" y="3767138"/>
            <a:ext cx="508000" cy="9302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h</a:t>
            </a:r>
            <a:r>
              <a:rPr lang="en-US" altLang="zh-TW" sz="2400" baseline="30000" dirty="0">
                <a:solidFill>
                  <a:srgbClr val="000000"/>
                </a:solidFill>
              </a:rPr>
              <a:t>3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25" name="矩形 53"/>
          <p:cNvSpPr/>
          <p:nvPr/>
        </p:nvSpPr>
        <p:spPr>
          <a:xfrm>
            <a:off x="6048375" y="2857500"/>
            <a:ext cx="931863" cy="4667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y</a:t>
            </a:r>
            <a:r>
              <a:rPr lang="en-US" altLang="zh-TW" sz="2400" baseline="30000" dirty="0">
                <a:solidFill>
                  <a:srgbClr val="000000"/>
                </a:solidFill>
              </a:rPr>
              <a:t>3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26" name="矩形 54"/>
          <p:cNvSpPr/>
          <p:nvPr/>
        </p:nvSpPr>
        <p:spPr>
          <a:xfrm>
            <a:off x="6048375" y="5065713"/>
            <a:ext cx="931863" cy="465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x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cxnSp>
        <p:nvCxnSpPr>
          <p:cNvPr id="27" name="直線單箭頭接點 55"/>
          <p:cNvCxnSpPr>
            <a:cxnSpLocks/>
          </p:cNvCxnSpPr>
          <p:nvPr/>
        </p:nvCxnSpPr>
        <p:spPr>
          <a:xfrm>
            <a:off x="5641975" y="4214813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56"/>
          <p:cNvCxnSpPr>
            <a:cxnSpLocks/>
          </p:cNvCxnSpPr>
          <p:nvPr/>
        </p:nvCxnSpPr>
        <p:spPr>
          <a:xfrm>
            <a:off x="7013575" y="4232275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57"/>
          <p:cNvCxnSpPr>
            <a:cxnSpLocks/>
          </p:cNvCxnSpPr>
          <p:nvPr/>
        </p:nvCxnSpPr>
        <p:spPr>
          <a:xfrm rot="16200000">
            <a:off x="6335712" y="3535363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58"/>
          <p:cNvCxnSpPr>
            <a:cxnSpLocks/>
          </p:cNvCxnSpPr>
          <p:nvPr/>
        </p:nvCxnSpPr>
        <p:spPr>
          <a:xfrm rot="16200000">
            <a:off x="6336506" y="4869657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59"/>
          <p:cNvSpPr txBox="1">
            <a:spLocks noChangeArrowheads="1"/>
          </p:cNvSpPr>
          <p:nvPr/>
        </p:nvSpPr>
        <p:spPr bwMode="auto">
          <a:xfrm>
            <a:off x="7991475" y="3913188"/>
            <a:ext cx="930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800" b="1">
                <a:latin typeface="Arial" panose="020B0604020202020204" pitchFamily="34" charset="0"/>
                <a:ea typeface="MS PGothic" panose="020B0600070205080204" pitchFamily="34" charset="-128"/>
              </a:rPr>
              <a:t>……</a:t>
            </a:r>
            <a:endParaRPr lang="zh-TW" altLang="en-US" sz="28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2" name="文字方塊 71"/>
          <p:cNvSpPr txBox="1">
            <a:spLocks noChangeArrowheads="1"/>
          </p:cNvSpPr>
          <p:nvPr/>
        </p:nvSpPr>
        <p:spPr bwMode="auto">
          <a:xfrm>
            <a:off x="1203325" y="5710238"/>
            <a:ext cx="65468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No matter how long the input/output sequence is, we only need one function f. If f’s are different, then it becomes a feedforward NN. This may be treated as another compression from fully connected network.</a:t>
            </a:r>
            <a:endParaRPr lang="zh-TW" altLang="en-US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3" name="文字方塊 67"/>
          <p:cNvSpPr txBox="1">
            <a:spLocks noChangeArrowheads="1"/>
          </p:cNvSpPr>
          <p:nvPr/>
        </p:nvSpPr>
        <p:spPr bwMode="auto">
          <a:xfrm>
            <a:off x="5589588" y="1663700"/>
            <a:ext cx="3248025" cy="708025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smtClean="0">
                <a:solidFill>
                  <a:srgbClr val="000000"/>
                </a:solidFill>
              </a:rPr>
              <a:t>h and h’ are vectors with the same dimension</a:t>
            </a:r>
            <a:endParaRPr lang="zh-TW" altLang="en-US" sz="20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18" grpId="0" animBg="1"/>
      <p:bldP spid="23" grpId="0" animBg="1"/>
      <p:bldP spid="24" grpId="0" animBg="1"/>
      <p:bldP spid="25" grpId="0" animBg="1"/>
      <p:bldP spid="26" grpId="0" animBg="1"/>
      <p:bldP spid="31" grpId="0"/>
      <p:bldP spid="32" grpId="0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1"/>
          <p:cNvSpPr txBox="1">
            <a:spLocks/>
          </p:cNvSpPr>
          <p:nvPr/>
        </p:nvSpPr>
        <p:spPr bwMode="auto">
          <a:xfrm>
            <a:off x="152400" y="152400"/>
            <a:ext cx="2971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TW" sz="38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Deep RNN</a:t>
            </a:r>
            <a:endParaRPr lang="zh-TW" altLang="en-US" sz="380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矩形 55"/>
          <p:cNvSpPr/>
          <p:nvPr/>
        </p:nvSpPr>
        <p:spPr>
          <a:xfrm>
            <a:off x="1592263" y="4884738"/>
            <a:ext cx="930275" cy="931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1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6" name="矩形 56"/>
          <p:cNvSpPr/>
          <p:nvPr/>
        </p:nvSpPr>
        <p:spPr>
          <a:xfrm>
            <a:off x="627063" y="4884738"/>
            <a:ext cx="508000" cy="93186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h</a:t>
            </a:r>
            <a:r>
              <a:rPr lang="en-US" altLang="zh-TW" sz="2400" baseline="30000" dirty="0"/>
              <a:t>0</a:t>
            </a:r>
            <a:endParaRPr lang="zh-TW" altLang="en-US" sz="2400" baseline="30000" dirty="0"/>
          </a:p>
        </p:txBody>
      </p:sp>
      <p:sp>
        <p:nvSpPr>
          <p:cNvPr id="7" name="矩形 57"/>
          <p:cNvSpPr/>
          <p:nvPr/>
        </p:nvSpPr>
        <p:spPr>
          <a:xfrm>
            <a:off x="2946400" y="4906963"/>
            <a:ext cx="508000" cy="93186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h</a:t>
            </a:r>
            <a:r>
              <a:rPr lang="en-US" altLang="zh-TW" sz="2400" baseline="30000" dirty="0"/>
              <a:t>1</a:t>
            </a:r>
            <a:endParaRPr lang="zh-TW" altLang="en-US" sz="2800" baseline="30000" dirty="0"/>
          </a:p>
        </p:txBody>
      </p:sp>
      <p:sp>
        <p:nvSpPr>
          <p:cNvPr id="8" name="矩形 58"/>
          <p:cNvSpPr/>
          <p:nvPr/>
        </p:nvSpPr>
        <p:spPr>
          <a:xfrm>
            <a:off x="1592263" y="3998913"/>
            <a:ext cx="930275" cy="4651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y</a:t>
            </a:r>
            <a:r>
              <a:rPr lang="en-US" altLang="zh-TW" sz="2800" baseline="30000" dirty="0"/>
              <a:t>1</a:t>
            </a:r>
            <a:endParaRPr lang="zh-TW" altLang="en-US" sz="2800" baseline="30000" dirty="0"/>
          </a:p>
        </p:txBody>
      </p:sp>
      <p:sp>
        <p:nvSpPr>
          <p:cNvPr id="9" name="矩形 59"/>
          <p:cNvSpPr/>
          <p:nvPr/>
        </p:nvSpPr>
        <p:spPr>
          <a:xfrm>
            <a:off x="1592263" y="6207125"/>
            <a:ext cx="930275" cy="4651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x</a:t>
            </a:r>
            <a:r>
              <a:rPr lang="en-US" altLang="zh-TW" sz="2800" baseline="30000" dirty="0"/>
              <a:t>1</a:t>
            </a:r>
            <a:endParaRPr lang="zh-TW" altLang="en-US" sz="2800" baseline="30000" dirty="0"/>
          </a:p>
        </p:txBody>
      </p:sp>
      <p:cxnSp>
        <p:nvCxnSpPr>
          <p:cNvPr id="10" name="直線單箭頭接點 60"/>
          <p:cNvCxnSpPr>
            <a:cxnSpLocks/>
          </p:cNvCxnSpPr>
          <p:nvPr/>
        </p:nvCxnSpPr>
        <p:spPr>
          <a:xfrm>
            <a:off x="1185863" y="5356225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61"/>
          <p:cNvCxnSpPr>
            <a:cxnSpLocks/>
          </p:cNvCxnSpPr>
          <p:nvPr/>
        </p:nvCxnSpPr>
        <p:spPr>
          <a:xfrm>
            <a:off x="2557463" y="5373688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62"/>
          <p:cNvCxnSpPr>
            <a:cxnSpLocks/>
          </p:cNvCxnSpPr>
          <p:nvPr/>
        </p:nvCxnSpPr>
        <p:spPr>
          <a:xfrm rot="16200000">
            <a:off x="1880394" y="4675982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63"/>
          <p:cNvCxnSpPr>
            <a:cxnSpLocks/>
          </p:cNvCxnSpPr>
          <p:nvPr/>
        </p:nvCxnSpPr>
        <p:spPr>
          <a:xfrm rot="16200000">
            <a:off x="1880394" y="6011069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64"/>
          <p:cNvSpPr/>
          <p:nvPr/>
        </p:nvSpPr>
        <p:spPr>
          <a:xfrm>
            <a:off x="3878263" y="4913313"/>
            <a:ext cx="930275" cy="931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1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15" name="矩形 65"/>
          <p:cNvSpPr/>
          <p:nvPr/>
        </p:nvSpPr>
        <p:spPr>
          <a:xfrm>
            <a:off x="5232400" y="4937125"/>
            <a:ext cx="508000" cy="9302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h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16" name="矩形 66"/>
          <p:cNvSpPr/>
          <p:nvPr/>
        </p:nvSpPr>
        <p:spPr>
          <a:xfrm>
            <a:off x="3878263" y="4027488"/>
            <a:ext cx="930275" cy="4667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y</a:t>
            </a:r>
            <a:r>
              <a:rPr lang="en-US" altLang="zh-TW" sz="2800" baseline="30000" dirty="0"/>
              <a:t>2</a:t>
            </a:r>
            <a:endParaRPr lang="zh-TW" altLang="en-US" sz="2800" baseline="30000" dirty="0"/>
          </a:p>
        </p:txBody>
      </p:sp>
      <p:sp>
        <p:nvSpPr>
          <p:cNvPr id="17" name="矩形 67"/>
          <p:cNvSpPr/>
          <p:nvPr/>
        </p:nvSpPr>
        <p:spPr>
          <a:xfrm>
            <a:off x="3878263" y="6235700"/>
            <a:ext cx="930275" cy="4651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x</a:t>
            </a:r>
            <a:r>
              <a:rPr lang="en-US" altLang="zh-TW" sz="2800" baseline="30000" dirty="0"/>
              <a:t>2</a:t>
            </a:r>
            <a:endParaRPr lang="zh-TW" altLang="en-US" sz="2800" baseline="30000" dirty="0"/>
          </a:p>
        </p:txBody>
      </p:sp>
      <p:cxnSp>
        <p:nvCxnSpPr>
          <p:cNvPr id="18" name="直線單箭頭接點 68"/>
          <p:cNvCxnSpPr>
            <a:cxnSpLocks/>
          </p:cNvCxnSpPr>
          <p:nvPr/>
        </p:nvCxnSpPr>
        <p:spPr>
          <a:xfrm>
            <a:off x="3471863" y="5384800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69"/>
          <p:cNvCxnSpPr>
            <a:cxnSpLocks/>
          </p:cNvCxnSpPr>
          <p:nvPr/>
        </p:nvCxnSpPr>
        <p:spPr>
          <a:xfrm>
            <a:off x="4843463" y="5402263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70"/>
          <p:cNvCxnSpPr>
            <a:cxnSpLocks/>
          </p:cNvCxnSpPr>
          <p:nvPr/>
        </p:nvCxnSpPr>
        <p:spPr>
          <a:xfrm rot="16200000">
            <a:off x="4165600" y="4705351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71"/>
          <p:cNvCxnSpPr>
            <a:cxnSpLocks/>
          </p:cNvCxnSpPr>
          <p:nvPr/>
        </p:nvCxnSpPr>
        <p:spPr>
          <a:xfrm rot="16200000">
            <a:off x="4166394" y="6039644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72"/>
          <p:cNvSpPr/>
          <p:nvPr/>
        </p:nvSpPr>
        <p:spPr>
          <a:xfrm>
            <a:off x="6197600" y="4918075"/>
            <a:ext cx="931863" cy="931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1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23" name="矩形 73"/>
          <p:cNvSpPr/>
          <p:nvPr/>
        </p:nvSpPr>
        <p:spPr>
          <a:xfrm>
            <a:off x="7551738" y="4941888"/>
            <a:ext cx="508000" cy="9302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h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sp>
        <p:nvSpPr>
          <p:cNvPr id="24" name="矩形 74"/>
          <p:cNvSpPr/>
          <p:nvPr/>
        </p:nvSpPr>
        <p:spPr>
          <a:xfrm>
            <a:off x="6197600" y="4032250"/>
            <a:ext cx="931863" cy="4667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y</a:t>
            </a:r>
            <a:r>
              <a:rPr lang="en-US" altLang="zh-TW" sz="2800" baseline="30000" dirty="0"/>
              <a:t>3</a:t>
            </a:r>
            <a:endParaRPr lang="zh-TW" altLang="en-US" sz="2800" baseline="30000" dirty="0"/>
          </a:p>
        </p:txBody>
      </p:sp>
      <p:sp>
        <p:nvSpPr>
          <p:cNvPr id="25" name="矩形 75"/>
          <p:cNvSpPr/>
          <p:nvPr/>
        </p:nvSpPr>
        <p:spPr>
          <a:xfrm>
            <a:off x="6197600" y="6240463"/>
            <a:ext cx="931863" cy="465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x</a:t>
            </a:r>
            <a:r>
              <a:rPr lang="en-US" altLang="zh-TW" sz="2800" baseline="30000" dirty="0"/>
              <a:t>3</a:t>
            </a:r>
            <a:endParaRPr lang="zh-TW" altLang="en-US" sz="2800" baseline="30000" dirty="0"/>
          </a:p>
        </p:txBody>
      </p:sp>
      <p:cxnSp>
        <p:nvCxnSpPr>
          <p:cNvPr id="26" name="直線單箭頭接點 76"/>
          <p:cNvCxnSpPr>
            <a:cxnSpLocks/>
          </p:cNvCxnSpPr>
          <p:nvPr/>
        </p:nvCxnSpPr>
        <p:spPr>
          <a:xfrm>
            <a:off x="5791200" y="5389563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77"/>
          <p:cNvCxnSpPr>
            <a:cxnSpLocks/>
          </p:cNvCxnSpPr>
          <p:nvPr/>
        </p:nvCxnSpPr>
        <p:spPr>
          <a:xfrm>
            <a:off x="7162800" y="5407025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78"/>
          <p:cNvCxnSpPr>
            <a:cxnSpLocks/>
          </p:cNvCxnSpPr>
          <p:nvPr/>
        </p:nvCxnSpPr>
        <p:spPr>
          <a:xfrm rot="16200000">
            <a:off x="6484937" y="4710113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79"/>
          <p:cNvCxnSpPr>
            <a:cxnSpLocks/>
          </p:cNvCxnSpPr>
          <p:nvPr/>
        </p:nvCxnSpPr>
        <p:spPr>
          <a:xfrm rot="16200000">
            <a:off x="6485731" y="6044407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80"/>
          <p:cNvSpPr txBox="1">
            <a:spLocks noChangeArrowheads="1"/>
          </p:cNvSpPr>
          <p:nvPr/>
        </p:nvSpPr>
        <p:spPr bwMode="auto">
          <a:xfrm>
            <a:off x="8113713" y="5087938"/>
            <a:ext cx="931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800" b="1">
                <a:latin typeface="Arial" panose="020B0604020202020204" pitchFamily="34" charset="0"/>
                <a:ea typeface="MS PGothic" panose="020B0600070205080204" pitchFamily="34" charset="-128"/>
              </a:rPr>
              <a:t>……</a:t>
            </a:r>
            <a:endParaRPr lang="zh-TW" altLang="en-US" sz="28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1" name="矩形 81"/>
          <p:cNvSpPr/>
          <p:nvPr/>
        </p:nvSpPr>
        <p:spPr>
          <a:xfrm>
            <a:off x="1574800" y="2643188"/>
            <a:ext cx="931863" cy="9302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chemeClr val="tx1"/>
                </a:solidFill>
              </a:rPr>
              <a:t>f</a:t>
            </a:r>
            <a:r>
              <a:rPr lang="en-US" altLang="zh-TW" sz="2800" baseline="-25000" dirty="0">
                <a:solidFill>
                  <a:schemeClr val="tx1"/>
                </a:solidFill>
              </a:rPr>
              <a:t>2</a:t>
            </a:r>
            <a:endParaRPr lang="zh-TW" altLang="en-US" sz="2800" baseline="-25000" dirty="0">
              <a:solidFill>
                <a:schemeClr val="tx1"/>
              </a:solidFill>
            </a:endParaRPr>
          </a:p>
        </p:txBody>
      </p:sp>
      <p:sp>
        <p:nvSpPr>
          <p:cNvPr id="32" name="矩形 82"/>
          <p:cNvSpPr/>
          <p:nvPr/>
        </p:nvSpPr>
        <p:spPr>
          <a:xfrm>
            <a:off x="609600" y="2643188"/>
            <a:ext cx="508000" cy="9302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g</a:t>
            </a:r>
            <a:r>
              <a:rPr lang="en-US" altLang="zh-TW" sz="2400" baseline="30000" dirty="0"/>
              <a:t>0</a:t>
            </a:r>
            <a:endParaRPr lang="zh-TW" altLang="en-US" sz="2400" baseline="30000" dirty="0"/>
          </a:p>
        </p:txBody>
      </p:sp>
      <p:sp>
        <p:nvSpPr>
          <p:cNvPr id="33" name="矩形 83"/>
          <p:cNvSpPr/>
          <p:nvPr/>
        </p:nvSpPr>
        <p:spPr>
          <a:xfrm>
            <a:off x="2928938" y="2665413"/>
            <a:ext cx="508000" cy="9318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g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34" name="矩形 84"/>
          <p:cNvSpPr/>
          <p:nvPr/>
        </p:nvSpPr>
        <p:spPr>
          <a:xfrm>
            <a:off x="1574800" y="1757363"/>
            <a:ext cx="931863" cy="4651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z</a:t>
            </a:r>
            <a:r>
              <a:rPr lang="en-US" altLang="zh-TW" sz="2800" baseline="30000" dirty="0"/>
              <a:t>1</a:t>
            </a:r>
            <a:endParaRPr lang="zh-TW" altLang="en-US" sz="2800" baseline="30000" dirty="0"/>
          </a:p>
        </p:txBody>
      </p:sp>
      <p:cxnSp>
        <p:nvCxnSpPr>
          <p:cNvPr id="35" name="直線單箭頭接點 86"/>
          <p:cNvCxnSpPr>
            <a:cxnSpLocks/>
          </p:cNvCxnSpPr>
          <p:nvPr/>
        </p:nvCxnSpPr>
        <p:spPr>
          <a:xfrm>
            <a:off x="1168400" y="3114675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87"/>
          <p:cNvCxnSpPr>
            <a:cxnSpLocks/>
          </p:cNvCxnSpPr>
          <p:nvPr/>
        </p:nvCxnSpPr>
        <p:spPr>
          <a:xfrm>
            <a:off x="2540000" y="3130550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88"/>
          <p:cNvCxnSpPr>
            <a:cxnSpLocks/>
          </p:cNvCxnSpPr>
          <p:nvPr/>
        </p:nvCxnSpPr>
        <p:spPr>
          <a:xfrm rot="16200000">
            <a:off x="1862931" y="2434432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89"/>
          <p:cNvCxnSpPr>
            <a:cxnSpLocks/>
          </p:cNvCxnSpPr>
          <p:nvPr/>
        </p:nvCxnSpPr>
        <p:spPr>
          <a:xfrm rot="16200000">
            <a:off x="1862137" y="3768726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90"/>
          <p:cNvSpPr/>
          <p:nvPr/>
        </p:nvSpPr>
        <p:spPr>
          <a:xfrm>
            <a:off x="3860800" y="2671763"/>
            <a:ext cx="931863" cy="9302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2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40" name="矩形 91"/>
          <p:cNvSpPr/>
          <p:nvPr/>
        </p:nvSpPr>
        <p:spPr>
          <a:xfrm>
            <a:off x="5214938" y="2693988"/>
            <a:ext cx="508000" cy="9318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g</a:t>
            </a:r>
            <a:r>
              <a:rPr lang="en-US" altLang="zh-TW" sz="2400" baseline="30000" dirty="0"/>
              <a:t>2</a:t>
            </a:r>
            <a:endParaRPr lang="zh-TW" altLang="en-US" sz="2800" baseline="30000" dirty="0"/>
          </a:p>
        </p:txBody>
      </p:sp>
      <p:sp>
        <p:nvSpPr>
          <p:cNvPr id="41" name="矩形 92"/>
          <p:cNvSpPr/>
          <p:nvPr/>
        </p:nvSpPr>
        <p:spPr>
          <a:xfrm>
            <a:off x="3860800" y="1785938"/>
            <a:ext cx="931863" cy="4651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z</a:t>
            </a:r>
            <a:r>
              <a:rPr lang="en-US" altLang="zh-TW" sz="2800" baseline="30000" dirty="0"/>
              <a:t>2</a:t>
            </a:r>
            <a:endParaRPr lang="zh-TW" altLang="en-US" sz="2800" baseline="30000" dirty="0"/>
          </a:p>
        </p:txBody>
      </p:sp>
      <p:cxnSp>
        <p:nvCxnSpPr>
          <p:cNvPr id="42" name="直線單箭頭接點 94"/>
          <p:cNvCxnSpPr>
            <a:cxnSpLocks/>
          </p:cNvCxnSpPr>
          <p:nvPr/>
        </p:nvCxnSpPr>
        <p:spPr>
          <a:xfrm>
            <a:off x="3454400" y="3143250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95"/>
          <p:cNvCxnSpPr>
            <a:cxnSpLocks/>
          </p:cNvCxnSpPr>
          <p:nvPr/>
        </p:nvCxnSpPr>
        <p:spPr>
          <a:xfrm>
            <a:off x="4826000" y="3160713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96"/>
          <p:cNvCxnSpPr>
            <a:cxnSpLocks/>
          </p:cNvCxnSpPr>
          <p:nvPr/>
        </p:nvCxnSpPr>
        <p:spPr>
          <a:xfrm rot="16200000">
            <a:off x="4148931" y="2463007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97"/>
          <p:cNvCxnSpPr>
            <a:cxnSpLocks/>
          </p:cNvCxnSpPr>
          <p:nvPr/>
        </p:nvCxnSpPr>
        <p:spPr>
          <a:xfrm rot="16200000">
            <a:off x="4148137" y="3797301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98"/>
          <p:cNvSpPr/>
          <p:nvPr/>
        </p:nvSpPr>
        <p:spPr>
          <a:xfrm>
            <a:off x="6180138" y="2676525"/>
            <a:ext cx="931862" cy="9318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2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47" name="矩形 99"/>
          <p:cNvSpPr/>
          <p:nvPr/>
        </p:nvSpPr>
        <p:spPr>
          <a:xfrm>
            <a:off x="7535863" y="2698750"/>
            <a:ext cx="508000" cy="93186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g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sp>
        <p:nvSpPr>
          <p:cNvPr id="48" name="矩形 100"/>
          <p:cNvSpPr/>
          <p:nvPr/>
        </p:nvSpPr>
        <p:spPr>
          <a:xfrm>
            <a:off x="6180138" y="1790700"/>
            <a:ext cx="931862" cy="4651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z</a:t>
            </a:r>
            <a:r>
              <a:rPr lang="en-US" altLang="zh-TW" sz="2800" baseline="30000" dirty="0"/>
              <a:t>3</a:t>
            </a:r>
            <a:endParaRPr lang="zh-TW" altLang="en-US" sz="2800" baseline="30000" dirty="0"/>
          </a:p>
        </p:txBody>
      </p:sp>
      <p:cxnSp>
        <p:nvCxnSpPr>
          <p:cNvPr id="49" name="直線單箭頭接點 102"/>
          <p:cNvCxnSpPr>
            <a:cxnSpLocks/>
          </p:cNvCxnSpPr>
          <p:nvPr/>
        </p:nvCxnSpPr>
        <p:spPr>
          <a:xfrm>
            <a:off x="5773738" y="3148013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103"/>
          <p:cNvCxnSpPr>
            <a:cxnSpLocks/>
          </p:cNvCxnSpPr>
          <p:nvPr/>
        </p:nvCxnSpPr>
        <p:spPr>
          <a:xfrm>
            <a:off x="7145338" y="3165475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104"/>
          <p:cNvCxnSpPr>
            <a:cxnSpLocks/>
          </p:cNvCxnSpPr>
          <p:nvPr/>
        </p:nvCxnSpPr>
        <p:spPr>
          <a:xfrm rot="16200000">
            <a:off x="6468269" y="2467769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105"/>
          <p:cNvCxnSpPr>
            <a:cxnSpLocks/>
          </p:cNvCxnSpPr>
          <p:nvPr/>
        </p:nvCxnSpPr>
        <p:spPr>
          <a:xfrm rot="16200000">
            <a:off x="6468269" y="3802857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字方塊 106"/>
          <p:cNvSpPr txBox="1">
            <a:spLocks noChangeArrowheads="1"/>
          </p:cNvSpPr>
          <p:nvPr/>
        </p:nvSpPr>
        <p:spPr bwMode="auto">
          <a:xfrm>
            <a:off x="8093075" y="2787650"/>
            <a:ext cx="930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800" b="1">
                <a:latin typeface="Arial" panose="020B0604020202020204" pitchFamily="34" charset="0"/>
                <a:ea typeface="MS PGothic" panose="020B0600070205080204" pitchFamily="34" charset="-128"/>
              </a:rPr>
              <a:t>……</a:t>
            </a:r>
            <a:endParaRPr lang="zh-TW" altLang="en-US" sz="28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4" name="文字方塊 107"/>
          <p:cNvSpPr txBox="1">
            <a:spLocks noChangeArrowheads="1"/>
          </p:cNvSpPr>
          <p:nvPr/>
        </p:nvSpPr>
        <p:spPr bwMode="auto">
          <a:xfrm rot="5400000">
            <a:off x="4244975" y="1250950"/>
            <a:ext cx="434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800" b="1">
                <a:latin typeface="Arial" panose="020B0604020202020204" pitchFamily="34" charset="0"/>
                <a:ea typeface="MS PGothic" panose="020B0600070205080204" pitchFamily="34" charset="-128"/>
              </a:rPr>
              <a:t>…</a:t>
            </a:r>
            <a:endParaRPr lang="zh-TW" altLang="en-US" sz="28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5" name="文字方塊 108"/>
          <p:cNvSpPr txBox="1">
            <a:spLocks noChangeArrowheads="1"/>
          </p:cNvSpPr>
          <p:nvPr/>
        </p:nvSpPr>
        <p:spPr bwMode="auto">
          <a:xfrm rot="5400000">
            <a:off x="6530975" y="1250950"/>
            <a:ext cx="434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800" b="1">
                <a:latin typeface="Arial" panose="020B0604020202020204" pitchFamily="34" charset="0"/>
                <a:ea typeface="MS PGothic" panose="020B0600070205080204" pitchFamily="34" charset="-128"/>
              </a:rPr>
              <a:t>…</a:t>
            </a:r>
            <a:endParaRPr lang="zh-TW" altLang="en-US" sz="28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6" name="文字方塊 54"/>
          <p:cNvSpPr txBox="1">
            <a:spLocks noChangeArrowheads="1"/>
          </p:cNvSpPr>
          <p:nvPr/>
        </p:nvSpPr>
        <p:spPr bwMode="auto">
          <a:xfrm rot="5400000">
            <a:off x="1958975" y="1250950"/>
            <a:ext cx="434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800" b="1">
                <a:latin typeface="Arial" panose="020B0604020202020204" pitchFamily="34" charset="0"/>
                <a:ea typeface="MS PGothic" panose="020B0600070205080204" pitchFamily="34" charset="-128"/>
              </a:rPr>
              <a:t>…</a:t>
            </a:r>
            <a:endParaRPr lang="zh-TW" altLang="en-US" sz="2800" b="1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9" name="矩形 9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11727" y="666626"/>
            <a:ext cx="484428" cy="46166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7224" name="TextBox 60"/>
          <p:cNvSpPr txBox="1">
            <a:spLocks noChangeArrowheads="1"/>
          </p:cNvSpPr>
          <p:nvPr/>
        </p:nvSpPr>
        <p:spPr bwMode="auto">
          <a:xfrm>
            <a:off x="4343400" y="457200"/>
            <a:ext cx="3644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h’,y = f</a:t>
            </a:r>
            <a:r>
              <a:rPr lang="en-US" altLang="en-US" sz="2400" baseline="-25000"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(h,x), g’,z = f</a:t>
            </a:r>
            <a:r>
              <a:rPr lang="en-US" altLang="en-US" sz="2400" baseline="-25000"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(g,y)</a:t>
            </a:r>
          </a:p>
        </p:txBody>
      </p:sp>
      <p:sp>
        <p:nvSpPr>
          <p:cNvPr id="7225" name="TextBox 61"/>
          <p:cNvSpPr txBox="1">
            <a:spLocks noChangeArrowheads="1"/>
          </p:cNvSpPr>
          <p:nvPr/>
        </p:nvSpPr>
        <p:spPr bwMode="auto">
          <a:xfrm>
            <a:off x="8331200" y="45720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4" grpId="0" animBg="1"/>
      <p:bldP spid="15" grpId="0" animBg="1"/>
      <p:bldP spid="16" grpId="0" animBg="1"/>
      <p:bldP spid="17" grpId="0" animBg="1"/>
      <p:bldP spid="22" grpId="0" animBg="1"/>
      <p:bldP spid="23" grpId="0" animBg="1"/>
      <p:bldP spid="24" grpId="0" animBg="1"/>
      <p:bldP spid="25" grpId="0" animBg="1"/>
      <p:bldP spid="30" grpId="0"/>
      <p:bldP spid="31" grpId="0" animBg="1"/>
      <p:bldP spid="32" grpId="0" animBg="1"/>
      <p:bldP spid="33" grpId="0" animBg="1"/>
      <p:bldP spid="34" grpId="0" animBg="1"/>
      <p:bldP spid="39" grpId="0" animBg="1"/>
      <p:bldP spid="40" grpId="0" animBg="1"/>
      <p:bldP spid="41" grpId="0" animBg="1"/>
      <p:bldP spid="46" grpId="0" animBg="1"/>
      <p:bldP spid="47" grpId="0" animBg="1"/>
      <p:bldP spid="48" grpId="0" animBg="1"/>
      <p:bldP spid="53" grpId="0"/>
      <p:bldP spid="54" grpId="0"/>
      <p:bldP spid="55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60"/>
          <p:cNvSpPr/>
          <p:nvPr/>
        </p:nvSpPr>
        <p:spPr>
          <a:xfrm>
            <a:off x="1795463" y="5060950"/>
            <a:ext cx="930275" cy="930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1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5" name="矩形 61"/>
          <p:cNvSpPr/>
          <p:nvPr/>
        </p:nvSpPr>
        <p:spPr>
          <a:xfrm>
            <a:off x="830263" y="5060950"/>
            <a:ext cx="508000" cy="9302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h</a:t>
            </a:r>
            <a:r>
              <a:rPr lang="en-US" altLang="zh-TW" sz="2400" baseline="30000" dirty="0"/>
              <a:t>0</a:t>
            </a:r>
            <a:endParaRPr lang="zh-TW" altLang="en-US" sz="2400" baseline="30000" dirty="0"/>
          </a:p>
        </p:txBody>
      </p:sp>
      <p:sp>
        <p:nvSpPr>
          <p:cNvPr id="6" name="矩形 62"/>
          <p:cNvSpPr/>
          <p:nvPr/>
        </p:nvSpPr>
        <p:spPr>
          <a:xfrm>
            <a:off x="3149600" y="5083175"/>
            <a:ext cx="508000" cy="9318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h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7" name="矩形 63"/>
          <p:cNvSpPr/>
          <p:nvPr/>
        </p:nvSpPr>
        <p:spPr>
          <a:xfrm>
            <a:off x="1795463" y="4291013"/>
            <a:ext cx="930275" cy="4667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y</a:t>
            </a:r>
            <a:r>
              <a:rPr lang="en-US" altLang="zh-TW" sz="2800" baseline="30000" dirty="0"/>
              <a:t>1</a:t>
            </a:r>
            <a:endParaRPr lang="zh-TW" altLang="en-US" sz="2800" baseline="30000" dirty="0"/>
          </a:p>
        </p:txBody>
      </p:sp>
      <p:sp>
        <p:nvSpPr>
          <p:cNvPr id="8" name="矩形 64"/>
          <p:cNvSpPr/>
          <p:nvPr/>
        </p:nvSpPr>
        <p:spPr>
          <a:xfrm>
            <a:off x="1795463" y="6237288"/>
            <a:ext cx="930275" cy="4667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x</a:t>
            </a:r>
            <a:r>
              <a:rPr lang="en-US" altLang="zh-TW" sz="2800" baseline="30000" dirty="0"/>
              <a:t>1</a:t>
            </a:r>
            <a:endParaRPr lang="zh-TW" altLang="en-US" sz="2800" baseline="30000" dirty="0"/>
          </a:p>
        </p:txBody>
      </p:sp>
      <p:cxnSp>
        <p:nvCxnSpPr>
          <p:cNvPr id="9" name="直線單箭頭接點 65"/>
          <p:cNvCxnSpPr>
            <a:cxnSpLocks/>
          </p:cNvCxnSpPr>
          <p:nvPr/>
        </p:nvCxnSpPr>
        <p:spPr>
          <a:xfrm>
            <a:off x="1389063" y="5532438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66"/>
          <p:cNvCxnSpPr>
            <a:cxnSpLocks/>
          </p:cNvCxnSpPr>
          <p:nvPr/>
        </p:nvCxnSpPr>
        <p:spPr>
          <a:xfrm>
            <a:off x="2760663" y="5549900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67"/>
          <p:cNvCxnSpPr>
            <a:cxnSpLocks/>
          </p:cNvCxnSpPr>
          <p:nvPr/>
        </p:nvCxnSpPr>
        <p:spPr>
          <a:xfrm rot="16200000">
            <a:off x="2143125" y="4911726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68"/>
          <p:cNvCxnSpPr>
            <a:cxnSpLocks/>
          </p:cNvCxnSpPr>
          <p:nvPr/>
        </p:nvCxnSpPr>
        <p:spPr>
          <a:xfrm rot="16200000">
            <a:off x="2143125" y="6100763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69"/>
          <p:cNvSpPr/>
          <p:nvPr/>
        </p:nvSpPr>
        <p:spPr>
          <a:xfrm>
            <a:off x="4081463" y="5089525"/>
            <a:ext cx="930275" cy="931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1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14" name="矩形 70"/>
          <p:cNvSpPr/>
          <p:nvPr/>
        </p:nvSpPr>
        <p:spPr>
          <a:xfrm>
            <a:off x="5435600" y="5113338"/>
            <a:ext cx="508000" cy="9302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h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15" name="矩形 71"/>
          <p:cNvSpPr/>
          <p:nvPr/>
        </p:nvSpPr>
        <p:spPr>
          <a:xfrm>
            <a:off x="4081463" y="4319588"/>
            <a:ext cx="930275" cy="4667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y</a:t>
            </a:r>
            <a:r>
              <a:rPr lang="en-US" altLang="zh-TW" sz="2800" baseline="30000" dirty="0"/>
              <a:t>2</a:t>
            </a:r>
            <a:endParaRPr lang="zh-TW" altLang="en-US" sz="2800" baseline="30000" dirty="0"/>
          </a:p>
        </p:txBody>
      </p:sp>
      <p:sp>
        <p:nvSpPr>
          <p:cNvPr id="16" name="矩形 72"/>
          <p:cNvSpPr/>
          <p:nvPr/>
        </p:nvSpPr>
        <p:spPr>
          <a:xfrm>
            <a:off x="4081463" y="6265863"/>
            <a:ext cx="930275" cy="4667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x</a:t>
            </a:r>
            <a:r>
              <a:rPr lang="en-US" altLang="zh-TW" sz="2800" baseline="30000" dirty="0"/>
              <a:t>2</a:t>
            </a:r>
            <a:endParaRPr lang="zh-TW" altLang="en-US" sz="2800" baseline="30000" dirty="0"/>
          </a:p>
        </p:txBody>
      </p:sp>
      <p:cxnSp>
        <p:nvCxnSpPr>
          <p:cNvPr id="17" name="直線單箭頭接點 73"/>
          <p:cNvCxnSpPr>
            <a:cxnSpLocks/>
          </p:cNvCxnSpPr>
          <p:nvPr/>
        </p:nvCxnSpPr>
        <p:spPr>
          <a:xfrm>
            <a:off x="3675063" y="5561013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74"/>
          <p:cNvCxnSpPr>
            <a:cxnSpLocks/>
          </p:cNvCxnSpPr>
          <p:nvPr/>
        </p:nvCxnSpPr>
        <p:spPr>
          <a:xfrm>
            <a:off x="5046663" y="5578475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75"/>
          <p:cNvCxnSpPr>
            <a:cxnSpLocks/>
          </p:cNvCxnSpPr>
          <p:nvPr/>
        </p:nvCxnSpPr>
        <p:spPr>
          <a:xfrm rot="16200000">
            <a:off x="4429125" y="4941888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76"/>
          <p:cNvCxnSpPr>
            <a:cxnSpLocks/>
          </p:cNvCxnSpPr>
          <p:nvPr/>
        </p:nvCxnSpPr>
        <p:spPr>
          <a:xfrm rot="16200000">
            <a:off x="4429125" y="6130926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77"/>
          <p:cNvSpPr/>
          <p:nvPr/>
        </p:nvSpPr>
        <p:spPr>
          <a:xfrm>
            <a:off x="6400800" y="5094288"/>
            <a:ext cx="931863" cy="931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1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22" name="矩形 78"/>
          <p:cNvSpPr/>
          <p:nvPr/>
        </p:nvSpPr>
        <p:spPr>
          <a:xfrm>
            <a:off x="7754938" y="5118100"/>
            <a:ext cx="508000" cy="93027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h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sp>
        <p:nvSpPr>
          <p:cNvPr id="23" name="矩形 79"/>
          <p:cNvSpPr/>
          <p:nvPr/>
        </p:nvSpPr>
        <p:spPr>
          <a:xfrm>
            <a:off x="6400800" y="4325938"/>
            <a:ext cx="931863" cy="4651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y</a:t>
            </a:r>
            <a:r>
              <a:rPr lang="en-US" altLang="zh-TW" sz="2800" baseline="30000" dirty="0"/>
              <a:t>3</a:t>
            </a:r>
            <a:endParaRPr lang="zh-TW" altLang="en-US" sz="2800" baseline="30000" dirty="0"/>
          </a:p>
        </p:txBody>
      </p:sp>
      <p:sp>
        <p:nvSpPr>
          <p:cNvPr id="24" name="矩形 80"/>
          <p:cNvSpPr/>
          <p:nvPr/>
        </p:nvSpPr>
        <p:spPr>
          <a:xfrm>
            <a:off x="6400800" y="6272213"/>
            <a:ext cx="931863" cy="465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x</a:t>
            </a:r>
            <a:r>
              <a:rPr lang="en-US" altLang="zh-TW" sz="2800" baseline="30000" dirty="0"/>
              <a:t>3</a:t>
            </a:r>
            <a:endParaRPr lang="zh-TW" altLang="en-US" sz="2800" baseline="30000" dirty="0"/>
          </a:p>
        </p:txBody>
      </p:sp>
      <p:cxnSp>
        <p:nvCxnSpPr>
          <p:cNvPr id="25" name="直線單箭頭接點 81"/>
          <p:cNvCxnSpPr>
            <a:cxnSpLocks/>
          </p:cNvCxnSpPr>
          <p:nvPr/>
        </p:nvCxnSpPr>
        <p:spPr>
          <a:xfrm>
            <a:off x="5994400" y="5565775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82"/>
          <p:cNvCxnSpPr>
            <a:cxnSpLocks/>
          </p:cNvCxnSpPr>
          <p:nvPr/>
        </p:nvCxnSpPr>
        <p:spPr>
          <a:xfrm>
            <a:off x="7366000" y="5583238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83"/>
          <p:cNvCxnSpPr>
            <a:cxnSpLocks/>
          </p:cNvCxnSpPr>
          <p:nvPr/>
        </p:nvCxnSpPr>
        <p:spPr>
          <a:xfrm rot="16200000">
            <a:off x="6748462" y="4946651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84"/>
          <p:cNvCxnSpPr>
            <a:cxnSpLocks/>
          </p:cNvCxnSpPr>
          <p:nvPr/>
        </p:nvCxnSpPr>
        <p:spPr>
          <a:xfrm rot="16200000">
            <a:off x="6748462" y="6135688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86"/>
          <p:cNvSpPr/>
          <p:nvPr/>
        </p:nvSpPr>
        <p:spPr>
          <a:xfrm>
            <a:off x="1760538" y="1470025"/>
            <a:ext cx="931862" cy="9318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2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30" name="矩形 87"/>
          <p:cNvSpPr/>
          <p:nvPr/>
        </p:nvSpPr>
        <p:spPr>
          <a:xfrm>
            <a:off x="795338" y="1470025"/>
            <a:ext cx="508000" cy="93186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g</a:t>
            </a:r>
            <a:r>
              <a:rPr lang="en-US" altLang="zh-TW" sz="2800" baseline="30000" dirty="0"/>
              <a:t>0</a:t>
            </a:r>
            <a:endParaRPr lang="zh-TW" altLang="en-US" sz="2800" baseline="30000" dirty="0"/>
          </a:p>
        </p:txBody>
      </p:sp>
      <p:sp>
        <p:nvSpPr>
          <p:cNvPr id="31" name="矩形 88"/>
          <p:cNvSpPr/>
          <p:nvPr/>
        </p:nvSpPr>
        <p:spPr>
          <a:xfrm>
            <a:off x="3116263" y="1493838"/>
            <a:ext cx="508000" cy="9302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g</a:t>
            </a:r>
            <a:r>
              <a:rPr lang="en-US" altLang="zh-TW" sz="2800" baseline="30000" dirty="0"/>
              <a:t>1</a:t>
            </a:r>
            <a:endParaRPr lang="zh-TW" altLang="en-US" sz="2800" baseline="30000" dirty="0"/>
          </a:p>
        </p:txBody>
      </p:sp>
      <p:cxnSp>
        <p:nvCxnSpPr>
          <p:cNvPr id="32" name="直線單箭頭接點 90"/>
          <p:cNvCxnSpPr>
            <a:cxnSpLocks/>
          </p:cNvCxnSpPr>
          <p:nvPr/>
        </p:nvCxnSpPr>
        <p:spPr>
          <a:xfrm flipH="1">
            <a:off x="1354138" y="1941513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91"/>
          <p:cNvCxnSpPr>
            <a:cxnSpLocks/>
          </p:cNvCxnSpPr>
          <p:nvPr/>
        </p:nvCxnSpPr>
        <p:spPr>
          <a:xfrm flipH="1">
            <a:off x="2725738" y="1958975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92"/>
          <p:cNvCxnSpPr>
            <a:cxnSpLocks/>
          </p:cNvCxnSpPr>
          <p:nvPr/>
        </p:nvCxnSpPr>
        <p:spPr>
          <a:xfrm rot="5400000" flipV="1">
            <a:off x="2093912" y="1319213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93"/>
          <p:cNvCxnSpPr>
            <a:cxnSpLocks/>
          </p:cNvCxnSpPr>
          <p:nvPr/>
        </p:nvCxnSpPr>
        <p:spPr>
          <a:xfrm rot="5400000" flipV="1">
            <a:off x="2108200" y="2536826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94"/>
          <p:cNvSpPr/>
          <p:nvPr/>
        </p:nvSpPr>
        <p:spPr>
          <a:xfrm>
            <a:off x="4046538" y="1498600"/>
            <a:ext cx="931862" cy="9318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2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37" name="矩形 95"/>
          <p:cNvSpPr/>
          <p:nvPr/>
        </p:nvSpPr>
        <p:spPr>
          <a:xfrm>
            <a:off x="5402263" y="1522413"/>
            <a:ext cx="508000" cy="9318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g</a:t>
            </a:r>
            <a:r>
              <a:rPr lang="en-US" altLang="zh-TW" sz="2800" baseline="30000" dirty="0"/>
              <a:t>2</a:t>
            </a:r>
            <a:endParaRPr lang="zh-TW" altLang="en-US" sz="2800" baseline="30000" dirty="0"/>
          </a:p>
        </p:txBody>
      </p:sp>
      <p:cxnSp>
        <p:nvCxnSpPr>
          <p:cNvPr id="38" name="直線單箭頭接點 97"/>
          <p:cNvCxnSpPr>
            <a:cxnSpLocks/>
          </p:cNvCxnSpPr>
          <p:nvPr/>
        </p:nvCxnSpPr>
        <p:spPr>
          <a:xfrm flipH="1">
            <a:off x="3640138" y="1971675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98"/>
          <p:cNvCxnSpPr>
            <a:cxnSpLocks/>
          </p:cNvCxnSpPr>
          <p:nvPr/>
        </p:nvCxnSpPr>
        <p:spPr>
          <a:xfrm flipH="1">
            <a:off x="5011738" y="1987550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99"/>
          <p:cNvCxnSpPr>
            <a:cxnSpLocks/>
          </p:cNvCxnSpPr>
          <p:nvPr/>
        </p:nvCxnSpPr>
        <p:spPr>
          <a:xfrm rot="5400000" flipV="1">
            <a:off x="4379912" y="1347788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100"/>
          <p:cNvCxnSpPr>
            <a:cxnSpLocks/>
          </p:cNvCxnSpPr>
          <p:nvPr/>
        </p:nvCxnSpPr>
        <p:spPr>
          <a:xfrm rot="5400000" flipV="1">
            <a:off x="4394200" y="2565401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101"/>
          <p:cNvSpPr/>
          <p:nvPr/>
        </p:nvSpPr>
        <p:spPr>
          <a:xfrm>
            <a:off x="6367463" y="1503363"/>
            <a:ext cx="930275" cy="93186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2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43" name="矩形 102"/>
          <p:cNvSpPr/>
          <p:nvPr/>
        </p:nvSpPr>
        <p:spPr>
          <a:xfrm>
            <a:off x="7721600" y="1527175"/>
            <a:ext cx="508000" cy="93186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g</a:t>
            </a:r>
            <a:r>
              <a:rPr lang="en-US" altLang="zh-TW" sz="2800" baseline="30000" dirty="0"/>
              <a:t>3</a:t>
            </a:r>
            <a:endParaRPr lang="zh-TW" altLang="en-US" sz="2800" baseline="30000" dirty="0"/>
          </a:p>
        </p:txBody>
      </p:sp>
      <p:cxnSp>
        <p:nvCxnSpPr>
          <p:cNvPr id="44" name="直線單箭頭接點 104"/>
          <p:cNvCxnSpPr>
            <a:cxnSpLocks/>
          </p:cNvCxnSpPr>
          <p:nvPr/>
        </p:nvCxnSpPr>
        <p:spPr>
          <a:xfrm flipH="1">
            <a:off x="5961063" y="1976438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105"/>
          <p:cNvCxnSpPr>
            <a:cxnSpLocks/>
          </p:cNvCxnSpPr>
          <p:nvPr/>
        </p:nvCxnSpPr>
        <p:spPr>
          <a:xfrm flipH="1">
            <a:off x="7332663" y="1992313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106"/>
          <p:cNvCxnSpPr>
            <a:cxnSpLocks/>
          </p:cNvCxnSpPr>
          <p:nvPr/>
        </p:nvCxnSpPr>
        <p:spPr>
          <a:xfrm rot="5400000" flipV="1">
            <a:off x="6700837" y="1352551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107"/>
          <p:cNvCxnSpPr>
            <a:cxnSpLocks/>
          </p:cNvCxnSpPr>
          <p:nvPr/>
        </p:nvCxnSpPr>
        <p:spPr>
          <a:xfrm rot="5400000" flipV="1">
            <a:off x="6715125" y="2570163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38" name="矩形 2"/>
          <p:cNvSpPr>
            <a:spLocks noChangeArrowheads="1"/>
          </p:cNvSpPr>
          <p:nvPr/>
        </p:nvSpPr>
        <p:spPr bwMode="auto">
          <a:xfrm>
            <a:off x="220663" y="58738"/>
            <a:ext cx="34226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32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Bidirectional RNN</a:t>
            </a:r>
            <a:endParaRPr lang="zh-TW" altLang="en-US" sz="3200">
              <a:solidFill>
                <a:srgbClr val="FF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9" name="矩形 109"/>
          <p:cNvSpPr/>
          <p:nvPr/>
        </p:nvSpPr>
        <p:spPr>
          <a:xfrm>
            <a:off x="1746250" y="720725"/>
            <a:ext cx="931863" cy="4651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x</a:t>
            </a:r>
            <a:r>
              <a:rPr lang="en-US" altLang="zh-TW" sz="2800" baseline="30000" dirty="0"/>
              <a:t>1</a:t>
            </a:r>
            <a:endParaRPr lang="zh-TW" altLang="en-US" sz="2800" baseline="30000" dirty="0"/>
          </a:p>
        </p:txBody>
      </p:sp>
      <p:sp>
        <p:nvSpPr>
          <p:cNvPr id="50" name="矩形 110"/>
          <p:cNvSpPr/>
          <p:nvPr/>
        </p:nvSpPr>
        <p:spPr>
          <a:xfrm>
            <a:off x="4032250" y="749300"/>
            <a:ext cx="931863" cy="4667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x</a:t>
            </a:r>
            <a:r>
              <a:rPr lang="en-US" altLang="zh-TW" sz="2800" baseline="30000" dirty="0"/>
              <a:t>2</a:t>
            </a:r>
            <a:endParaRPr lang="zh-TW" altLang="en-US" sz="2800" baseline="30000" dirty="0"/>
          </a:p>
        </p:txBody>
      </p:sp>
      <p:sp>
        <p:nvSpPr>
          <p:cNvPr id="51" name="矩形 111"/>
          <p:cNvSpPr/>
          <p:nvPr/>
        </p:nvSpPr>
        <p:spPr>
          <a:xfrm>
            <a:off x="6353175" y="754063"/>
            <a:ext cx="930275" cy="4667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x</a:t>
            </a:r>
            <a:r>
              <a:rPr lang="en-US" altLang="zh-TW" sz="2800" baseline="30000" dirty="0"/>
              <a:t>3</a:t>
            </a:r>
            <a:endParaRPr lang="zh-TW" altLang="en-US" sz="2800" baseline="30000" dirty="0"/>
          </a:p>
        </p:txBody>
      </p:sp>
      <p:sp>
        <p:nvSpPr>
          <p:cNvPr id="52" name="矩形 112"/>
          <p:cNvSpPr/>
          <p:nvPr/>
        </p:nvSpPr>
        <p:spPr>
          <a:xfrm>
            <a:off x="1781175" y="2686050"/>
            <a:ext cx="930275" cy="4651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z</a:t>
            </a:r>
            <a:r>
              <a:rPr lang="en-US" altLang="zh-TW" sz="2800" baseline="30000" dirty="0"/>
              <a:t>1</a:t>
            </a:r>
            <a:endParaRPr lang="zh-TW" altLang="en-US" sz="2800" baseline="30000" dirty="0"/>
          </a:p>
        </p:txBody>
      </p:sp>
      <p:sp>
        <p:nvSpPr>
          <p:cNvPr id="53" name="矩形 113"/>
          <p:cNvSpPr/>
          <p:nvPr/>
        </p:nvSpPr>
        <p:spPr>
          <a:xfrm>
            <a:off x="4067175" y="2714625"/>
            <a:ext cx="930275" cy="4651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z</a:t>
            </a:r>
            <a:r>
              <a:rPr lang="en-US" altLang="zh-TW" sz="2800" baseline="30000" dirty="0"/>
              <a:t>2</a:t>
            </a:r>
            <a:endParaRPr lang="zh-TW" altLang="en-US" sz="2800" baseline="30000" dirty="0"/>
          </a:p>
        </p:txBody>
      </p:sp>
      <p:sp>
        <p:nvSpPr>
          <p:cNvPr id="54" name="矩形 114"/>
          <p:cNvSpPr/>
          <p:nvPr/>
        </p:nvSpPr>
        <p:spPr>
          <a:xfrm>
            <a:off x="6386513" y="2719388"/>
            <a:ext cx="931862" cy="4667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z</a:t>
            </a:r>
            <a:r>
              <a:rPr lang="en-US" altLang="zh-TW" sz="2800" baseline="30000" dirty="0"/>
              <a:t>3</a:t>
            </a:r>
            <a:endParaRPr lang="zh-TW" altLang="en-US" sz="2800" baseline="30000" dirty="0"/>
          </a:p>
        </p:txBody>
      </p:sp>
      <p:sp>
        <p:nvSpPr>
          <p:cNvPr id="55" name="矩形 115"/>
          <p:cNvSpPr/>
          <p:nvPr/>
        </p:nvSpPr>
        <p:spPr>
          <a:xfrm>
            <a:off x="1806575" y="3409950"/>
            <a:ext cx="931863" cy="5588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3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56" name="矩形 116"/>
          <p:cNvSpPr/>
          <p:nvPr/>
        </p:nvSpPr>
        <p:spPr>
          <a:xfrm>
            <a:off x="4064000" y="3419475"/>
            <a:ext cx="931863" cy="5588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3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sp>
        <p:nvSpPr>
          <p:cNvPr id="57" name="矩形 117"/>
          <p:cNvSpPr/>
          <p:nvPr/>
        </p:nvSpPr>
        <p:spPr>
          <a:xfrm>
            <a:off x="6386513" y="3425825"/>
            <a:ext cx="931862" cy="5588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f</a:t>
            </a:r>
            <a:r>
              <a:rPr lang="en-US" altLang="zh-TW" sz="2800" baseline="-25000" dirty="0">
                <a:solidFill>
                  <a:srgbClr val="000000"/>
                </a:solidFill>
              </a:rPr>
              <a:t>3</a:t>
            </a:r>
            <a:endParaRPr lang="zh-TW" altLang="en-US" sz="2800" baseline="-25000" dirty="0">
              <a:solidFill>
                <a:srgbClr val="000000"/>
              </a:solidFill>
            </a:endParaRPr>
          </a:p>
        </p:txBody>
      </p:sp>
      <p:cxnSp>
        <p:nvCxnSpPr>
          <p:cNvPr id="58" name="直線單箭頭接點 118"/>
          <p:cNvCxnSpPr>
            <a:cxnSpLocks/>
          </p:cNvCxnSpPr>
          <p:nvPr/>
        </p:nvCxnSpPr>
        <p:spPr>
          <a:xfrm rot="16200000">
            <a:off x="2133600" y="4127501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119"/>
          <p:cNvCxnSpPr>
            <a:cxnSpLocks/>
          </p:cNvCxnSpPr>
          <p:nvPr/>
        </p:nvCxnSpPr>
        <p:spPr>
          <a:xfrm rot="16200000">
            <a:off x="4419600" y="4156076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120"/>
          <p:cNvCxnSpPr>
            <a:cxnSpLocks/>
          </p:cNvCxnSpPr>
          <p:nvPr/>
        </p:nvCxnSpPr>
        <p:spPr>
          <a:xfrm rot="16200000">
            <a:off x="6740525" y="4160838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121"/>
          <p:cNvCxnSpPr>
            <a:cxnSpLocks/>
          </p:cNvCxnSpPr>
          <p:nvPr/>
        </p:nvCxnSpPr>
        <p:spPr>
          <a:xfrm rot="5400000" flipV="1">
            <a:off x="2119312" y="3286126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122"/>
          <p:cNvCxnSpPr>
            <a:cxnSpLocks/>
          </p:cNvCxnSpPr>
          <p:nvPr/>
        </p:nvCxnSpPr>
        <p:spPr>
          <a:xfrm rot="5400000" flipV="1">
            <a:off x="4404519" y="3315494"/>
            <a:ext cx="2714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123"/>
          <p:cNvCxnSpPr>
            <a:cxnSpLocks/>
          </p:cNvCxnSpPr>
          <p:nvPr/>
        </p:nvCxnSpPr>
        <p:spPr>
          <a:xfrm rot="5400000" flipV="1">
            <a:off x="6726237" y="3321051"/>
            <a:ext cx="269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124"/>
          <p:cNvSpPr/>
          <p:nvPr/>
        </p:nvSpPr>
        <p:spPr>
          <a:xfrm>
            <a:off x="3136900" y="3179763"/>
            <a:ext cx="508000" cy="9318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p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65" name="矩形 125"/>
          <p:cNvSpPr/>
          <p:nvPr/>
        </p:nvSpPr>
        <p:spPr>
          <a:xfrm>
            <a:off x="5416550" y="3206750"/>
            <a:ext cx="508000" cy="9318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p</a:t>
            </a:r>
            <a:r>
              <a:rPr lang="en-US" altLang="zh-TW" sz="2800" baseline="30000" dirty="0"/>
              <a:t>2</a:t>
            </a:r>
            <a:endParaRPr lang="zh-TW" altLang="en-US" sz="2800" baseline="30000" dirty="0"/>
          </a:p>
        </p:txBody>
      </p:sp>
      <p:sp>
        <p:nvSpPr>
          <p:cNvPr id="66" name="矩形 126"/>
          <p:cNvSpPr/>
          <p:nvPr/>
        </p:nvSpPr>
        <p:spPr>
          <a:xfrm>
            <a:off x="7721600" y="3206750"/>
            <a:ext cx="508000" cy="9318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p</a:t>
            </a:r>
            <a:r>
              <a:rPr lang="en-US" altLang="zh-TW" sz="2800" baseline="30000" dirty="0"/>
              <a:t>3</a:t>
            </a:r>
            <a:endParaRPr lang="zh-TW" altLang="en-US" sz="2800" baseline="30000" dirty="0"/>
          </a:p>
        </p:txBody>
      </p:sp>
      <p:cxnSp>
        <p:nvCxnSpPr>
          <p:cNvPr id="67" name="直線單箭頭接點 127"/>
          <p:cNvCxnSpPr>
            <a:cxnSpLocks/>
          </p:cNvCxnSpPr>
          <p:nvPr/>
        </p:nvCxnSpPr>
        <p:spPr>
          <a:xfrm>
            <a:off x="2725738" y="3656013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128"/>
          <p:cNvCxnSpPr>
            <a:cxnSpLocks/>
          </p:cNvCxnSpPr>
          <p:nvPr/>
        </p:nvCxnSpPr>
        <p:spPr>
          <a:xfrm>
            <a:off x="5011738" y="3684588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單箭頭接點 129"/>
          <p:cNvCxnSpPr>
            <a:cxnSpLocks/>
          </p:cNvCxnSpPr>
          <p:nvPr/>
        </p:nvCxnSpPr>
        <p:spPr>
          <a:xfrm>
            <a:off x="7332663" y="3689350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60" name="TextBox 72"/>
          <p:cNvSpPr txBox="1">
            <a:spLocks noChangeArrowheads="1"/>
          </p:cNvSpPr>
          <p:nvPr/>
        </p:nvSpPr>
        <p:spPr bwMode="auto">
          <a:xfrm>
            <a:off x="304800" y="3505200"/>
            <a:ext cx="1311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p=f</a:t>
            </a:r>
            <a:r>
              <a:rPr lang="en-US" altLang="en-US" sz="2400" baseline="-25000">
                <a:latin typeface="Arial" panose="020B0604020202020204" pitchFamily="34" charset="0"/>
                <a:ea typeface="MS PGothic" panose="020B0600070205080204" pitchFamily="34" charset="-128"/>
              </a:rPr>
              <a:t>3</a:t>
            </a:r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(y,z)</a:t>
            </a:r>
          </a:p>
        </p:txBody>
      </p:sp>
      <p:sp>
        <p:nvSpPr>
          <p:cNvPr id="8261" name="TextBox 73"/>
          <p:cNvSpPr txBox="1">
            <a:spLocks noChangeArrowheads="1"/>
          </p:cNvSpPr>
          <p:nvPr/>
        </p:nvSpPr>
        <p:spPr bwMode="auto">
          <a:xfrm>
            <a:off x="4876800" y="152400"/>
            <a:ext cx="1566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y,h=f</a:t>
            </a:r>
            <a:r>
              <a:rPr lang="en-US" altLang="en-US" sz="2400" baseline="-25000">
                <a:latin typeface="Arial" panose="020B0604020202020204" pitchFamily="34" charset="0"/>
                <a:ea typeface="MS PGothic" panose="020B0600070205080204" pitchFamily="34" charset="-128"/>
              </a:rPr>
              <a:t>1</a:t>
            </a:r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(x,h)</a:t>
            </a:r>
          </a:p>
        </p:txBody>
      </p:sp>
      <p:sp>
        <p:nvSpPr>
          <p:cNvPr id="8262" name="TextBox 74"/>
          <p:cNvSpPr txBox="1">
            <a:spLocks noChangeArrowheads="1"/>
          </p:cNvSpPr>
          <p:nvPr/>
        </p:nvSpPr>
        <p:spPr bwMode="auto">
          <a:xfrm>
            <a:off x="6553200" y="152400"/>
            <a:ext cx="1760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z,g = f</a:t>
            </a:r>
            <a:r>
              <a:rPr lang="en-US" altLang="en-US" sz="2400" baseline="-25000">
                <a:latin typeface="Arial" panose="020B0604020202020204" pitchFamily="34" charset="0"/>
                <a:ea typeface="MS PGothic" panose="020B0600070205080204" pitchFamily="34" charset="-128"/>
              </a:rPr>
              <a:t>2</a:t>
            </a:r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(g,x)</a:t>
            </a:r>
          </a:p>
        </p:txBody>
      </p:sp>
      <p:sp>
        <p:nvSpPr>
          <p:cNvPr id="71" name="矩形 87"/>
          <p:cNvSpPr/>
          <p:nvPr/>
        </p:nvSpPr>
        <p:spPr>
          <a:xfrm>
            <a:off x="831850" y="1463675"/>
            <a:ext cx="508000" cy="93186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g</a:t>
            </a:r>
            <a:r>
              <a:rPr lang="en-US" altLang="zh-TW" sz="2400" baseline="30000" dirty="0"/>
              <a:t>0</a:t>
            </a:r>
            <a:endParaRPr lang="zh-TW" altLang="en-US" sz="2400" baseline="30000" dirty="0"/>
          </a:p>
        </p:txBody>
      </p:sp>
      <p:sp>
        <p:nvSpPr>
          <p:cNvPr id="72" name="矩形 88"/>
          <p:cNvSpPr/>
          <p:nvPr/>
        </p:nvSpPr>
        <p:spPr>
          <a:xfrm>
            <a:off x="3152775" y="1487488"/>
            <a:ext cx="508000" cy="9302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g</a:t>
            </a:r>
            <a:r>
              <a:rPr lang="en-US" altLang="zh-TW" sz="2400" baseline="30000" dirty="0"/>
              <a:t>1</a:t>
            </a:r>
            <a:endParaRPr lang="zh-TW" altLang="en-US" sz="2400" baseline="30000" dirty="0"/>
          </a:p>
        </p:txBody>
      </p:sp>
      <p:sp>
        <p:nvSpPr>
          <p:cNvPr id="73" name="矩形 95"/>
          <p:cNvSpPr/>
          <p:nvPr/>
        </p:nvSpPr>
        <p:spPr>
          <a:xfrm>
            <a:off x="5438775" y="1516063"/>
            <a:ext cx="508000" cy="93186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g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74" name="矩形 102"/>
          <p:cNvSpPr/>
          <p:nvPr/>
        </p:nvSpPr>
        <p:spPr>
          <a:xfrm>
            <a:off x="7758113" y="1520825"/>
            <a:ext cx="508000" cy="93186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g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  <p:sp>
        <p:nvSpPr>
          <p:cNvPr id="75" name="矩形 125"/>
          <p:cNvSpPr/>
          <p:nvPr/>
        </p:nvSpPr>
        <p:spPr>
          <a:xfrm>
            <a:off x="5453063" y="3200400"/>
            <a:ext cx="508000" cy="9318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p</a:t>
            </a:r>
            <a:r>
              <a:rPr lang="en-US" altLang="zh-TW" sz="2400" baseline="30000" dirty="0"/>
              <a:t>2</a:t>
            </a:r>
            <a:endParaRPr lang="zh-TW" altLang="en-US" sz="2400" baseline="30000" dirty="0"/>
          </a:p>
        </p:txBody>
      </p:sp>
      <p:sp>
        <p:nvSpPr>
          <p:cNvPr id="76" name="矩形 126"/>
          <p:cNvSpPr/>
          <p:nvPr/>
        </p:nvSpPr>
        <p:spPr>
          <a:xfrm>
            <a:off x="7758113" y="3200400"/>
            <a:ext cx="508000" cy="9318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p</a:t>
            </a:r>
            <a:r>
              <a:rPr lang="en-US" altLang="zh-TW" sz="2400" baseline="30000" dirty="0"/>
              <a:t>3</a:t>
            </a:r>
            <a:endParaRPr lang="zh-TW" altLang="en-US" sz="2400" baseline="30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3" grpId="0" animBg="1"/>
      <p:bldP spid="14" grpId="0" animBg="1"/>
      <p:bldP spid="15" grpId="0" animBg="1"/>
      <p:bldP spid="16" grpId="0" animBg="1"/>
      <p:bldP spid="21" grpId="0" animBg="1"/>
      <p:bldP spid="22" grpId="0" animBg="1"/>
      <p:bldP spid="23" grpId="0" animBg="1"/>
      <p:bldP spid="24" grpId="0" animBg="1"/>
      <p:bldP spid="29" grpId="0" animBg="1"/>
      <p:bldP spid="30" grpId="0" animBg="1"/>
      <p:bldP spid="31" grpId="0" animBg="1"/>
      <p:bldP spid="36" grpId="0" animBg="1"/>
      <p:bldP spid="37" grpId="0" animBg="1"/>
      <p:bldP spid="42" grpId="0" animBg="1"/>
      <p:bldP spid="43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64" grpId="0" animBg="1"/>
      <p:bldP spid="65" grpId="0" animBg="1"/>
      <p:bldP spid="66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 txBox="1">
            <a:spLocks/>
          </p:cNvSpPr>
          <p:nvPr/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TW" sz="3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Pyramid RNN</a:t>
            </a:r>
            <a:endParaRPr lang="zh-TW" altLang="en-US" sz="3800">
              <a:solidFill>
                <a:schemeClr val="tx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400" smtClean="0"/>
              <a:t>Reducing the number of time steps</a:t>
            </a:r>
            <a:endParaRPr lang="zh-TW" altLang="en-US" sz="2400" smtClean="0"/>
          </a:p>
        </p:txBody>
      </p:sp>
      <p:pic>
        <p:nvPicPr>
          <p:cNvPr id="9220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8" y="2425700"/>
            <a:ext cx="8586787" cy="305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矩形 4"/>
          <p:cNvSpPr>
            <a:spLocks noChangeArrowheads="1"/>
          </p:cNvSpPr>
          <p:nvPr/>
        </p:nvSpPr>
        <p:spPr bwMode="auto">
          <a:xfrm>
            <a:off x="898525" y="5759450"/>
            <a:ext cx="76168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W. Chan, N. Jaitly, Q. Le and O. Vinyals, “Listen, attend and spell: A neural network for large vocabulary conversational speech recognition,”</a:t>
            </a:r>
            <a:r>
              <a:rPr lang="zh-TW" altLang="en-US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 </a:t>
            </a:r>
            <a:r>
              <a:rPr lang="en-US" altLang="zh-TW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ICASSP, 2016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9222" name="TextBox 1"/>
          <p:cNvSpPr txBox="1">
            <a:spLocks noChangeArrowheads="1"/>
          </p:cNvSpPr>
          <p:nvPr/>
        </p:nvSpPr>
        <p:spPr bwMode="auto">
          <a:xfrm>
            <a:off x="-12700" y="2514600"/>
            <a:ext cx="1301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Bidirectional </a:t>
            </a:r>
          </a:p>
          <a:p>
            <a:pPr eaLnBrk="1" hangingPunct="1"/>
            <a:r>
              <a:rPr lang="en-US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RNN</a:t>
            </a:r>
          </a:p>
        </p:txBody>
      </p:sp>
      <p:cxnSp>
        <p:nvCxnSpPr>
          <p:cNvPr id="4" name="Straight Arrow Connector 3"/>
          <p:cNvCxnSpPr>
            <a:cxnSpLocks noChangeShapeType="1"/>
          </p:cNvCxnSpPr>
          <p:nvPr/>
        </p:nvCxnSpPr>
        <p:spPr bwMode="auto">
          <a:xfrm>
            <a:off x="152400" y="3200400"/>
            <a:ext cx="381000" cy="11430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>
            <a:off x="381000" y="3124200"/>
            <a:ext cx="381000" cy="4572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>
            <a:off x="1143000" y="2971800"/>
            <a:ext cx="381000" cy="762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6" name="TextBox 9"/>
          <p:cNvSpPr txBox="1">
            <a:spLocks noChangeArrowheads="1"/>
          </p:cNvSpPr>
          <p:nvPr/>
        </p:nvSpPr>
        <p:spPr bwMode="auto">
          <a:xfrm>
            <a:off x="5257800" y="685800"/>
            <a:ext cx="325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Significantly speed up training</a:t>
            </a:r>
          </a:p>
        </p:txBody>
      </p:sp>
      <p:cxnSp>
        <p:nvCxnSpPr>
          <p:cNvPr id="12" name="Straight Arrow Connector 11"/>
          <p:cNvCxnSpPr>
            <a:cxnSpLocks noChangeShapeType="1"/>
          </p:cNvCxnSpPr>
          <p:nvPr/>
        </p:nvCxnSpPr>
        <p:spPr bwMode="auto">
          <a:xfrm>
            <a:off x="6858000" y="1219200"/>
            <a:ext cx="0" cy="8382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Naïve RNN</a:t>
            </a:r>
            <a:endParaRPr lang="zh-TW" altLang="en-US" smtClean="0"/>
          </a:p>
        </p:txBody>
      </p:sp>
      <p:sp>
        <p:nvSpPr>
          <p:cNvPr id="5" name="內容版面配置區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381000" y="1752600"/>
            <a:ext cx="7886700" cy="4351338"/>
          </a:xfrm>
          <a:blipFill rotWithShape="1">
            <a:blip r:embed="rId2"/>
            <a:stretch>
              <a:fillRect/>
            </a:stretch>
          </a:blipFill>
          <a:extLst>
            <a:ext uri="{91240B29-F687-4f45-9708-019B960494DF}"/>
            <a:ext uri="{FAA26D3D-D897-4be2-8F04-BA451C77F1D7}"/>
          </a:ex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" charset="0"/>
              <a:buChar char="l"/>
              <a:defRPr/>
            </a:pPr>
            <a:r>
              <a:rPr lang="en-US" dirty="0">
                <a:noFill/>
                <a:ea typeface="ＭＳ Ｐゴシック" charset="0"/>
              </a:rPr>
              <a:t> </a:t>
            </a:r>
          </a:p>
        </p:txBody>
      </p:sp>
      <p:grpSp>
        <p:nvGrpSpPr>
          <p:cNvPr id="10244" name="群組 21"/>
          <p:cNvGrpSpPr>
            <a:grpSpLocks/>
          </p:cNvGrpSpPr>
          <p:nvPr/>
        </p:nvGrpSpPr>
        <p:grpSpPr bwMode="auto">
          <a:xfrm>
            <a:off x="395288" y="2930525"/>
            <a:ext cx="2828925" cy="2673350"/>
            <a:chOff x="5883124" y="170421"/>
            <a:chExt cx="2827866" cy="2673220"/>
          </a:xfrm>
        </p:grpSpPr>
        <p:sp>
          <p:nvSpPr>
            <p:cNvPr id="7" name="矩形 3"/>
            <p:cNvSpPr/>
            <p:nvPr/>
          </p:nvSpPr>
          <p:spPr>
            <a:xfrm>
              <a:off x="6847963" y="1056203"/>
              <a:ext cx="931513" cy="93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dirty="0">
                  <a:solidFill>
                    <a:schemeClr val="tx1"/>
                  </a:solidFill>
                </a:rPr>
                <a:t>f</a:t>
              </a:r>
              <a:endParaRPr lang="zh-TW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4"/>
            <p:cNvSpPr/>
            <p:nvPr/>
          </p:nvSpPr>
          <p:spPr>
            <a:xfrm>
              <a:off x="5883124" y="1056203"/>
              <a:ext cx="507810" cy="93023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dirty="0"/>
                <a:t>h</a:t>
              </a:r>
              <a:endParaRPr lang="zh-TW" altLang="en-US" sz="2800" baseline="30000" dirty="0"/>
            </a:p>
          </p:txBody>
        </p:sp>
        <p:sp>
          <p:nvSpPr>
            <p:cNvPr id="9" name="矩形 5"/>
            <p:cNvSpPr/>
            <p:nvPr/>
          </p:nvSpPr>
          <p:spPr>
            <a:xfrm>
              <a:off x="8203180" y="1078427"/>
              <a:ext cx="507810" cy="9318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dirty="0"/>
                <a:t>h</a:t>
              </a:r>
              <a:r>
                <a:rPr lang="en-US" altLang="zh-TW" sz="2800" baseline="30000" dirty="0"/>
                <a:t>'</a:t>
              </a:r>
              <a:endParaRPr lang="zh-TW" altLang="en-US" sz="2800" baseline="30000" dirty="0"/>
            </a:p>
          </p:txBody>
        </p:sp>
        <p:sp>
          <p:nvSpPr>
            <p:cNvPr id="10" name="矩形 6"/>
            <p:cNvSpPr/>
            <p:nvPr/>
          </p:nvSpPr>
          <p:spPr>
            <a:xfrm>
              <a:off x="6847963" y="170421"/>
              <a:ext cx="931513" cy="46511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dirty="0"/>
                <a:t>y</a:t>
              </a:r>
              <a:endParaRPr lang="zh-TW" altLang="en-US" sz="2800" baseline="30000" dirty="0"/>
            </a:p>
          </p:txBody>
        </p:sp>
        <p:sp>
          <p:nvSpPr>
            <p:cNvPr id="11" name="矩形 7"/>
            <p:cNvSpPr/>
            <p:nvPr/>
          </p:nvSpPr>
          <p:spPr>
            <a:xfrm>
              <a:off x="6847963" y="2378527"/>
              <a:ext cx="931513" cy="46511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dirty="0"/>
                <a:t>x</a:t>
              </a:r>
              <a:endParaRPr lang="zh-TW" altLang="en-US" sz="2800" baseline="30000" dirty="0"/>
            </a:p>
          </p:txBody>
        </p:sp>
        <p:cxnSp>
          <p:nvCxnSpPr>
            <p:cNvPr id="12" name="直線單箭頭接點 8"/>
            <p:cNvCxnSpPr>
              <a:cxnSpLocks/>
            </p:cNvCxnSpPr>
            <p:nvPr/>
          </p:nvCxnSpPr>
          <p:spPr>
            <a:xfrm>
              <a:off x="6441715" y="1527668"/>
              <a:ext cx="39037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9"/>
            <p:cNvCxnSpPr>
              <a:cxnSpLocks/>
            </p:cNvCxnSpPr>
            <p:nvPr/>
          </p:nvCxnSpPr>
          <p:spPr>
            <a:xfrm>
              <a:off x="7812801" y="1545129"/>
              <a:ext cx="39037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0"/>
            <p:cNvCxnSpPr>
              <a:cxnSpLocks/>
            </p:cNvCxnSpPr>
            <p:nvPr/>
          </p:nvCxnSpPr>
          <p:spPr>
            <a:xfrm rot="16200000">
              <a:off x="7135922" y="847457"/>
              <a:ext cx="38891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11"/>
            <p:cNvCxnSpPr>
              <a:cxnSpLocks/>
            </p:cNvCxnSpPr>
            <p:nvPr/>
          </p:nvCxnSpPr>
          <p:spPr>
            <a:xfrm rot="16200000">
              <a:off x="7135129" y="2181686"/>
              <a:ext cx="39050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45" name="文字方塊 22"/>
          <p:cNvSpPr txBox="1">
            <a:spLocks noChangeArrowheads="1"/>
          </p:cNvSpPr>
          <p:nvPr/>
        </p:nvSpPr>
        <p:spPr bwMode="auto">
          <a:xfrm>
            <a:off x="6197600" y="6488113"/>
            <a:ext cx="2971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We have ignored the bias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矩形 23"/>
          <p:cNvSpPr/>
          <p:nvPr/>
        </p:nvSpPr>
        <p:spPr>
          <a:xfrm>
            <a:off x="3646488" y="2946400"/>
            <a:ext cx="508000" cy="9318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h</a:t>
            </a:r>
            <a:r>
              <a:rPr lang="en-US" altLang="zh-TW" sz="2800" baseline="30000" dirty="0"/>
              <a:t>'</a:t>
            </a:r>
            <a:endParaRPr lang="zh-TW" altLang="en-US" sz="2800" baseline="30000" dirty="0"/>
          </a:p>
        </p:txBody>
      </p:sp>
      <p:sp>
        <p:nvSpPr>
          <p:cNvPr id="18" name="矩形 24"/>
          <p:cNvSpPr/>
          <p:nvPr/>
        </p:nvSpPr>
        <p:spPr>
          <a:xfrm>
            <a:off x="3646488" y="4297363"/>
            <a:ext cx="508000" cy="93186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/>
              <a:t>y</a:t>
            </a:r>
            <a:endParaRPr lang="zh-TW" altLang="en-US" sz="2800" baseline="30000" dirty="0"/>
          </a:p>
        </p:txBody>
      </p:sp>
      <p:sp>
        <p:nvSpPr>
          <p:cNvPr id="19" name="矩形 25"/>
          <p:cNvSpPr/>
          <p:nvPr/>
        </p:nvSpPr>
        <p:spPr>
          <a:xfrm>
            <a:off x="4800600" y="4495800"/>
            <a:ext cx="76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W</a:t>
            </a:r>
            <a:r>
              <a:rPr lang="en-US" altLang="zh-TW" sz="2400" baseline="30000" dirty="0">
                <a:solidFill>
                  <a:srgbClr val="000000"/>
                </a:solidFill>
              </a:rPr>
              <a:t>o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20" name="矩形 26"/>
          <p:cNvSpPr/>
          <p:nvPr/>
        </p:nvSpPr>
        <p:spPr>
          <a:xfrm>
            <a:off x="4800600" y="2971800"/>
            <a:ext cx="76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W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h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21" name="矩形 28"/>
          <p:cNvSpPr/>
          <p:nvPr/>
        </p:nvSpPr>
        <p:spPr>
          <a:xfrm>
            <a:off x="5638800" y="4495800"/>
            <a:ext cx="381000" cy="76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altLang="zh-TW" sz="2800" baseline="30000" smtClean="0">
                <a:solidFill>
                  <a:srgbClr val="FFFFFF"/>
                </a:solidFill>
              </a:rPr>
              <a:t>h’</a:t>
            </a:r>
            <a:endParaRPr lang="zh-TW" altLang="en-US" sz="2800" baseline="30000" smtClean="0">
              <a:solidFill>
                <a:srgbClr val="FFFFFF"/>
              </a:solidFill>
            </a:endParaRPr>
          </a:p>
        </p:txBody>
      </p:sp>
      <p:sp>
        <p:nvSpPr>
          <p:cNvPr id="22" name="文字方塊 2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67200" y="4724400"/>
            <a:ext cx="1974900" cy="276999"/>
          </a:xfrm>
          <a:prstGeom prst="rect">
            <a:avLst/>
          </a:prstGeom>
          <a:blipFill rotWithShape="1">
            <a:blip r:embed="rId3"/>
            <a:stretch>
              <a:fillRect l="-1543" t="-10870" r="-309" b="-8696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23" name="文字方塊 30"/>
          <p:cNvSpPr txBox="1">
            <a:spLocks noChangeArrowheads="1"/>
          </p:cNvSpPr>
          <p:nvPr/>
        </p:nvSpPr>
        <p:spPr bwMode="auto">
          <a:xfrm>
            <a:off x="3962400" y="5257800"/>
            <a:ext cx="1258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softmax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" name="文字方塊 3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31503" y="3200400"/>
            <a:ext cx="3206006" cy="276999"/>
          </a:xfrm>
          <a:prstGeom prst="rect">
            <a:avLst/>
          </a:prstGeom>
          <a:blipFill rotWithShape="1">
            <a:blip r:embed="rId4"/>
            <a:stretch>
              <a:fillRect l="-759" t="-10870" b="-8696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grpSp>
        <p:nvGrpSpPr>
          <p:cNvPr id="26" name="群組 36"/>
          <p:cNvGrpSpPr>
            <a:grpSpLocks/>
          </p:cNvGrpSpPr>
          <p:nvPr/>
        </p:nvGrpSpPr>
        <p:grpSpPr bwMode="auto">
          <a:xfrm>
            <a:off x="6096000" y="2971800"/>
            <a:ext cx="1066800" cy="779463"/>
            <a:chOff x="5096938" y="-313899"/>
            <a:chExt cx="1066800" cy="778933"/>
          </a:xfrm>
        </p:grpSpPr>
        <p:sp>
          <p:nvSpPr>
            <p:cNvPr id="27" name="矩形 27"/>
            <p:cNvSpPr/>
            <p:nvPr/>
          </p:nvSpPr>
          <p:spPr>
            <a:xfrm>
              <a:off x="5096938" y="-313899"/>
              <a:ext cx="685800" cy="7614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400" dirty="0">
                  <a:solidFill>
                    <a:srgbClr val="000000"/>
                  </a:solidFill>
                </a:rPr>
                <a:t>W</a:t>
              </a:r>
              <a:r>
                <a:rPr lang="en-US" altLang="zh-TW" sz="2400" baseline="30000" dirty="0">
                  <a:solidFill>
                    <a:srgbClr val="000000"/>
                  </a:solidFill>
                </a:rPr>
                <a:t>i</a:t>
              </a:r>
              <a:endParaRPr lang="zh-TW" altLang="en-US" sz="2400" baseline="30000" dirty="0">
                <a:solidFill>
                  <a:srgbClr val="000000"/>
                </a:solidFill>
              </a:endParaRPr>
            </a:p>
          </p:txBody>
        </p:sp>
        <p:sp>
          <p:nvSpPr>
            <p:cNvPr id="28" name="矩形 34"/>
            <p:cNvSpPr/>
            <p:nvPr/>
          </p:nvSpPr>
          <p:spPr>
            <a:xfrm>
              <a:off x="5858938" y="-313899"/>
              <a:ext cx="304800" cy="77893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dirty="0"/>
                <a:t>x</a:t>
              </a:r>
              <a:endParaRPr lang="zh-TW" altLang="en-US" sz="2800" baseline="30000" dirty="0"/>
            </a:p>
          </p:txBody>
        </p:sp>
      </p:grpSp>
      <p:sp>
        <p:nvSpPr>
          <p:cNvPr id="29" name="文字方塊 3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67400" y="3226713"/>
            <a:ext cx="349455" cy="430887"/>
          </a:xfrm>
          <a:prstGeom prst="rect">
            <a:avLst/>
          </a:prstGeom>
          <a:blipFill rotWithShape="1">
            <a:blip r:embed="rId5"/>
            <a:stretch>
              <a:fillRect l="-6897" t="-5634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30" name="矩形 28"/>
          <p:cNvSpPr/>
          <p:nvPr/>
        </p:nvSpPr>
        <p:spPr>
          <a:xfrm>
            <a:off x="5638800" y="2971800"/>
            <a:ext cx="228600" cy="762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altLang="zh-TW" sz="2800" baseline="30000" dirty="0"/>
              <a:t>h</a:t>
            </a:r>
            <a:endParaRPr lang="zh-TW" altLang="en-US" sz="2800" baseline="30000" dirty="0"/>
          </a:p>
        </p:txBody>
      </p:sp>
      <p:sp>
        <p:nvSpPr>
          <p:cNvPr id="10257" name="TextBox 1"/>
          <p:cNvSpPr txBox="1">
            <a:spLocks noChangeArrowheads="1"/>
          </p:cNvSpPr>
          <p:nvPr/>
        </p:nvSpPr>
        <p:spPr bwMode="auto">
          <a:xfrm>
            <a:off x="6629400" y="4572000"/>
            <a:ext cx="22240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Note, y is computed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from h’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3" grpId="0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Problems with naive RNN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When dealing with a time series, it tends to forget old information. When there is a distant relationship of unknown length, we wish to have a “memory” to it.</a:t>
            </a:r>
          </a:p>
          <a:p>
            <a:pPr eaLnBrk="1" hangingPunct="1"/>
            <a:r>
              <a:rPr lang="en-US" altLang="en-US" dirty="0" smtClean="0"/>
              <a:t>Vanishing gradient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438400"/>
            <a:ext cx="2514600" cy="307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458200" cy="1575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Box 5"/>
          <p:cNvSpPr txBox="1">
            <a:spLocks noChangeArrowheads="1"/>
          </p:cNvSpPr>
          <p:nvPr/>
        </p:nvSpPr>
        <p:spPr bwMode="auto">
          <a:xfrm>
            <a:off x="381000" y="5867400"/>
            <a:ext cx="8153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The sigmoid layer outputs numbers between 0-1 determine how much 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each component should be let through. Pink X gate is point-wise multiplication.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LSTM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9144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800600"/>
            <a:ext cx="6248400" cy="192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8100" y="5029200"/>
            <a:ext cx="30099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The core idea is this cell state C</a:t>
            </a:r>
            <a:r>
              <a:rPr lang="en-US" altLang="en-US" baseline="-25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, it is changed slowly, with only minor linear interactions. It is very easy for information to flow along it unchanged.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667000" y="3429000"/>
            <a:ext cx="49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r>
              <a:rPr lang="en-US" altLang="en-US" baseline="-25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670175" y="1839913"/>
            <a:ext cx="530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en-US" altLang="en-US" baseline="-25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819400" y="685800"/>
            <a:ext cx="24431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This sigmoid gate 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determines how much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information goes thru</a:t>
            </a:r>
          </a:p>
        </p:txBody>
      </p:sp>
      <p:cxnSp>
        <p:nvCxnSpPr>
          <p:cNvPr id="11" name="Straight Arrow Connector 10"/>
          <p:cNvCxnSpPr>
            <a:cxnSpLocks noChangeShapeType="1"/>
          </p:cNvCxnSpPr>
          <p:nvPr/>
        </p:nvCxnSpPr>
        <p:spPr bwMode="auto">
          <a:xfrm flipH="1">
            <a:off x="3581400" y="1752600"/>
            <a:ext cx="152400" cy="5334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667000" y="762000"/>
            <a:ext cx="26876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This decides what info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Is to add to the cell state</a:t>
            </a:r>
          </a:p>
        </p:txBody>
      </p:sp>
      <p:cxnSp>
        <p:nvCxnSpPr>
          <p:cNvPr id="14" name="Straight Arrow Connector 13"/>
          <p:cNvCxnSpPr>
            <a:cxnSpLocks noChangeShapeType="1"/>
          </p:cNvCxnSpPr>
          <p:nvPr/>
        </p:nvCxnSpPr>
        <p:spPr bwMode="auto">
          <a:xfrm>
            <a:off x="4038600" y="1752600"/>
            <a:ext cx="152400" cy="9906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048000" y="609600"/>
            <a:ext cx="18923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Output gate 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Controls what 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goes into output</a:t>
            </a:r>
          </a:p>
        </p:txBody>
      </p:sp>
      <p:cxnSp>
        <p:nvCxnSpPr>
          <p:cNvPr id="17" name="Straight Arrow Connector 16"/>
          <p:cNvCxnSpPr>
            <a:cxnSpLocks noChangeShapeType="1"/>
          </p:cNvCxnSpPr>
          <p:nvPr/>
        </p:nvCxnSpPr>
        <p:spPr bwMode="auto">
          <a:xfrm>
            <a:off x="4495800" y="1752600"/>
            <a:ext cx="533400" cy="9906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3276600" y="4495800"/>
            <a:ext cx="14938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Forget  input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gate      gate</a:t>
            </a:r>
          </a:p>
        </p:txBody>
      </p:sp>
      <p:cxnSp>
        <p:nvCxnSpPr>
          <p:cNvPr id="20" name="Straight Arrow Connector 19"/>
          <p:cNvCxnSpPr>
            <a:cxnSpLocks noChangeShapeType="1"/>
          </p:cNvCxnSpPr>
          <p:nvPr/>
        </p:nvCxnSpPr>
        <p:spPr bwMode="auto">
          <a:xfrm>
            <a:off x="3657600" y="5105400"/>
            <a:ext cx="76200" cy="2286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Arrow Connector 21"/>
          <p:cNvCxnSpPr>
            <a:cxnSpLocks noChangeShapeType="1"/>
          </p:cNvCxnSpPr>
          <p:nvPr/>
        </p:nvCxnSpPr>
        <p:spPr bwMode="auto">
          <a:xfrm>
            <a:off x="4343400" y="5105400"/>
            <a:ext cx="0" cy="5334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0" y="5181600"/>
            <a:ext cx="3233738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Why sigmoid or tanh: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Sigmoid: 0,1 gating as switch.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Vanishing gradient problem in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LSTM is handled already.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ReLU replaces tanh ok?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8" grpId="0"/>
      <p:bldP spid="9" grpId="0"/>
      <p:bldP spid="9" grpId="1"/>
      <p:bldP spid="12" grpId="0"/>
      <p:bldP spid="12" grpId="1"/>
      <p:bldP spid="15" grpId="0"/>
      <p:bldP spid="15" grpId="1"/>
      <p:bldP spid="18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486400" cy="169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5715000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00400"/>
            <a:ext cx="6172200" cy="190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6513" y="-152400"/>
            <a:ext cx="2744787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7"/>
          <p:cNvSpPr txBox="1">
            <a:spLocks noChangeArrowheads="1"/>
          </p:cNvSpPr>
          <p:nvPr/>
        </p:nvSpPr>
        <p:spPr bwMode="auto">
          <a:xfrm>
            <a:off x="6003925" y="2209800"/>
            <a:ext cx="31400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i</a:t>
            </a:r>
            <a:r>
              <a:rPr lang="en-US" altLang="en-US" baseline="-25000">
                <a:latin typeface="Arial" panose="020B0604020202020204" pitchFamily="34" charset="0"/>
                <a:ea typeface="MS PGothic" panose="020B0600070205080204" pitchFamily="34" charset="-128"/>
              </a:rPr>
              <a:t>t 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decides what component 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is to be updated.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C’</a:t>
            </a:r>
            <a:r>
              <a:rPr lang="en-US" altLang="ja-JP" baseline="-25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ja-JP">
                <a:latin typeface="Arial" panose="020B0604020202020204" pitchFamily="34" charset="0"/>
                <a:ea typeface="MS PGothic" panose="020B0600070205080204" pitchFamily="34" charset="-128"/>
              </a:rPr>
              <a:t> provides change contents</a:t>
            </a:r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4343" name="TextBox 8"/>
          <p:cNvSpPr txBox="1">
            <a:spLocks noChangeArrowheads="1"/>
          </p:cNvSpPr>
          <p:nvPr/>
        </p:nvSpPr>
        <p:spPr bwMode="auto">
          <a:xfrm>
            <a:off x="6019800" y="4114800"/>
            <a:ext cx="2468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Updating the cell state</a:t>
            </a:r>
          </a:p>
        </p:txBody>
      </p:sp>
      <p:pic>
        <p:nvPicPr>
          <p:cNvPr id="14344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76800"/>
            <a:ext cx="6430963" cy="198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5" name="TextBox 11"/>
          <p:cNvSpPr txBox="1">
            <a:spLocks noChangeArrowheads="1"/>
          </p:cNvSpPr>
          <p:nvPr/>
        </p:nvSpPr>
        <p:spPr bwMode="auto">
          <a:xfrm>
            <a:off x="6188075" y="5562600"/>
            <a:ext cx="29686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Decide what part of the cell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state to 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RNN vs LSTM</a:t>
            </a:r>
          </a:p>
        </p:txBody>
      </p:sp>
      <p:pic>
        <p:nvPicPr>
          <p:cNvPr id="1536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00"/>
            <a:ext cx="8356600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029200" cy="715962"/>
          </a:xfrm>
        </p:spPr>
        <p:txBody>
          <a:bodyPr/>
          <a:lstStyle/>
          <a:p>
            <a:pPr eaLnBrk="1" hangingPunct="1"/>
            <a:r>
              <a:rPr lang="en-US" altLang="en-US" smtClean="0"/>
              <a:t>Peephole LSTM</a:t>
            </a:r>
          </a:p>
        </p:txBody>
      </p:sp>
      <p:pic>
        <p:nvPicPr>
          <p:cNvPr id="1638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143000"/>
            <a:ext cx="61722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62400"/>
            <a:ext cx="7620000" cy="235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Box 13"/>
          <p:cNvSpPr txBox="1">
            <a:spLocks noChangeArrowheads="1"/>
          </p:cNvSpPr>
          <p:nvPr/>
        </p:nvSpPr>
        <p:spPr bwMode="auto">
          <a:xfrm>
            <a:off x="0" y="3810000"/>
            <a:ext cx="3622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Allows “</a:t>
            </a:r>
            <a:r>
              <a:rPr lang="en-US" altLang="ja-JP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peeping</a:t>
            </a:r>
            <a:r>
              <a:rPr lang="en-US" altLang="ja-JP">
                <a:latin typeface="Arial" panose="020B0604020202020204" pitchFamily="34" charset="0"/>
                <a:ea typeface="MS PGothic" panose="020B0600070205080204" pitchFamily="34" charset="-128"/>
              </a:rPr>
              <a:t> into the memory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4781550" cy="1325563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FF0000"/>
                </a:solidFill>
              </a:rPr>
              <a:t>Naïve RNN vs LSTM</a:t>
            </a:r>
            <a:endParaRPr lang="zh-TW" altLang="en-US" smtClean="0">
              <a:solidFill>
                <a:srgbClr val="FF0000"/>
              </a:solidFill>
            </a:endParaRPr>
          </a:p>
        </p:txBody>
      </p:sp>
      <p:sp>
        <p:nvSpPr>
          <p:cNvPr id="5" name="文字方塊 30"/>
          <p:cNvSpPr txBox="1">
            <a:spLocks noChangeArrowheads="1"/>
          </p:cNvSpPr>
          <p:nvPr/>
        </p:nvSpPr>
        <p:spPr bwMode="auto">
          <a:xfrm>
            <a:off x="228600" y="4916488"/>
            <a:ext cx="2974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c changes slowly</a:t>
            </a:r>
            <a:endParaRPr lang="zh-TW" altLang="en-US" sz="2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文字方塊 31"/>
          <p:cNvSpPr txBox="1">
            <a:spLocks noChangeArrowheads="1"/>
          </p:cNvSpPr>
          <p:nvPr/>
        </p:nvSpPr>
        <p:spPr bwMode="auto">
          <a:xfrm>
            <a:off x="304800" y="5848350"/>
            <a:ext cx="2930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h changes faster</a:t>
            </a:r>
            <a:endParaRPr lang="zh-TW" altLang="en-US" sz="2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" name="文字方塊 32"/>
          <p:cNvSpPr txBox="1">
            <a:spLocks noChangeArrowheads="1"/>
          </p:cNvSpPr>
          <p:nvPr/>
        </p:nvSpPr>
        <p:spPr bwMode="auto">
          <a:xfrm>
            <a:off x="3910013" y="4943475"/>
            <a:ext cx="47767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en-US" altLang="zh-TW" sz="2800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 is c</a:t>
            </a:r>
            <a:r>
              <a:rPr lang="en-US" altLang="zh-TW" sz="2800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 added by something</a:t>
            </a:r>
            <a:endParaRPr lang="zh-TW" altLang="en-US" sz="2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" name="文字方塊 33"/>
          <p:cNvSpPr txBox="1">
            <a:spLocks noChangeArrowheads="1"/>
          </p:cNvSpPr>
          <p:nvPr/>
        </p:nvSpPr>
        <p:spPr bwMode="auto">
          <a:xfrm>
            <a:off x="3910013" y="5848350"/>
            <a:ext cx="5233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r>
              <a:rPr lang="en-US" altLang="zh-TW" sz="2800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 and h</a:t>
            </a:r>
            <a:r>
              <a:rPr lang="en-US" altLang="zh-TW" sz="2800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 can be very different</a:t>
            </a:r>
            <a:endParaRPr lang="zh-TW" altLang="en-US" sz="2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9" name="箭號: 向右 34"/>
          <p:cNvSpPr/>
          <p:nvPr/>
        </p:nvSpPr>
        <p:spPr>
          <a:xfrm>
            <a:off x="3154363" y="5022850"/>
            <a:ext cx="660400" cy="39211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0" name="箭號: 向右 35"/>
          <p:cNvSpPr/>
          <p:nvPr/>
        </p:nvSpPr>
        <p:spPr>
          <a:xfrm>
            <a:off x="3154363" y="5932488"/>
            <a:ext cx="660400" cy="39211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1" name="矩形 36"/>
          <p:cNvSpPr/>
          <p:nvPr/>
        </p:nvSpPr>
        <p:spPr>
          <a:xfrm>
            <a:off x="1187450" y="2544763"/>
            <a:ext cx="508000" cy="9302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2800" baseline="30000" dirty="0"/>
          </a:p>
        </p:txBody>
      </p:sp>
      <p:sp>
        <p:nvSpPr>
          <p:cNvPr id="12" name="矩形 37"/>
          <p:cNvSpPr/>
          <p:nvPr/>
        </p:nvSpPr>
        <p:spPr>
          <a:xfrm>
            <a:off x="2133600" y="2525713"/>
            <a:ext cx="1219200" cy="9318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smtClean="0">
                <a:solidFill>
                  <a:srgbClr val="000000"/>
                </a:solidFill>
              </a:rPr>
              <a:t>Naïve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smtClean="0">
                <a:solidFill>
                  <a:srgbClr val="000000"/>
                </a:solidFill>
              </a:rPr>
              <a:t>RNN</a:t>
            </a:r>
            <a:endParaRPr lang="zh-TW" altLang="en-US" sz="2800" smtClean="0">
              <a:solidFill>
                <a:srgbClr val="000000"/>
              </a:solidFill>
            </a:endParaRPr>
          </a:p>
        </p:txBody>
      </p:sp>
      <p:sp>
        <p:nvSpPr>
          <p:cNvPr id="13" name="矩形 38"/>
          <p:cNvSpPr/>
          <p:nvPr/>
        </p:nvSpPr>
        <p:spPr>
          <a:xfrm>
            <a:off x="3695700" y="2549525"/>
            <a:ext cx="508000" cy="93186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 err="1">
                <a:solidFill>
                  <a:srgbClr val="000000"/>
                </a:solidFill>
              </a:rPr>
              <a:t>h</a:t>
            </a:r>
            <a:r>
              <a:rPr lang="en-US" altLang="zh-TW" sz="2800" baseline="30000" dirty="0" err="1">
                <a:solidFill>
                  <a:srgbClr val="000000"/>
                </a:solidFill>
              </a:rPr>
              <a:t>t</a:t>
            </a:r>
            <a:endParaRPr lang="zh-TW" altLang="en-US" sz="2800" baseline="30000" dirty="0">
              <a:solidFill>
                <a:srgbClr val="000000"/>
              </a:solidFill>
            </a:endParaRPr>
          </a:p>
        </p:txBody>
      </p:sp>
      <p:sp>
        <p:nvSpPr>
          <p:cNvPr id="14" name="矩形 39"/>
          <p:cNvSpPr/>
          <p:nvPr/>
        </p:nvSpPr>
        <p:spPr>
          <a:xfrm>
            <a:off x="2252663" y="1654175"/>
            <a:ext cx="931862" cy="4667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 err="1">
                <a:solidFill>
                  <a:srgbClr val="000000"/>
                </a:solidFill>
              </a:rPr>
              <a:t>y</a:t>
            </a:r>
            <a:r>
              <a:rPr lang="en-US" altLang="zh-TW" sz="2800" baseline="30000" dirty="0" err="1">
                <a:solidFill>
                  <a:srgbClr val="000000"/>
                </a:solidFill>
              </a:rPr>
              <a:t>t</a:t>
            </a:r>
            <a:endParaRPr lang="zh-TW" altLang="en-US" sz="2800" baseline="30000" dirty="0">
              <a:solidFill>
                <a:srgbClr val="000000"/>
              </a:solidFill>
            </a:endParaRPr>
          </a:p>
        </p:txBody>
      </p:sp>
      <p:sp>
        <p:nvSpPr>
          <p:cNvPr id="15" name="矩形 40"/>
          <p:cNvSpPr/>
          <p:nvPr/>
        </p:nvSpPr>
        <p:spPr>
          <a:xfrm>
            <a:off x="2266950" y="3833813"/>
            <a:ext cx="931863" cy="465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 err="1"/>
              <a:t>x</a:t>
            </a:r>
            <a:r>
              <a:rPr lang="en-US" altLang="zh-TW" sz="2800" baseline="30000" dirty="0" err="1"/>
              <a:t>t</a:t>
            </a:r>
            <a:endParaRPr lang="zh-TW" altLang="en-US" sz="2800" baseline="30000" dirty="0"/>
          </a:p>
        </p:txBody>
      </p:sp>
      <p:cxnSp>
        <p:nvCxnSpPr>
          <p:cNvPr id="16" name="直線單箭頭接點 41"/>
          <p:cNvCxnSpPr>
            <a:cxnSpLocks/>
          </p:cNvCxnSpPr>
          <p:nvPr/>
        </p:nvCxnSpPr>
        <p:spPr>
          <a:xfrm>
            <a:off x="1746250" y="2998788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42"/>
          <p:cNvCxnSpPr>
            <a:cxnSpLocks/>
          </p:cNvCxnSpPr>
          <p:nvPr/>
        </p:nvCxnSpPr>
        <p:spPr>
          <a:xfrm>
            <a:off x="3306763" y="3014663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43"/>
          <p:cNvCxnSpPr>
            <a:cxnSpLocks/>
          </p:cNvCxnSpPr>
          <p:nvPr/>
        </p:nvCxnSpPr>
        <p:spPr>
          <a:xfrm rot="16200000">
            <a:off x="2540000" y="2332038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44"/>
          <p:cNvCxnSpPr>
            <a:cxnSpLocks/>
          </p:cNvCxnSpPr>
          <p:nvPr/>
        </p:nvCxnSpPr>
        <p:spPr>
          <a:xfrm rot="16200000">
            <a:off x="2555081" y="3637757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6" name="矩形 46"/>
          <p:cNvSpPr>
            <a:spLocks noChangeArrowheads="1"/>
          </p:cNvSpPr>
          <p:nvPr/>
        </p:nvSpPr>
        <p:spPr bwMode="auto">
          <a:xfrm>
            <a:off x="1120775" y="2779713"/>
            <a:ext cx="6635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r>
              <a:rPr lang="en-US" altLang="zh-TW" sz="28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endParaRPr lang="zh-TW" altLang="en-US" sz="2800" baseline="300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" name="矩形 14"/>
          <p:cNvSpPr/>
          <p:nvPr/>
        </p:nvSpPr>
        <p:spPr>
          <a:xfrm>
            <a:off x="5795963" y="1498600"/>
            <a:ext cx="1135062" cy="1997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chemeClr val="tx1"/>
                </a:solidFill>
              </a:rPr>
              <a:t>LSTM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22" name="矩形 15"/>
          <p:cNvSpPr>
            <a:spLocks noChangeArrowheads="1"/>
          </p:cNvSpPr>
          <p:nvPr/>
        </p:nvSpPr>
        <p:spPr bwMode="auto">
          <a:xfrm>
            <a:off x="4876800" y="1498600"/>
            <a:ext cx="508000" cy="930275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2800" baseline="30000" smtClean="0">
              <a:solidFill>
                <a:srgbClr val="000000"/>
              </a:solidFill>
            </a:endParaRPr>
          </a:p>
        </p:txBody>
      </p:sp>
      <p:sp>
        <p:nvSpPr>
          <p:cNvPr id="23" name="矩形 17"/>
          <p:cNvSpPr/>
          <p:nvPr/>
        </p:nvSpPr>
        <p:spPr>
          <a:xfrm>
            <a:off x="5883275" y="600075"/>
            <a:ext cx="931863" cy="4667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 err="1">
                <a:solidFill>
                  <a:srgbClr val="000000"/>
                </a:solidFill>
              </a:rPr>
              <a:t>y</a:t>
            </a:r>
            <a:r>
              <a:rPr lang="en-US" altLang="zh-TW" sz="2800" baseline="30000" dirty="0" err="1">
                <a:solidFill>
                  <a:srgbClr val="000000"/>
                </a:solidFill>
              </a:rPr>
              <a:t>t</a:t>
            </a:r>
            <a:endParaRPr lang="zh-TW" altLang="en-US" sz="2800" baseline="30000" dirty="0">
              <a:solidFill>
                <a:srgbClr val="000000"/>
              </a:solidFill>
            </a:endParaRPr>
          </a:p>
        </p:txBody>
      </p:sp>
      <p:sp>
        <p:nvSpPr>
          <p:cNvPr id="24" name="矩形 18"/>
          <p:cNvSpPr/>
          <p:nvPr/>
        </p:nvSpPr>
        <p:spPr>
          <a:xfrm>
            <a:off x="5919788" y="3943350"/>
            <a:ext cx="931862" cy="46513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 err="1">
                <a:solidFill>
                  <a:schemeClr val="bg1"/>
                </a:solidFill>
              </a:rPr>
              <a:t>x</a:t>
            </a:r>
            <a:r>
              <a:rPr lang="en-US" altLang="zh-TW" sz="2800" baseline="30000" dirty="0" err="1">
                <a:solidFill>
                  <a:schemeClr val="bg1"/>
                </a:solidFill>
              </a:rPr>
              <a:t>t</a:t>
            </a:r>
            <a:endParaRPr lang="zh-TW" altLang="en-US" sz="2800" baseline="30000" dirty="0">
              <a:solidFill>
                <a:schemeClr val="bg1"/>
              </a:solidFill>
            </a:endParaRPr>
          </a:p>
        </p:txBody>
      </p:sp>
      <p:cxnSp>
        <p:nvCxnSpPr>
          <p:cNvPr id="25" name="直線單箭頭接點 19"/>
          <p:cNvCxnSpPr>
            <a:cxnSpLocks/>
          </p:cNvCxnSpPr>
          <p:nvPr/>
        </p:nvCxnSpPr>
        <p:spPr>
          <a:xfrm>
            <a:off x="5384800" y="1995488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1"/>
          <p:cNvCxnSpPr>
            <a:cxnSpLocks/>
          </p:cNvCxnSpPr>
          <p:nvPr/>
        </p:nvCxnSpPr>
        <p:spPr>
          <a:xfrm rot="16200000">
            <a:off x="6170612" y="1277938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2"/>
          <p:cNvCxnSpPr>
            <a:cxnSpLocks/>
          </p:cNvCxnSpPr>
          <p:nvPr/>
        </p:nvCxnSpPr>
        <p:spPr>
          <a:xfrm rot="16200000">
            <a:off x="6207919" y="3747294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3"/>
          <p:cNvSpPr/>
          <p:nvPr/>
        </p:nvSpPr>
        <p:spPr>
          <a:xfrm>
            <a:off x="4884738" y="2563813"/>
            <a:ext cx="508000" cy="93186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2800" baseline="30000" dirty="0"/>
          </a:p>
        </p:txBody>
      </p:sp>
      <p:cxnSp>
        <p:nvCxnSpPr>
          <p:cNvPr id="29" name="直線單箭頭接點 24"/>
          <p:cNvCxnSpPr>
            <a:cxnSpLocks/>
          </p:cNvCxnSpPr>
          <p:nvPr/>
        </p:nvCxnSpPr>
        <p:spPr>
          <a:xfrm>
            <a:off x="5392738" y="3087688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5"/>
          <p:cNvCxnSpPr>
            <a:cxnSpLocks/>
          </p:cNvCxnSpPr>
          <p:nvPr/>
        </p:nvCxnSpPr>
        <p:spPr>
          <a:xfrm>
            <a:off x="6923088" y="1995488"/>
            <a:ext cx="38893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26"/>
          <p:cNvCxnSpPr>
            <a:cxnSpLocks/>
          </p:cNvCxnSpPr>
          <p:nvPr/>
        </p:nvCxnSpPr>
        <p:spPr>
          <a:xfrm>
            <a:off x="6931025" y="3087688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27"/>
          <p:cNvSpPr>
            <a:spLocks noChangeArrowheads="1"/>
          </p:cNvSpPr>
          <p:nvPr/>
        </p:nvSpPr>
        <p:spPr bwMode="auto">
          <a:xfrm>
            <a:off x="7342188" y="1522413"/>
            <a:ext cx="508000" cy="931862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smtClean="0">
                <a:solidFill>
                  <a:srgbClr val="000000"/>
                </a:solidFill>
              </a:rPr>
              <a:t>c</a:t>
            </a:r>
            <a:r>
              <a:rPr lang="en-US" altLang="zh-TW" sz="2800" baseline="30000" smtClean="0">
                <a:solidFill>
                  <a:srgbClr val="000000"/>
                </a:solidFill>
              </a:rPr>
              <a:t>t</a:t>
            </a:r>
            <a:endParaRPr lang="zh-TW" altLang="en-US" sz="2800" baseline="30000" smtClean="0">
              <a:solidFill>
                <a:srgbClr val="000000"/>
              </a:solidFill>
            </a:endParaRPr>
          </a:p>
        </p:txBody>
      </p:sp>
      <p:sp>
        <p:nvSpPr>
          <p:cNvPr id="33" name="矩形 28"/>
          <p:cNvSpPr/>
          <p:nvPr/>
        </p:nvSpPr>
        <p:spPr>
          <a:xfrm>
            <a:off x="7350125" y="2589213"/>
            <a:ext cx="508000" cy="93186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 err="1">
                <a:solidFill>
                  <a:srgbClr val="000000"/>
                </a:solidFill>
              </a:rPr>
              <a:t>h</a:t>
            </a:r>
            <a:r>
              <a:rPr lang="en-US" altLang="zh-TW" sz="2800" baseline="30000" dirty="0" err="1">
                <a:solidFill>
                  <a:srgbClr val="000000"/>
                </a:solidFill>
              </a:rPr>
              <a:t>t</a:t>
            </a:r>
            <a:endParaRPr lang="zh-TW" altLang="en-US" sz="2800" baseline="30000" dirty="0">
              <a:solidFill>
                <a:srgbClr val="000000"/>
              </a:solidFill>
            </a:endParaRPr>
          </a:p>
        </p:txBody>
      </p:sp>
      <p:sp>
        <p:nvSpPr>
          <p:cNvPr id="34" name="矩形 47"/>
          <p:cNvSpPr>
            <a:spLocks noChangeArrowheads="1"/>
          </p:cNvSpPr>
          <p:nvPr/>
        </p:nvSpPr>
        <p:spPr bwMode="auto">
          <a:xfrm>
            <a:off x="4843463" y="2794000"/>
            <a:ext cx="6635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r>
              <a:rPr lang="en-US" altLang="zh-TW" sz="28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endParaRPr lang="zh-TW" altLang="en-US" sz="2800" baseline="300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5" name="矩形 48"/>
          <p:cNvSpPr>
            <a:spLocks noChangeArrowheads="1"/>
          </p:cNvSpPr>
          <p:nvPr/>
        </p:nvSpPr>
        <p:spPr bwMode="auto">
          <a:xfrm>
            <a:off x="4832350" y="1727200"/>
            <a:ext cx="6127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r>
              <a:rPr lang="en-US" altLang="zh-TW" sz="2800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endParaRPr lang="zh-TW" altLang="en-US" sz="2800" baseline="30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  <p:bldP spid="10" grpId="0" animBg="1"/>
      <p:bldP spid="21" grpId="0" animBg="1"/>
      <p:bldP spid="22" grpId="0" animBg="1"/>
      <p:bldP spid="23" grpId="0" animBg="1"/>
      <p:bldP spid="24" grpId="0" animBg="1"/>
      <p:bldP spid="28" grpId="0" animBg="1"/>
      <p:bldP spid="32" grpId="0" animBg="1"/>
      <p:bldP spid="33" grpId="0" animBg="1"/>
      <p:bldP spid="34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164"/>
          <p:cNvGrpSpPr>
            <a:grpSpLocks/>
          </p:cNvGrpSpPr>
          <p:nvPr/>
        </p:nvGrpSpPr>
        <p:grpSpPr bwMode="auto">
          <a:xfrm>
            <a:off x="2444750" y="5832475"/>
            <a:ext cx="908050" cy="460375"/>
            <a:chOff x="4765592" y="6396335"/>
            <a:chExt cx="907572" cy="461665"/>
          </a:xfrm>
        </p:grpSpPr>
        <p:sp>
          <p:nvSpPr>
            <p:cNvPr id="5" name="矩形 41"/>
            <p:cNvSpPr>
              <a:spLocks noChangeArrowheads="1"/>
            </p:cNvSpPr>
            <p:nvPr/>
          </p:nvSpPr>
          <p:spPr bwMode="auto">
            <a:xfrm>
              <a:off x="4822712" y="6442502"/>
              <a:ext cx="720346" cy="369332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18494" name="文字方塊 42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x</a:t>
              </a:r>
              <a:r>
                <a:rPr lang="en-US" altLang="zh-TW" sz="2400" baseline="300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7" name="矩形 44"/>
          <p:cNvSpPr>
            <a:spLocks noChangeArrowheads="1"/>
          </p:cNvSpPr>
          <p:nvPr/>
        </p:nvSpPr>
        <p:spPr bwMode="auto">
          <a:xfrm>
            <a:off x="2525713" y="4424363"/>
            <a:ext cx="719137" cy="431800"/>
          </a:xfrm>
          <a:prstGeom prst="rect">
            <a:avLst/>
          </a:prstGeom>
          <a:gradFill rotWithShape="1">
            <a:gsLst>
              <a:gs pos="0">
                <a:srgbClr val="F5F5FC"/>
              </a:gs>
              <a:gs pos="64999">
                <a:srgbClr val="E6E6F6"/>
              </a:gs>
              <a:gs pos="100000">
                <a:srgbClr val="DCDCF3"/>
              </a:gs>
            </a:gsLst>
            <a:lin ang="5400000" scaled="1"/>
          </a:gradFill>
          <a:ln w="9525">
            <a:solidFill>
              <a:srgbClr val="BFBFD2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mtClean="0">
                <a:solidFill>
                  <a:srgbClr val="000000"/>
                </a:solidFill>
              </a:rPr>
              <a:t>z</a:t>
            </a:r>
            <a:endParaRPr lang="zh-TW" altLang="en-US" smtClean="0">
              <a:solidFill>
                <a:srgbClr val="000000"/>
              </a:solidFill>
            </a:endParaRPr>
          </a:p>
        </p:txBody>
      </p:sp>
      <p:sp>
        <p:nvSpPr>
          <p:cNvPr id="8" name="矩形 45"/>
          <p:cNvSpPr/>
          <p:nvPr/>
        </p:nvSpPr>
        <p:spPr>
          <a:xfrm>
            <a:off x="1631950" y="4424363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i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9" name="矩形 49"/>
          <p:cNvSpPr/>
          <p:nvPr/>
        </p:nvSpPr>
        <p:spPr>
          <a:xfrm>
            <a:off x="747713" y="4424363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f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10" name="矩形 50"/>
          <p:cNvSpPr/>
          <p:nvPr/>
        </p:nvSpPr>
        <p:spPr>
          <a:xfrm>
            <a:off x="3409950" y="4429125"/>
            <a:ext cx="719138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>
                <a:solidFill>
                  <a:srgbClr val="000000"/>
                </a:solidFill>
              </a:rPr>
              <a:t>o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11" name="向下箭號 162"/>
          <p:cNvSpPr/>
          <p:nvPr/>
        </p:nvSpPr>
        <p:spPr>
          <a:xfrm rot="2620627" flipV="1">
            <a:off x="3303588" y="4886325"/>
            <a:ext cx="438150" cy="984250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2" name="向下箭號 163"/>
          <p:cNvSpPr/>
          <p:nvPr/>
        </p:nvSpPr>
        <p:spPr>
          <a:xfrm rot="20057551" flipV="1">
            <a:off x="1890713" y="4879975"/>
            <a:ext cx="438150" cy="909638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3" name="向下箭號 165"/>
          <p:cNvSpPr/>
          <p:nvPr/>
        </p:nvSpPr>
        <p:spPr>
          <a:xfrm rot="1353372" flipV="1">
            <a:off x="2601913" y="4926013"/>
            <a:ext cx="438150" cy="860425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4" name="向下箭號 166"/>
          <p:cNvSpPr/>
          <p:nvPr/>
        </p:nvSpPr>
        <p:spPr>
          <a:xfrm rot="18851723" flipV="1">
            <a:off x="1143794" y="4855369"/>
            <a:ext cx="438150" cy="1030288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5" name="群組 219"/>
          <p:cNvGrpSpPr>
            <a:grpSpLocks/>
          </p:cNvGrpSpPr>
          <p:nvPr/>
        </p:nvGrpSpPr>
        <p:grpSpPr bwMode="auto">
          <a:xfrm>
            <a:off x="1649413" y="5821363"/>
            <a:ext cx="908050" cy="461962"/>
            <a:chOff x="4765592" y="6396335"/>
            <a:chExt cx="907572" cy="461665"/>
          </a:xfrm>
        </p:grpSpPr>
        <p:sp>
          <p:nvSpPr>
            <p:cNvPr id="16" name="矩形 220"/>
            <p:cNvSpPr>
              <a:spLocks noChangeArrowheads="1"/>
            </p:cNvSpPr>
            <p:nvPr/>
          </p:nvSpPr>
          <p:spPr bwMode="auto">
            <a:xfrm>
              <a:off x="4822712" y="6442342"/>
              <a:ext cx="720346" cy="369650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18492" name="文字方塊 221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r>
                <a:rPr lang="en-US" altLang="zh-TW" sz="2400" baseline="30000">
                  <a:latin typeface="Arial" panose="020B0604020202020204" pitchFamily="34" charset="0"/>
                  <a:ea typeface="MS PGothic" panose="020B0600070205080204" pitchFamily="34" charset="-128"/>
                </a:rPr>
                <a:t>t-1</a:t>
              </a:r>
              <a:endParaRPr lang="zh-TW" altLang="en-US" sz="2400" baseline="30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18" name="群組 113"/>
          <p:cNvGrpSpPr>
            <a:grpSpLocks/>
          </p:cNvGrpSpPr>
          <p:nvPr/>
        </p:nvGrpSpPr>
        <p:grpSpPr bwMode="auto">
          <a:xfrm>
            <a:off x="-23812" y="2124877"/>
            <a:ext cx="908050" cy="461963"/>
            <a:chOff x="4749617" y="6395321"/>
            <a:chExt cx="907572" cy="461665"/>
          </a:xfrm>
        </p:grpSpPr>
        <p:sp>
          <p:nvSpPr>
            <p:cNvPr id="19" name="矩形 114"/>
            <p:cNvSpPr>
              <a:spLocks noChangeArrowheads="1"/>
            </p:cNvSpPr>
            <p:nvPr/>
          </p:nvSpPr>
          <p:spPr bwMode="auto">
            <a:xfrm>
              <a:off x="4822604" y="6442343"/>
              <a:ext cx="720346" cy="369648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20" name="文字方塊 115"/>
            <p:cNvSpPr txBox="1">
              <a:spLocks noChangeArrowheads="1"/>
            </p:cNvSpPr>
            <p:nvPr/>
          </p:nvSpPr>
          <p:spPr bwMode="auto">
            <a:xfrm>
              <a:off x="4749617" y="6395321"/>
              <a:ext cx="907572" cy="461665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dirty="0" smtClean="0"/>
                <a:t>c</a:t>
              </a:r>
              <a:r>
                <a:rPr lang="en-US" altLang="zh-TW" baseline="30000" dirty="0" smtClean="0"/>
                <a:t>t-1</a:t>
              </a:r>
              <a:endParaRPr lang="zh-TW" altLang="en-US" baseline="30000" dirty="0" smtClean="0"/>
            </a:p>
          </p:txBody>
        </p:sp>
      </p:grpSp>
      <p:sp>
        <p:nvSpPr>
          <p:cNvPr id="21" name="矩形 63"/>
          <p:cNvSpPr>
            <a:spLocks noChangeArrowheads="1"/>
          </p:cNvSpPr>
          <p:nvPr/>
        </p:nvSpPr>
        <p:spPr bwMode="auto">
          <a:xfrm>
            <a:off x="5138738" y="849313"/>
            <a:ext cx="388937" cy="636587"/>
          </a:xfrm>
          <a:prstGeom prst="rect">
            <a:avLst/>
          </a:prstGeom>
          <a:gradFill rotWithShape="1">
            <a:gsLst>
              <a:gs pos="0">
                <a:srgbClr val="F5F5FC"/>
              </a:gs>
              <a:gs pos="64999">
                <a:srgbClr val="E6E6F6"/>
              </a:gs>
              <a:gs pos="100000">
                <a:srgbClr val="DCDCF3"/>
              </a:gs>
            </a:gsLst>
            <a:lin ang="5400000" scaled="1"/>
          </a:gradFill>
          <a:ln w="9525">
            <a:solidFill>
              <a:srgbClr val="BFBFD2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mtClean="0">
                <a:solidFill>
                  <a:srgbClr val="000000"/>
                </a:solidFill>
              </a:rPr>
              <a:t>z</a:t>
            </a:r>
            <a:endParaRPr lang="zh-TW" altLang="en-US" smtClean="0">
              <a:solidFill>
                <a:srgbClr val="000000"/>
              </a:solidFill>
            </a:endParaRPr>
          </a:p>
        </p:txBody>
      </p:sp>
      <p:grpSp>
        <p:nvGrpSpPr>
          <p:cNvPr id="22" name="群組 3"/>
          <p:cNvGrpSpPr>
            <a:grpSpLocks/>
          </p:cNvGrpSpPr>
          <p:nvPr/>
        </p:nvGrpSpPr>
        <p:grpSpPr bwMode="auto">
          <a:xfrm>
            <a:off x="7397750" y="576263"/>
            <a:ext cx="908050" cy="1270000"/>
            <a:chOff x="7012720" y="4534918"/>
            <a:chExt cx="907572" cy="1270403"/>
          </a:xfrm>
        </p:grpSpPr>
        <p:sp>
          <p:nvSpPr>
            <p:cNvPr id="23" name="矩形 69"/>
            <p:cNvSpPr>
              <a:spLocks noChangeArrowheads="1"/>
            </p:cNvSpPr>
            <p:nvPr/>
          </p:nvSpPr>
          <p:spPr bwMode="auto">
            <a:xfrm>
              <a:off x="7225333" y="5165355"/>
              <a:ext cx="431573" cy="639966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24" name="矩形 65"/>
            <p:cNvSpPr>
              <a:spLocks noChangeArrowheads="1"/>
            </p:cNvSpPr>
            <p:nvPr/>
          </p:nvSpPr>
          <p:spPr bwMode="auto">
            <a:xfrm>
              <a:off x="7225333" y="4534918"/>
              <a:ext cx="431573" cy="630437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18487" name="文字方塊 66"/>
            <p:cNvSpPr txBox="1">
              <a:spLocks noChangeArrowheads="1"/>
            </p:cNvSpPr>
            <p:nvPr/>
          </p:nvSpPr>
          <p:spPr bwMode="auto">
            <a:xfrm>
              <a:off x="7192823" y="4652619"/>
              <a:ext cx="5473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x</a:t>
              </a:r>
              <a:r>
                <a:rPr lang="en-US" altLang="zh-TW" sz="2400" baseline="300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88" name="文字方塊 67"/>
            <p:cNvSpPr txBox="1">
              <a:spLocks noChangeArrowheads="1"/>
            </p:cNvSpPr>
            <p:nvPr/>
          </p:nvSpPr>
          <p:spPr bwMode="auto">
            <a:xfrm>
              <a:off x="7012720" y="525489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r>
                <a:rPr lang="en-US" altLang="zh-TW" sz="2400" baseline="30000">
                  <a:latin typeface="Arial" panose="020B0604020202020204" pitchFamily="34" charset="0"/>
                  <a:ea typeface="MS PGothic" panose="020B0600070205080204" pitchFamily="34" charset="-128"/>
                </a:rPr>
                <a:t>t-1</a:t>
              </a:r>
              <a:endParaRPr lang="zh-TW" altLang="en-US" sz="2400" baseline="30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7" name="矩形 71"/>
          <p:cNvSpPr/>
          <p:nvPr/>
        </p:nvSpPr>
        <p:spPr>
          <a:xfrm>
            <a:off x="6324600" y="838200"/>
            <a:ext cx="1217613" cy="677863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chemeClr val="tx1"/>
                </a:solidFill>
              </a:rPr>
              <a:t>W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28" name="文字方塊 7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62600" y="990600"/>
            <a:ext cx="2680221" cy="276999"/>
          </a:xfrm>
          <a:prstGeom prst="rect">
            <a:avLst/>
          </a:prstGeom>
          <a:blipFill rotWithShape="1">
            <a:blip r:embed="rId2"/>
            <a:stretch>
              <a:fillRect l="-907" t="-8696" b="-10870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29" name="矩形 73"/>
          <p:cNvSpPr/>
          <p:nvPr/>
        </p:nvSpPr>
        <p:spPr>
          <a:xfrm>
            <a:off x="5138738" y="2293938"/>
            <a:ext cx="388937" cy="63658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i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grpSp>
        <p:nvGrpSpPr>
          <p:cNvPr id="30" name="群組 74"/>
          <p:cNvGrpSpPr>
            <a:grpSpLocks/>
          </p:cNvGrpSpPr>
          <p:nvPr/>
        </p:nvGrpSpPr>
        <p:grpSpPr bwMode="auto">
          <a:xfrm>
            <a:off x="7245350" y="2012950"/>
            <a:ext cx="908050" cy="1270000"/>
            <a:chOff x="7012720" y="4534918"/>
            <a:chExt cx="907572" cy="1270403"/>
          </a:xfrm>
        </p:grpSpPr>
        <p:sp>
          <p:nvSpPr>
            <p:cNvPr id="31" name="矩形 75"/>
            <p:cNvSpPr>
              <a:spLocks noChangeArrowheads="1"/>
            </p:cNvSpPr>
            <p:nvPr/>
          </p:nvSpPr>
          <p:spPr bwMode="auto">
            <a:xfrm>
              <a:off x="7225333" y="5165356"/>
              <a:ext cx="431573" cy="639965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32" name="矩形 76"/>
            <p:cNvSpPr>
              <a:spLocks noChangeArrowheads="1"/>
            </p:cNvSpPr>
            <p:nvPr/>
          </p:nvSpPr>
          <p:spPr bwMode="auto">
            <a:xfrm>
              <a:off x="7225333" y="4534918"/>
              <a:ext cx="431573" cy="630438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18483" name="文字方塊 77"/>
            <p:cNvSpPr txBox="1">
              <a:spLocks noChangeArrowheads="1"/>
            </p:cNvSpPr>
            <p:nvPr/>
          </p:nvSpPr>
          <p:spPr bwMode="auto">
            <a:xfrm>
              <a:off x="7192823" y="4652619"/>
              <a:ext cx="5473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x</a:t>
              </a:r>
              <a:r>
                <a:rPr lang="en-US" altLang="zh-TW" sz="2400" baseline="300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84" name="文字方塊 78"/>
            <p:cNvSpPr txBox="1">
              <a:spLocks noChangeArrowheads="1"/>
            </p:cNvSpPr>
            <p:nvPr/>
          </p:nvSpPr>
          <p:spPr bwMode="auto">
            <a:xfrm>
              <a:off x="7012720" y="525489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r>
                <a:rPr lang="en-US" altLang="zh-TW" sz="2400" baseline="300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t-1</a:t>
              </a:r>
              <a:endParaRPr lang="zh-TW" altLang="en-US" sz="24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35" name="矩形 79"/>
          <p:cNvSpPr/>
          <p:nvPr/>
        </p:nvSpPr>
        <p:spPr>
          <a:xfrm>
            <a:off x="6172200" y="2362200"/>
            <a:ext cx="1217613" cy="677863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W</a:t>
            </a:r>
            <a:r>
              <a:rPr lang="en-US" altLang="zh-TW" sz="2400" baseline="30000" dirty="0">
                <a:solidFill>
                  <a:srgbClr val="000000"/>
                </a:solidFill>
              </a:rPr>
              <a:t>i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37" name="矩形 83"/>
          <p:cNvSpPr/>
          <p:nvPr/>
        </p:nvSpPr>
        <p:spPr>
          <a:xfrm>
            <a:off x="5138738" y="3762375"/>
            <a:ext cx="388937" cy="6350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f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grpSp>
        <p:nvGrpSpPr>
          <p:cNvPr id="38" name="群組 84"/>
          <p:cNvGrpSpPr>
            <a:grpSpLocks/>
          </p:cNvGrpSpPr>
          <p:nvPr/>
        </p:nvGrpSpPr>
        <p:grpSpPr bwMode="auto">
          <a:xfrm>
            <a:off x="7245350" y="3479800"/>
            <a:ext cx="908050" cy="1271588"/>
            <a:chOff x="7012720" y="4534918"/>
            <a:chExt cx="907572" cy="1270403"/>
          </a:xfrm>
        </p:grpSpPr>
        <p:sp>
          <p:nvSpPr>
            <p:cNvPr id="39" name="矩形 85"/>
            <p:cNvSpPr>
              <a:spLocks noChangeArrowheads="1"/>
            </p:cNvSpPr>
            <p:nvPr/>
          </p:nvSpPr>
          <p:spPr bwMode="auto">
            <a:xfrm>
              <a:off x="7225333" y="5166154"/>
              <a:ext cx="431573" cy="639167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40" name="矩形 86"/>
            <p:cNvSpPr>
              <a:spLocks noChangeArrowheads="1"/>
            </p:cNvSpPr>
            <p:nvPr/>
          </p:nvSpPr>
          <p:spPr bwMode="auto">
            <a:xfrm>
              <a:off x="7225333" y="4534918"/>
              <a:ext cx="431573" cy="631236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18479" name="文字方塊 87"/>
            <p:cNvSpPr txBox="1">
              <a:spLocks noChangeArrowheads="1"/>
            </p:cNvSpPr>
            <p:nvPr/>
          </p:nvSpPr>
          <p:spPr bwMode="auto">
            <a:xfrm>
              <a:off x="7192823" y="4652619"/>
              <a:ext cx="5473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FFFF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x</a:t>
              </a:r>
              <a:r>
                <a:rPr lang="en-US" altLang="zh-TW" sz="2400" baseline="30000">
                  <a:solidFill>
                    <a:srgbClr val="FFFF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80" name="文字方塊 88"/>
            <p:cNvSpPr txBox="1">
              <a:spLocks noChangeArrowheads="1"/>
            </p:cNvSpPr>
            <p:nvPr/>
          </p:nvSpPr>
          <p:spPr bwMode="auto">
            <a:xfrm>
              <a:off x="7012720" y="525489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r>
                <a:rPr lang="en-US" altLang="zh-TW" sz="2400" baseline="300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t-</a:t>
              </a:r>
              <a:r>
                <a:rPr lang="en-US" altLang="zh-TW" sz="2400" baseline="300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1</a:t>
              </a:r>
              <a:endParaRPr lang="zh-TW" altLang="en-US" sz="2400" baseline="300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43" name="矩形 89"/>
          <p:cNvSpPr/>
          <p:nvPr/>
        </p:nvSpPr>
        <p:spPr>
          <a:xfrm>
            <a:off x="6172200" y="3733800"/>
            <a:ext cx="1217613" cy="677863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W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f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45" name="矩形 91"/>
          <p:cNvSpPr/>
          <p:nvPr/>
        </p:nvSpPr>
        <p:spPr>
          <a:xfrm>
            <a:off x="5138738" y="5305425"/>
            <a:ext cx="409575" cy="6365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z</a:t>
            </a:r>
            <a:r>
              <a:rPr lang="en-US" altLang="zh-TW" sz="2000" baseline="30000" dirty="0">
                <a:solidFill>
                  <a:srgbClr val="000000"/>
                </a:solidFill>
              </a:rPr>
              <a:t>o</a:t>
            </a:r>
            <a:endParaRPr lang="zh-TW" altLang="en-US" sz="2000" baseline="30000" dirty="0">
              <a:solidFill>
                <a:srgbClr val="000000"/>
              </a:solidFill>
            </a:endParaRPr>
          </a:p>
        </p:txBody>
      </p:sp>
      <p:grpSp>
        <p:nvGrpSpPr>
          <p:cNvPr id="46" name="群組 92"/>
          <p:cNvGrpSpPr>
            <a:grpSpLocks/>
          </p:cNvGrpSpPr>
          <p:nvPr/>
        </p:nvGrpSpPr>
        <p:grpSpPr bwMode="auto">
          <a:xfrm>
            <a:off x="7245350" y="5024438"/>
            <a:ext cx="908050" cy="1270000"/>
            <a:chOff x="7012720" y="4534918"/>
            <a:chExt cx="907572" cy="1270403"/>
          </a:xfrm>
        </p:grpSpPr>
        <p:sp>
          <p:nvSpPr>
            <p:cNvPr id="47" name="矩形 93"/>
            <p:cNvSpPr>
              <a:spLocks noChangeArrowheads="1"/>
            </p:cNvSpPr>
            <p:nvPr/>
          </p:nvSpPr>
          <p:spPr bwMode="auto">
            <a:xfrm>
              <a:off x="7225333" y="5165355"/>
              <a:ext cx="431573" cy="639966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48" name="矩形 94"/>
            <p:cNvSpPr>
              <a:spLocks noChangeArrowheads="1"/>
            </p:cNvSpPr>
            <p:nvPr/>
          </p:nvSpPr>
          <p:spPr bwMode="auto">
            <a:xfrm>
              <a:off x="7225333" y="4534918"/>
              <a:ext cx="431573" cy="630437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18475" name="文字方塊 95"/>
            <p:cNvSpPr txBox="1">
              <a:spLocks noChangeArrowheads="1"/>
            </p:cNvSpPr>
            <p:nvPr/>
          </p:nvSpPr>
          <p:spPr bwMode="auto">
            <a:xfrm>
              <a:off x="7192823" y="4652619"/>
              <a:ext cx="5473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FFFF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x</a:t>
              </a:r>
              <a:r>
                <a:rPr lang="en-US" altLang="zh-TW" sz="2400" baseline="30000">
                  <a:solidFill>
                    <a:srgbClr val="FFFF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8476" name="文字方塊 96"/>
            <p:cNvSpPr txBox="1">
              <a:spLocks noChangeArrowheads="1"/>
            </p:cNvSpPr>
            <p:nvPr/>
          </p:nvSpPr>
          <p:spPr bwMode="auto">
            <a:xfrm>
              <a:off x="7012720" y="525489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r>
                <a:rPr lang="en-US" altLang="zh-TW" sz="2400" baseline="300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t-1</a:t>
              </a:r>
              <a:endParaRPr lang="zh-TW" altLang="en-US" sz="24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51" name="矩形 97"/>
          <p:cNvSpPr/>
          <p:nvPr/>
        </p:nvSpPr>
        <p:spPr>
          <a:xfrm>
            <a:off x="6172200" y="5334000"/>
            <a:ext cx="1217613" cy="677863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W</a:t>
            </a:r>
            <a:r>
              <a:rPr lang="en-US" altLang="zh-TW" sz="2400" baseline="30000" dirty="0">
                <a:solidFill>
                  <a:srgbClr val="000000"/>
                </a:solidFill>
              </a:rPr>
              <a:t>o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pic>
        <p:nvPicPr>
          <p:cNvPr id="18458" name="圖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0"/>
            <a:ext cx="1662113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54" name="TextBox 53"/>
          <p:cNvSpPr txBox="1">
            <a:spLocks noChangeArrowheads="1"/>
          </p:cNvSpPr>
          <p:nvPr/>
        </p:nvSpPr>
        <p:spPr bwMode="auto">
          <a:xfrm>
            <a:off x="5562600" y="2438400"/>
            <a:ext cx="2590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= σ(         </a:t>
            </a:r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      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               )</a:t>
            </a:r>
          </a:p>
        </p:txBody>
      </p:sp>
      <p:sp>
        <p:nvSpPr>
          <p:cNvPr id="25655" name="TextBox 54"/>
          <p:cNvSpPr txBox="1">
            <a:spLocks noChangeArrowheads="1"/>
          </p:cNvSpPr>
          <p:nvPr/>
        </p:nvSpPr>
        <p:spPr bwMode="auto">
          <a:xfrm>
            <a:off x="5562600" y="5410200"/>
            <a:ext cx="2590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= σ(                              )</a:t>
            </a:r>
          </a:p>
        </p:txBody>
      </p:sp>
      <p:sp>
        <p:nvSpPr>
          <p:cNvPr id="25656" name="TextBox 55"/>
          <p:cNvSpPr txBox="1">
            <a:spLocks noChangeArrowheads="1"/>
          </p:cNvSpPr>
          <p:nvPr/>
        </p:nvSpPr>
        <p:spPr bwMode="auto">
          <a:xfrm>
            <a:off x="5562600" y="3886200"/>
            <a:ext cx="2590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= σ(                              )</a:t>
            </a:r>
          </a:p>
        </p:txBody>
      </p:sp>
      <p:sp>
        <p:nvSpPr>
          <p:cNvPr id="18462" name="TextBox 56"/>
          <p:cNvSpPr txBox="1">
            <a:spLocks noChangeArrowheads="1"/>
          </p:cNvSpPr>
          <p:nvPr/>
        </p:nvSpPr>
        <p:spPr bwMode="auto">
          <a:xfrm>
            <a:off x="2590800" y="6488113"/>
            <a:ext cx="3876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Information flow of LSTM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0" y="3352800"/>
            <a:ext cx="11652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Controls </a:t>
            </a:r>
          </a:p>
          <a:p>
            <a:pPr eaLnBrk="1" hangingPunct="1"/>
            <a:r>
              <a:rPr lang="en-US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forget gate</a:t>
            </a:r>
          </a:p>
        </p:txBody>
      </p:sp>
      <p:cxnSp>
        <p:nvCxnSpPr>
          <p:cNvPr id="6" name="Straight Arrow Connector 5"/>
          <p:cNvCxnSpPr>
            <a:cxnSpLocks noChangeShapeType="1"/>
            <a:stCxn id="2" idx="2"/>
          </p:cNvCxnSpPr>
          <p:nvPr/>
        </p:nvCxnSpPr>
        <p:spPr bwMode="auto">
          <a:xfrm>
            <a:off x="582613" y="3937000"/>
            <a:ext cx="255587" cy="4064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200150" y="3429000"/>
            <a:ext cx="10858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Controls </a:t>
            </a:r>
          </a:p>
          <a:p>
            <a:pPr eaLnBrk="1" hangingPunct="1"/>
            <a:r>
              <a:rPr lang="en-US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input gate</a:t>
            </a:r>
          </a:p>
        </p:txBody>
      </p:sp>
      <p:cxnSp>
        <p:nvCxnSpPr>
          <p:cNvPr id="26" name="Straight Arrow Connector 25"/>
          <p:cNvCxnSpPr>
            <a:cxnSpLocks noChangeShapeType="1"/>
          </p:cNvCxnSpPr>
          <p:nvPr/>
        </p:nvCxnSpPr>
        <p:spPr bwMode="auto">
          <a:xfrm>
            <a:off x="1905000" y="4038600"/>
            <a:ext cx="0" cy="3810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286000" y="3429000"/>
            <a:ext cx="1200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Updating</a:t>
            </a:r>
          </a:p>
          <a:p>
            <a:pPr eaLnBrk="1" hangingPunct="1"/>
            <a:r>
              <a:rPr lang="en-US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information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3352800" y="3429000"/>
            <a:ext cx="1257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Controls</a:t>
            </a:r>
          </a:p>
          <a:p>
            <a:pPr eaLnBrk="1" hangingPunct="1"/>
            <a:r>
              <a:rPr lang="en-US" altLang="en-US" sz="1600">
                <a:latin typeface="Arial" panose="020B0604020202020204" pitchFamily="34" charset="0"/>
                <a:ea typeface="MS PGothic" panose="020B0600070205080204" pitchFamily="34" charset="-128"/>
              </a:rPr>
              <a:t>Output gate</a:t>
            </a:r>
          </a:p>
        </p:txBody>
      </p:sp>
      <p:cxnSp>
        <p:nvCxnSpPr>
          <p:cNvPr id="42" name="Straight Arrow Connector 41"/>
          <p:cNvCxnSpPr>
            <a:cxnSpLocks noChangeShapeType="1"/>
          </p:cNvCxnSpPr>
          <p:nvPr/>
        </p:nvCxnSpPr>
        <p:spPr bwMode="auto">
          <a:xfrm flipH="1">
            <a:off x="2886075" y="3962400"/>
            <a:ext cx="0" cy="411163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Straight Arrow Connector 48"/>
          <p:cNvCxnSpPr>
            <a:cxnSpLocks noChangeShapeType="1"/>
          </p:cNvCxnSpPr>
          <p:nvPr/>
        </p:nvCxnSpPr>
        <p:spPr bwMode="auto">
          <a:xfrm>
            <a:off x="3810000" y="4038600"/>
            <a:ext cx="0" cy="3810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2819400" y="-76200"/>
            <a:ext cx="2387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These 4 matrix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computation should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be done concurrently.</a:t>
            </a:r>
          </a:p>
        </p:txBody>
      </p:sp>
      <p:pic>
        <p:nvPicPr>
          <p:cNvPr id="18472" name="Picture 5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0"/>
            <a:ext cx="274478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1" grpId="0" animBg="1"/>
      <p:bldP spid="25654" grpId="0"/>
      <p:bldP spid="25655" grpId="0"/>
      <p:bldP spid="25656" grpId="0"/>
      <p:bldP spid="2" grpId="0"/>
      <p:bldP spid="17" grpId="0"/>
      <p:bldP spid="34" grpId="0"/>
      <p:bldP spid="36" grpId="0"/>
      <p:bldP spid="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群組 164"/>
          <p:cNvGrpSpPr>
            <a:grpSpLocks/>
          </p:cNvGrpSpPr>
          <p:nvPr/>
        </p:nvGrpSpPr>
        <p:grpSpPr bwMode="auto">
          <a:xfrm>
            <a:off x="2444750" y="5832475"/>
            <a:ext cx="908050" cy="460375"/>
            <a:chOff x="4765592" y="6396335"/>
            <a:chExt cx="907572" cy="461665"/>
          </a:xfrm>
        </p:grpSpPr>
        <p:sp>
          <p:nvSpPr>
            <p:cNvPr id="5" name="矩形 41"/>
            <p:cNvSpPr>
              <a:spLocks noChangeArrowheads="1"/>
            </p:cNvSpPr>
            <p:nvPr/>
          </p:nvSpPr>
          <p:spPr bwMode="auto">
            <a:xfrm>
              <a:off x="4822712" y="6442502"/>
              <a:ext cx="720346" cy="369332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19499" name="文字方塊 42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x</a:t>
              </a:r>
              <a:r>
                <a:rPr lang="en-US" altLang="zh-TW" sz="2400" baseline="300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7" name="矩形 44"/>
          <p:cNvSpPr>
            <a:spLocks noChangeArrowheads="1"/>
          </p:cNvSpPr>
          <p:nvPr/>
        </p:nvSpPr>
        <p:spPr bwMode="auto">
          <a:xfrm>
            <a:off x="2525713" y="4424363"/>
            <a:ext cx="719137" cy="431800"/>
          </a:xfrm>
          <a:prstGeom prst="rect">
            <a:avLst/>
          </a:prstGeom>
          <a:gradFill rotWithShape="1">
            <a:gsLst>
              <a:gs pos="0">
                <a:srgbClr val="F5F5FC"/>
              </a:gs>
              <a:gs pos="64999">
                <a:srgbClr val="E6E6F6"/>
              </a:gs>
              <a:gs pos="100000">
                <a:srgbClr val="DCDCF3"/>
              </a:gs>
            </a:gsLst>
            <a:lin ang="5400000" scaled="1"/>
          </a:gradFill>
          <a:ln w="9525">
            <a:solidFill>
              <a:srgbClr val="BFBFD2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mtClean="0">
                <a:solidFill>
                  <a:srgbClr val="000000"/>
                </a:solidFill>
              </a:rPr>
              <a:t>z</a:t>
            </a:r>
            <a:endParaRPr lang="zh-TW" altLang="en-US" smtClean="0">
              <a:solidFill>
                <a:srgbClr val="000000"/>
              </a:solidFill>
            </a:endParaRPr>
          </a:p>
        </p:txBody>
      </p:sp>
      <p:sp>
        <p:nvSpPr>
          <p:cNvPr id="8" name="矩形 45"/>
          <p:cNvSpPr/>
          <p:nvPr/>
        </p:nvSpPr>
        <p:spPr>
          <a:xfrm>
            <a:off x="1631950" y="4424363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i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9" name="矩形 49"/>
          <p:cNvSpPr/>
          <p:nvPr/>
        </p:nvSpPr>
        <p:spPr>
          <a:xfrm>
            <a:off x="747713" y="4424363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f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10" name="矩形 50"/>
          <p:cNvSpPr/>
          <p:nvPr/>
        </p:nvSpPr>
        <p:spPr>
          <a:xfrm>
            <a:off x="3409950" y="4429125"/>
            <a:ext cx="719138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>
                <a:solidFill>
                  <a:srgbClr val="000000"/>
                </a:solidFill>
              </a:rPr>
              <a:t>o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11" name="向下箭號 162"/>
          <p:cNvSpPr/>
          <p:nvPr/>
        </p:nvSpPr>
        <p:spPr>
          <a:xfrm rot="2620627" flipV="1">
            <a:off x="3303588" y="4886325"/>
            <a:ext cx="438150" cy="984250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2" name="向下箭號 163"/>
          <p:cNvSpPr/>
          <p:nvPr/>
        </p:nvSpPr>
        <p:spPr>
          <a:xfrm rot="20057551" flipV="1">
            <a:off x="1890713" y="4879975"/>
            <a:ext cx="438150" cy="909638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3" name="向下箭號 165"/>
          <p:cNvSpPr/>
          <p:nvPr/>
        </p:nvSpPr>
        <p:spPr>
          <a:xfrm rot="1353372" flipV="1">
            <a:off x="2601913" y="4926013"/>
            <a:ext cx="438150" cy="860425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4" name="向下箭號 166"/>
          <p:cNvSpPr/>
          <p:nvPr/>
        </p:nvSpPr>
        <p:spPr>
          <a:xfrm rot="18851723" flipV="1">
            <a:off x="1143794" y="4855369"/>
            <a:ext cx="438150" cy="1030288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19467" name="群組 219"/>
          <p:cNvGrpSpPr>
            <a:grpSpLocks/>
          </p:cNvGrpSpPr>
          <p:nvPr/>
        </p:nvGrpSpPr>
        <p:grpSpPr bwMode="auto">
          <a:xfrm>
            <a:off x="1649413" y="5821363"/>
            <a:ext cx="908050" cy="461962"/>
            <a:chOff x="4765592" y="6396335"/>
            <a:chExt cx="907572" cy="461665"/>
          </a:xfrm>
        </p:grpSpPr>
        <p:sp>
          <p:nvSpPr>
            <p:cNvPr id="16" name="矩形 220"/>
            <p:cNvSpPr>
              <a:spLocks noChangeArrowheads="1"/>
            </p:cNvSpPr>
            <p:nvPr/>
          </p:nvSpPr>
          <p:spPr bwMode="auto">
            <a:xfrm>
              <a:off x="4822712" y="6442342"/>
              <a:ext cx="720346" cy="369650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19497" name="文字方塊 221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r>
                <a:rPr lang="en-US" altLang="zh-TW" sz="2400" baseline="30000">
                  <a:latin typeface="Arial" panose="020B0604020202020204" pitchFamily="34" charset="0"/>
                  <a:ea typeface="MS PGothic" panose="020B0600070205080204" pitchFamily="34" charset="-128"/>
                </a:rPr>
                <a:t>t-1</a:t>
              </a:r>
              <a:endParaRPr lang="zh-TW" altLang="en-US" sz="2400" baseline="30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19468" name="群組 113"/>
          <p:cNvGrpSpPr>
            <a:grpSpLocks/>
          </p:cNvGrpSpPr>
          <p:nvPr/>
        </p:nvGrpSpPr>
        <p:grpSpPr bwMode="auto">
          <a:xfrm>
            <a:off x="-165100" y="2117725"/>
            <a:ext cx="908050" cy="461963"/>
            <a:chOff x="4775004" y="6396335"/>
            <a:chExt cx="907572" cy="461665"/>
          </a:xfrm>
        </p:grpSpPr>
        <p:sp>
          <p:nvSpPr>
            <p:cNvPr id="19" name="矩形 114"/>
            <p:cNvSpPr>
              <a:spLocks noChangeArrowheads="1"/>
            </p:cNvSpPr>
            <p:nvPr/>
          </p:nvSpPr>
          <p:spPr bwMode="auto">
            <a:xfrm>
              <a:off x="4822604" y="6442343"/>
              <a:ext cx="720346" cy="369648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20" name="文字方塊 115"/>
            <p:cNvSpPr txBox="1">
              <a:spLocks noChangeArrowheads="1"/>
            </p:cNvSpPr>
            <p:nvPr/>
          </p:nvSpPr>
          <p:spPr bwMode="auto"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/>
                <a:t>c</a:t>
              </a:r>
              <a:r>
                <a:rPr lang="en-US" altLang="zh-TW" baseline="30000" smtClean="0"/>
                <a:t>t-1</a:t>
              </a:r>
              <a:endParaRPr lang="zh-TW" altLang="en-US" baseline="30000" smtClean="0"/>
            </a:p>
          </p:txBody>
        </p:sp>
      </p:grpSp>
      <p:cxnSp>
        <p:nvCxnSpPr>
          <p:cNvPr id="22" name="直線單箭頭接點 51"/>
          <p:cNvCxnSpPr>
            <a:cxnSpLocks/>
          </p:cNvCxnSpPr>
          <p:nvPr/>
        </p:nvCxnSpPr>
        <p:spPr>
          <a:xfrm>
            <a:off x="252413" y="6013450"/>
            <a:ext cx="137953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52"/>
          <p:cNvCxnSpPr>
            <a:cxnSpLocks/>
          </p:cNvCxnSpPr>
          <p:nvPr/>
        </p:nvCxnSpPr>
        <p:spPr>
          <a:xfrm>
            <a:off x="269875" y="2579688"/>
            <a:ext cx="0" cy="3430587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56"/>
          <p:cNvSpPr txBox="1"/>
          <p:nvPr/>
        </p:nvSpPr>
        <p:spPr>
          <a:xfrm>
            <a:off x="322263" y="3259138"/>
            <a:ext cx="1658937" cy="4603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mtClean="0">
                <a:solidFill>
                  <a:srgbClr val="FFFFFF"/>
                </a:solidFill>
              </a:rPr>
              <a:t>“peephole”</a:t>
            </a:r>
            <a:endParaRPr lang="zh-TW" altLang="en-US" smtClean="0">
              <a:solidFill>
                <a:srgbClr val="FFFFFF"/>
              </a:solidFill>
            </a:endParaRPr>
          </a:p>
        </p:txBody>
      </p:sp>
      <p:sp>
        <p:nvSpPr>
          <p:cNvPr id="25" name="矩形 57"/>
          <p:cNvSpPr>
            <a:spLocks noChangeArrowheads="1"/>
          </p:cNvSpPr>
          <p:nvPr/>
        </p:nvSpPr>
        <p:spPr bwMode="auto">
          <a:xfrm>
            <a:off x="3257550" y="1444625"/>
            <a:ext cx="390525" cy="635000"/>
          </a:xfrm>
          <a:prstGeom prst="rect">
            <a:avLst/>
          </a:prstGeom>
          <a:gradFill rotWithShape="1">
            <a:gsLst>
              <a:gs pos="0">
                <a:srgbClr val="F5F5FC"/>
              </a:gs>
              <a:gs pos="64999">
                <a:srgbClr val="E6E6F6"/>
              </a:gs>
              <a:gs pos="100000">
                <a:srgbClr val="DCDCF3"/>
              </a:gs>
            </a:gsLst>
            <a:lin ang="5400000" scaled="1"/>
          </a:gradFill>
          <a:ln w="9525">
            <a:solidFill>
              <a:srgbClr val="BFBFD2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mtClean="0">
                <a:solidFill>
                  <a:srgbClr val="000000"/>
                </a:solidFill>
              </a:rPr>
              <a:t>z</a:t>
            </a:r>
            <a:endParaRPr lang="zh-TW" altLang="en-US" smtClean="0">
              <a:solidFill>
                <a:srgbClr val="000000"/>
              </a:solidFill>
            </a:endParaRPr>
          </a:p>
        </p:txBody>
      </p:sp>
      <p:sp>
        <p:nvSpPr>
          <p:cNvPr id="26" name="矩形 64"/>
          <p:cNvSpPr/>
          <p:nvPr/>
        </p:nvSpPr>
        <p:spPr>
          <a:xfrm>
            <a:off x="4495800" y="1439863"/>
            <a:ext cx="2008188" cy="67786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W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grpSp>
        <p:nvGrpSpPr>
          <p:cNvPr id="28" name="群組 6"/>
          <p:cNvGrpSpPr>
            <a:grpSpLocks/>
          </p:cNvGrpSpPr>
          <p:nvPr/>
        </p:nvGrpSpPr>
        <p:grpSpPr bwMode="auto">
          <a:xfrm>
            <a:off x="6397625" y="771525"/>
            <a:ext cx="908050" cy="1947863"/>
            <a:chOff x="7186187" y="771143"/>
            <a:chExt cx="907572" cy="1948455"/>
          </a:xfrm>
        </p:grpSpPr>
        <p:grpSp>
          <p:nvGrpSpPr>
            <p:cNvPr id="19487" name="群組 58"/>
            <p:cNvGrpSpPr>
              <a:grpSpLocks/>
            </p:cNvGrpSpPr>
            <p:nvPr/>
          </p:nvGrpSpPr>
          <p:grpSpPr bwMode="auto">
            <a:xfrm>
              <a:off x="7186187" y="771143"/>
              <a:ext cx="907572" cy="1270403"/>
              <a:chOff x="7012720" y="4534918"/>
              <a:chExt cx="907572" cy="1270403"/>
            </a:xfrm>
          </p:grpSpPr>
          <p:sp>
            <p:nvSpPr>
              <p:cNvPr id="32" name="矩形 59"/>
              <p:cNvSpPr>
                <a:spLocks noChangeArrowheads="1"/>
              </p:cNvSpPr>
              <p:nvPr/>
            </p:nvSpPr>
            <p:spPr bwMode="auto">
              <a:xfrm>
                <a:off x="7225333" y="5165348"/>
                <a:ext cx="431573" cy="639956"/>
              </a:xfrm>
              <a:prstGeom prst="rect">
                <a:avLst/>
              </a:prstGeom>
              <a:solidFill>
                <a:srgbClr val="E2E2FF"/>
              </a:solidFill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sz="1800" smtClean="0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矩形 60"/>
              <p:cNvSpPr>
                <a:spLocks noChangeArrowheads="1"/>
              </p:cNvSpPr>
              <p:nvPr/>
            </p:nvSpPr>
            <p:spPr bwMode="auto">
              <a:xfrm>
                <a:off x="7225333" y="4534918"/>
                <a:ext cx="431573" cy="630430"/>
              </a:xfrm>
              <a:prstGeom prst="rect">
                <a:avLst/>
              </a:prstGeom>
              <a:solidFill>
                <a:srgbClr val="000000"/>
              </a:solidFill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sz="1800" smtClean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9492" name="文字方塊 61"/>
              <p:cNvSpPr txBox="1">
                <a:spLocks noChangeArrowheads="1"/>
              </p:cNvSpPr>
              <p:nvPr/>
            </p:nvSpPr>
            <p:spPr bwMode="auto">
              <a:xfrm>
                <a:off x="7192823" y="4652619"/>
                <a:ext cx="54736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TW" sz="2400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x</a:t>
                </a:r>
                <a:r>
                  <a:rPr lang="en-US" altLang="zh-TW" sz="2400" baseline="30000">
                    <a:solidFill>
                      <a:schemeClr val="bg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t</a:t>
                </a:r>
                <a:endParaRPr lang="zh-TW" altLang="en-US" sz="2400" baseline="300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19493" name="文字方塊 62"/>
              <p:cNvSpPr txBox="1">
                <a:spLocks noChangeArrowheads="1"/>
              </p:cNvSpPr>
              <p:nvPr/>
            </p:nvSpPr>
            <p:spPr bwMode="auto">
              <a:xfrm>
                <a:off x="7012720" y="5254895"/>
                <a:ext cx="90757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TW" sz="24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h</a:t>
                </a:r>
                <a:r>
                  <a:rPr lang="en-US" altLang="zh-TW" sz="2400" baseline="300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t-1</a:t>
                </a:r>
                <a:endParaRPr lang="zh-TW" altLang="en-US" sz="2400" baseline="300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sp>
          <p:nvSpPr>
            <p:cNvPr id="30" name="矩形 70"/>
            <p:cNvSpPr>
              <a:spLocks noChangeArrowheads="1"/>
            </p:cNvSpPr>
            <p:nvPr/>
          </p:nvSpPr>
          <p:spPr bwMode="auto">
            <a:xfrm>
              <a:off x="7424187" y="2079641"/>
              <a:ext cx="406186" cy="639957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31" name="文字方塊 81"/>
            <p:cNvSpPr txBox="1">
              <a:spLocks noChangeArrowheads="1"/>
            </p:cNvSpPr>
            <p:nvPr/>
          </p:nvSpPr>
          <p:spPr bwMode="auto">
            <a:xfrm>
              <a:off x="7186187" y="2159040"/>
              <a:ext cx="907572" cy="462103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/>
                <a:t>c</a:t>
              </a:r>
              <a:r>
                <a:rPr lang="en-US" altLang="zh-TW" baseline="30000" smtClean="0"/>
                <a:t>t-1</a:t>
              </a:r>
              <a:endParaRPr lang="zh-TW" altLang="en-US" baseline="30000" smtClean="0"/>
            </a:p>
          </p:txBody>
        </p:sp>
      </p:grpSp>
      <p:sp>
        <p:nvSpPr>
          <p:cNvPr id="36" name="矩形 82"/>
          <p:cNvSpPr/>
          <p:nvPr/>
        </p:nvSpPr>
        <p:spPr>
          <a:xfrm>
            <a:off x="5842000" y="1447800"/>
            <a:ext cx="639763" cy="63976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7" name="文字方塊 99"/>
          <p:cNvSpPr txBox="1">
            <a:spLocks noChangeArrowheads="1"/>
          </p:cNvSpPr>
          <p:nvPr/>
        </p:nvSpPr>
        <p:spPr bwMode="auto">
          <a:xfrm>
            <a:off x="5410200" y="2743200"/>
            <a:ext cx="1554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diagonal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8" name="箭號: 向下 100"/>
          <p:cNvSpPr/>
          <p:nvPr/>
        </p:nvSpPr>
        <p:spPr>
          <a:xfrm flipV="1">
            <a:off x="5870575" y="2159000"/>
            <a:ext cx="590550" cy="655638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9" name="群組 7"/>
          <p:cNvGrpSpPr>
            <a:grpSpLocks/>
          </p:cNvGrpSpPr>
          <p:nvPr/>
        </p:nvGrpSpPr>
        <p:grpSpPr bwMode="auto">
          <a:xfrm>
            <a:off x="3503613" y="3259138"/>
            <a:ext cx="5422900" cy="636587"/>
            <a:chOff x="3904578" y="3100699"/>
            <a:chExt cx="5421826" cy="638040"/>
          </a:xfrm>
        </p:grpSpPr>
        <p:grpSp>
          <p:nvGrpSpPr>
            <p:cNvPr id="19482" name="群組 101"/>
            <p:cNvGrpSpPr>
              <a:grpSpLocks/>
            </p:cNvGrpSpPr>
            <p:nvPr/>
          </p:nvGrpSpPr>
          <p:grpSpPr bwMode="auto">
            <a:xfrm>
              <a:off x="3904578" y="3100699"/>
              <a:ext cx="1514214" cy="638040"/>
              <a:chOff x="6038727" y="5794241"/>
              <a:chExt cx="1514214" cy="638040"/>
            </a:xfrm>
          </p:grpSpPr>
          <p:sp>
            <p:nvSpPr>
              <p:cNvPr id="42" name="矩形 102"/>
              <p:cNvSpPr/>
              <p:nvPr/>
            </p:nvSpPr>
            <p:spPr>
              <a:xfrm>
                <a:off x="7164041" y="5794241"/>
                <a:ext cx="388861" cy="636449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TW" sz="2400" dirty="0" err="1">
                    <a:solidFill>
                      <a:srgbClr val="000000"/>
                    </a:solidFill>
                  </a:rPr>
                  <a:t>z</a:t>
                </a:r>
                <a:r>
                  <a:rPr lang="en-US" altLang="zh-TW" sz="2400" baseline="30000" dirty="0" err="1">
                    <a:solidFill>
                      <a:srgbClr val="000000"/>
                    </a:solidFill>
                  </a:rPr>
                  <a:t>i</a:t>
                </a:r>
                <a:endParaRPr lang="zh-TW" altLang="en-US" sz="2400" baseline="30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3" name="矩形 103"/>
              <p:cNvSpPr/>
              <p:nvPr/>
            </p:nvSpPr>
            <p:spPr>
              <a:xfrm>
                <a:off x="6618049" y="5795832"/>
                <a:ext cx="388861" cy="636449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TW" sz="2400" dirty="0" err="1">
                    <a:solidFill>
                      <a:srgbClr val="000000"/>
                    </a:solidFill>
                  </a:rPr>
                  <a:t>z</a:t>
                </a:r>
                <a:r>
                  <a:rPr lang="en-US" altLang="zh-TW" sz="2400" baseline="30000" dirty="0" err="1">
                    <a:solidFill>
                      <a:srgbClr val="000000"/>
                    </a:solidFill>
                  </a:rPr>
                  <a:t>f</a:t>
                </a:r>
                <a:endParaRPr lang="zh-TW" altLang="en-US" sz="2400" baseline="30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矩形 104"/>
              <p:cNvSpPr/>
              <p:nvPr/>
            </p:nvSpPr>
            <p:spPr>
              <a:xfrm>
                <a:off x="6038727" y="5795832"/>
                <a:ext cx="411081" cy="636449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TW" sz="2000" dirty="0">
                    <a:solidFill>
                      <a:srgbClr val="000000"/>
                    </a:solidFill>
                  </a:rPr>
                  <a:t>z</a:t>
                </a:r>
                <a:r>
                  <a:rPr lang="en-US" altLang="zh-TW" sz="2000" baseline="30000" dirty="0">
                    <a:solidFill>
                      <a:srgbClr val="000000"/>
                    </a:solidFill>
                  </a:rPr>
                  <a:t>o</a:t>
                </a:r>
                <a:endParaRPr lang="zh-TW" altLang="en-US" sz="2000" baseline="3000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9483" name="文字方塊 105"/>
            <p:cNvSpPr txBox="1">
              <a:spLocks noChangeArrowheads="1"/>
            </p:cNvSpPr>
            <p:nvPr/>
          </p:nvSpPr>
          <p:spPr bwMode="auto">
            <a:xfrm>
              <a:off x="5201270" y="3195150"/>
              <a:ext cx="41251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Arial" panose="020B0604020202020204" pitchFamily="34" charset="0"/>
                  <a:ea typeface="MS PGothic" panose="020B0600070205080204" pitchFamily="34" charset="-128"/>
                </a:rPr>
                <a:t>obtained by the same way</a:t>
              </a:r>
              <a:endParaRPr lang="zh-TW" altLang="en-US" sz="24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6667" name="TextBox 44"/>
          <p:cNvSpPr txBox="1">
            <a:spLocks noChangeArrowheads="1"/>
          </p:cNvSpPr>
          <p:nvPr/>
        </p:nvSpPr>
        <p:spPr bwMode="auto">
          <a:xfrm>
            <a:off x="3657600" y="1600200"/>
            <a:ext cx="396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=tanh(                                           )    </a:t>
            </a:r>
          </a:p>
        </p:txBody>
      </p:sp>
      <p:sp>
        <p:nvSpPr>
          <p:cNvPr id="19480" name="TextBox 45"/>
          <p:cNvSpPr txBox="1">
            <a:spLocks noChangeArrowheads="1"/>
          </p:cNvSpPr>
          <p:nvPr/>
        </p:nvSpPr>
        <p:spPr bwMode="auto">
          <a:xfrm>
            <a:off x="3733800" y="6396038"/>
            <a:ext cx="3876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Information flow of LSTM</a:t>
            </a:r>
          </a:p>
        </p:txBody>
      </p:sp>
      <p:pic>
        <p:nvPicPr>
          <p:cNvPr id="19481" name="Picture 4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5400"/>
            <a:ext cx="274478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7" grpId="0"/>
      <p:bldP spid="38" grpId="0" animBg="1"/>
      <p:bldP spid="2666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212"/>
          <p:cNvGrpSpPr>
            <a:grpSpLocks/>
          </p:cNvGrpSpPr>
          <p:nvPr/>
        </p:nvGrpSpPr>
        <p:grpSpPr bwMode="auto">
          <a:xfrm>
            <a:off x="5892800" y="5827713"/>
            <a:ext cx="908050" cy="461962"/>
            <a:chOff x="4765592" y="6396335"/>
            <a:chExt cx="907572" cy="461665"/>
          </a:xfrm>
        </p:grpSpPr>
        <p:sp>
          <p:nvSpPr>
            <p:cNvPr id="5" name="矩形 213"/>
            <p:cNvSpPr>
              <a:spLocks noChangeArrowheads="1"/>
            </p:cNvSpPr>
            <p:nvPr/>
          </p:nvSpPr>
          <p:spPr bwMode="auto">
            <a:xfrm>
              <a:off x="4822712" y="6442342"/>
              <a:ext cx="720346" cy="369650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20536" name="文字方塊 214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r>
                <a:rPr lang="en-US" altLang="zh-TW" sz="2400" baseline="300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7" name="手繪多邊形 110"/>
          <p:cNvSpPr/>
          <p:nvPr/>
        </p:nvSpPr>
        <p:spPr>
          <a:xfrm>
            <a:off x="4022725" y="2976563"/>
            <a:ext cx="1906588" cy="3101975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0484" name="群組 123"/>
          <p:cNvGrpSpPr>
            <a:grpSpLocks/>
          </p:cNvGrpSpPr>
          <p:nvPr/>
        </p:nvGrpSpPr>
        <p:grpSpPr bwMode="auto">
          <a:xfrm>
            <a:off x="2444750" y="5832475"/>
            <a:ext cx="908050" cy="460375"/>
            <a:chOff x="4765592" y="6396335"/>
            <a:chExt cx="907572" cy="461665"/>
          </a:xfrm>
        </p:grpSpPr>
        <p:sp>
          <p:nvSpPr>
            <p:cNvPr id="11" name="矩形 125"/>
            <p:cNvSpPr>
              <a:spLocks noChangeArrowheads="1"/>
            </p:cNvSpPr>
            <p:nvPr/>
          </p:nvSpPr>
          <p:spPr bwMode="auto">
            <a:xfrm>
              <a:off x="4822712" y="6442502"/>
              <a:ext cx="720346" cy="369332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20534" name="文字方塊 129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x</a:t>
              </a:r>
              <a:r>
                <a:rPr lang="en-US" altLang="zh-TW" sz="2400" baseline="300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13" name="矩形 130"/>
          <p:cNvSpPr>
            <a:spLocks noChangeArrowheads="1"/>
          </p:cNvSpPr>
          <p:nvPr/>
        </p:nvSpPr>
        <p:spPr bwMode="auto">
          <a:xfrm>
            <a:off x="2525713" y="4424363"/>
            <a:ext cx="719137" cy="431800"/>
          </a:xfrm>
          <a:prstGeom prst="rect">
            <a:avLst/>
          </a:prstGeom>
          <a:gradFill rotWithShape="1">
            <a:gsLst>
              <a:gs pos="0">
                <a:srgbClr val="F5F5FC"/>
              </a:gs>
              <a:gs pos="64999">
                <a:srgbClr val="E6E6F6"/>
              </a:gs>
              <a:gs pos="100000">
                <a:srgbClr val="DCDCF3"/>
              </a:gs>
            </a:gsLst>
            <a:lin ang="5400000" scaled="1"/>
          </a:gradFill>
          <a:ln w="9525">
            <a:solidFill>
              <a:srgbClr val="BFBFD2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mtClean="0">
                <a:solidFill>
                  <a:srgbClr val="000000"/>
                </a:solidFill>
              </a:rPr>
              <a:t>z</a:t>
            </a:r>
            <a:endParaRPr lang="zh-TW" altLang="en-US" smtClean="0">
              <a:solidFill>
                <a:srgbClr val="000000"/>
              </a:solidFill>
            </a:endParaRPr>
          </a:p>
        </p:txBody>
      </p:sp>
      <p:sp>
        <p:nvSpPr>
          <p:cNvPr id="14" name="矩形 131"/>
          <p:cNvSpPr/>
          <p:nvPr/>
        </p:nvSpPr>
        <p:spPr>
          <a:xfrm>
            <a:off x="1631950" y="4424363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i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15" name="橢圓 137"/>
          <p:cNvSpPr/>
          <p:nvPr/>
        </p:nvSpPr>
        <p:spPr>
          <a:xfrm>
            <a:off x="2197100" y="3570288"/>
            <a:ext cx="438150" cy="438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16" name="矩形 140"/>
          <p:cNvSpPr/>
          <p:nvPr/>
        </p:nvSpPr>
        <p:spPr>
          <a:xfrm>
            <a:off x="747713" y="4424363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f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17" name="矩形 142"/>
          <p:cNvSpPr/>
          <p:nvPr/>
        </p:nvSpPr>
        <p:spPr>
          <a:xfrm>
            <a:off x="3409950" y="4429125"/>
            <a:ext cx="719138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chemeClr val="tx1"/>
                </a:solidFill>
              </a:rPr>
              <a:t>z</a:t>
            </a:r>
            <a:r>
              <a:rPr lang="en-US" altLang="zh-TW" sz="2400" baseline="30000" dirty="0">
                <a:solidFill>
                  <a:schemeClr val="tx1"/>
                </a:solidFill>
              </a:rPr>
              <a:t>o</a:t>
            </a:r>
            <a:endParaRPr lang="zh-TW" altLang="en-US" sz="2400" baseline="30000" dirty="0">
              <a:solidFill>
                <a:schemeClr val="tx1"/>
              </a:solidFill>
            </a:endParaRPr>
          </a:p>
        </p:txBody>
      </p:sp>
      <p:sp>
        <p:nvSpPr>
          <p:cNvPr id="18" name="橢圓 145"/>
          <p:cNvSpPr/>
          <p:nvPr/>
        </p:nvSpPr>
        <p:spPr>
          <a:xfrm>
            <a:off x="869950" y="2751138"/>
            <a:ext cx="438150" cy="438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grpSp>
        <p:nvGrpSpPr>
          <p:cNvPr id="19" name="群組 147"/>
          <p:cNvGrpSpPr>
            <a:grpSpLocks/>
          </p:cNvGrpSpPr>
          <p:nvPr/>
        </p:nvGrpSpPr>
        <p:grpSpPr bwMode="auto">
          <a:xfrm>
            <a:off x="2185988" y="2724150"/>
            <a:ext cx="438150" cy="438150"/>
            <a:chOff x="6656524" y="2699227"/>
            <a:chExt cx="438150" cy="438150"/>
          </a:xfrm>
        </p:grpSpPr>
        <p:sp>
          <p:nvSpPr>
            <p:cNvPr id="20" name="橢圓 149"/>
            <p:cNvSpPr>
              <a:spLocks noChangeArrowheads="1"/>
            </p:cNvSpPr>
            <p:nvPr/>
          </p:nvSpPr>
          <p:spPr bwMode="auto">
            <a:xfrm>
              <a:off x="6656524" y="2699227"/>
              <a:ext cx="438150" cy="438150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21" name="文字方塊 150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49816" y="2808362"/>
              <a:ext cx="283732" cy="276999"/>
            </a:xfrm>
            <a:prstGeom prst="rect">
              <a:avLst/>
            </a:prstGeom>
            <a:blipFill rotWithShape="1">
              <a:blip r:embed="rId2"/>
              <a:stretch>
                <a:fillRect l="-10638" t="-8511" b="-4255"/>
              </a:stretch>
            </a:blipFill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noFill/>
                  <a:latin typeface="Arial" charset="0"/>
                  <a:ea typeface="ＭＳ Ｐゴシック" charset="0"/>
                  <a:cs typeface="ＭＳ Ｐゴシック" charset="0"/>
                </a:rPr>
                <a:t> </a:t>
              </a:r>
            </a:p>
          </p:txBody>
        </p:sp>
      </p:grpSp>
      <p:sp>
        <p:nvSpPr>
          <p:cNvPr id="22" name="橢圓 155"/>
          <p:cNvSpPr/>
          <p:nvPr/>
        </p:nvSpPr>
        <p:spPr>
          <a:xfrm>
            <a:off x="3546475" y="2746375"/>
            <a:ext cx="438150" cy="438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23" name="矩形 167"/>
          <p:cNvSpPr/>
          <p:nvPr/>
        </p:nvSpPr>
        <p:spPr>
          <a:xfrm>
            <a:off x="3408363" y="1409700"/>
            <a:ext cx="719137" cy="431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4" name="文字方塊 168"/>
          <p:cNvSpPr txBox="1">
            <a:spLocks noChangeArrowheads="1"/>
          </p:cNvSpPr>
          <p:nvPr/>
        </p:nvSpPr>
        <p:spPr bwMode="auto">
          <a:xfrm>
            <a:off x="3325813" y="1395413"/>
            <a:ext cx="908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y</a:t>
            </a:r>
            <a:r>
              <a:rPr lang="en-US" altLang="zh-TW" sz="2400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endParaRPr lang="zh-TW" altLang="en-US" sz="2400" baseline="30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25" name="直線單箭頭接點 169"/>
          <p:cNvCxnSpPr>
            <a:cxnSpLocks/>
          </p:cNvCxnSpPr>
          <p:nvPr/>
        </p:nvCxnSpPr>
        <p:spPr>
          <a:xfrm flipH="1" flipV="1">
            <a:off x="1108075" y="3217863"/>
            <a:ext cx="0" cy="123031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11"/>
          <p:cNvCxnSpPr>
            <a:cxnSpLocks/>
          </p:cNvCxnSpPr>
          <p:nvPr/>
        </p:nvCxnSpPr>
        <p:spPr>
          <a:xfrm>
            <a:off x="1314450" y="2981325"/>
            <a:ext cx="88741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15"/>
          <p:cNvCxnSpPr>
            <a:cxnSpLocks/>
            <a:endCxn id="15" idx="5"/>
          </p:cNvCxnSpPr>
          <p:nvPr/>
        </p:nvCxnSpPr>
        <p:spPr>
          <a:xfrm flipH="1" flipV="1">
            <a:off x="2571750" y="3944938"/>
            <a:ext cx="338138" cy="4953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16"/>
          <p:cNvCxnSpPr>
            <a:cxnSpLocks/>
            <a:endCxn id="15" idx="3"/>
          </p:cNvCxnSpPr>
          <p:nvPr/>
        </p:nvCxnSpPr>
        <p:spPr>
          <a:xfrm flipV="1">
            <a:off x="1992313" y="3944938"/>
            <a:ext cx="269875" cy="4794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17"/>
          <p:cNvCxnSpPr>
            <a:cxnSpLocks/>
          </p:cNvCxnSpPr>
          <p:nvPr/>
        </p:nvCxnSpPr>
        <p:spPr>
          <a:xfrm flipV="1">
            <a:off x="2413000" y="3170238"/>
            <a:ext cx="0" cy="3968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向下箭號 161"/>
          <p:cNvSpPr/>
          <p:nvPr/>
        </p:nvSpPr>
        <p:spPr>
          <a:xfrm flipV="1">
            <a:off x="3560763" y="1935163"/>
            <a:ext cx="438150" cy="749300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1" name="向下箭號 162"/>
          <p:cNvSpPr/>
          <p:nvPr/>
        </p:nvSpPr>
        <p:spPr>
          <a:xfrm rot="2620627" flipV="1">
            <a:off x="3303588" y="4886325"/>
            <a:ext cx="438150" cy="984250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2" name="向下箭號 163"/>
          <p:cNvSpPr/>
          <p:nvPr/>
        </p:nvSpPr>
        <p:spPr>
          <a:xfrm rot="20057551" flipV="1">
            <a:off x="1890713" y="4879975"/>
            <a:ext cx="438150" cy="909638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3" name="向下箭號 165"/>
          <p:cNvSpPr/>
          <p:nvPr/>
        </p:nvSpPr>
        <p:spPr>
          <a:xfrm rot="1353372" flipV="1">
            <a:off x="2601913" y="4926013"/>
            <a:ext cx="438150" cy="860425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4" name="向下箭號 166"/>
          <p:cNvSpPr/>
          <p:nvPr/>
        </p:nvSpPr>
        <p:spPr>
          <a:xfrm rot="18851723" flipV="1">
            <a:off x="1143794" y="4855369"/>
            <a:ext cx="438150" cy="1030288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0505" name="群組 227"/>
          <p:cNvGrpSpPr>
            <a:grpSpLocks/>
          </p:cNvGrpSpPr>
          <p:nvPr/>
        </p:nvGrpSpPr>
        <p:grpSpPr bwMode="auto">
          <a:xfrm>
            <a:off x="1649413" y="5835650"/>
            <a:ext cx="908050" cy="461963"/>
            <a:chOff x="4765592" y="6396335"/>
            <a:chExt cx="907572" cy="461665"/>
          </a:xfrm>
        </p:grpSpPr>
        <p:sp>
          <p:nvSpPr>
            <p:cNvPr id="36" name="矩形 228"/>
            <p:cNvSpPr>
              <a:spLocks noChangeArrowheads="1"/>
            </p:cNvSpPr>
            <p:nvPr/>
          </p:nvSpPr>
          <p:spPr bwMode="auto">
            <a:xfrm>
              <a:off x="4822712" y="6442343"/>
              <a:ext cx="720346" cy="369648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20530" name="文字方塊 229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r>
                <a:rPr lang="en-US" altLang="zh-TW" sz="2400" baseline="300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t-1</a:t>
              </a:r>
              <a:endParaRPr lang="zh-TW" altLang="en-US" sz="24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20506" name="群組 230"/>
          <p:cNvGrpSpPr>
            <a:grpSpLocks/>
          </p:cNvGrpSpPr>
          <p:nvPr/>
        </p:nvGrpSpPr>
        <p:grpSpPr bwMode="auto">
          <a:xfrm>
            <a:off x="-165100" y="2117725"/>
            <a:ext cx="908050" cy="461963"/>
            <a:chOff x="4775004" y="6396335"/>
            <a:chExt cx="907572" cy="461368"/>
          </a:xfrm>
        </p:grpSpPr>
        <p:sp>
          <p:nvSpPr>
            <p:cNvPr id="39" name="矩形 231"/>
            <p:cNvSpPr>
              <a:spLocks noChangeArrowheads="1"/>
            </p:cNvSpPr>
            <p:nvPr/>
          </p:nvSpPr>
          <p:spPr bwMode="auto">
            <a:xfrm>
              <a:off x="4822604" y="6442314"/>
              <a:ext cx="720346" cy="369411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40" name="文字方塊 232"/>
            <p:cNvSpPr txBox="1">
              <a:spLocks noChangeArrowheads="1"/>
            </p:cNvSpPr>
            <p:nvPr/>
          </p:nvSpPr>
          <p:spPr bwMode="auto">
            <a:xfrm>
              <a:off x="4775004" y="6396335"/>
              <a:ext cx="907572" cy="461368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/>
                <a:t>c</a:t>
              </a:r>
              <a:r>
                <a:rPr lang="en-US" altLang="zh-TW" baseline="30000" smtClean="0"/>
                <a:t>t-1</a:t>
              </a:r>
              <a:endParaRPr lang="zh-TW" altLang="en-US" baseline="30000" smtClean="0"/>
            </a:p>
          </p:txBody>
        </p:sp>
      </p:grpSp>
      <p:grpSp>
        <p:nvGrpSpPr>
          <p:cNvPr id="41" name="群組 233"/>
          <p:cNvGrpSpPr>
            <a:grpSpLocks/>
          </p:cNvGrpSpPr>
          <p:nvPr/>
        </p:nvGrpSpPr>
        <p:grpSpPr bwMode="auto">
          <a:xfrm>
            <a:off x="4124325" y="2108200"/>
            <a:ext cx="906463" cy="461963"/>
            <a:chOff x="4775004" y="6396335"/>
            <a:chExt cx="907572" cy="461368"/>
          </a:xfrm>
        </p:grpSpPr>
        <p:sp>
          <p:nvSpPr>
            <p:cNvPr id="42" name="矩形 234"/>
            <p:cNvSpPr>
              <a:spLocks noChangeArrowheads="1"/>
            </p:cNvSpPr>
            <p:nvPr/>
          </p:nvSpPr>
          <p:spPr bwMode="auto">
            <a:xfrm>
              <a:off x="4822687" y="6442314"/>
              <a:ext cx="720018" cy="369411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43" name="文字方塊 235"/>
            <p:cNvSpPr txBox="1">
              <a:spLocks noChangeArrowheads="1"/>
            </p:cNvSpPr>
            <p:nvPr/>
          </p:nvSpPr>
          <p:spPr bwMode="auto">
            <a:xfrm>
              <a:off x="4775004" y="6396335"/>
              <a:ext cx="907572" cy="461368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/>
                <a:t>c</a:t>
              </a:r>
              <a:r>
                <a:rPr lang="en-US" altLang="zh-TW" baseline="30000" smtClean="0"/>
                <a:t>t</a:t>
              </a:r>
              <a:endParaRPr lang="zh-TW" altLang="en-US" baseline="30000" smtClean="0"/>
            </a:p>
          </p:txBody>
        </p:sp>
      </p:grpSp>
      <p:sp>
        <p:nvSpPr>
          <p:cNvPr id="44" name="手繪多邊形 2"/>
          <p:cNvSpPr/>
          <p:nvPr/>
        </p:nvSpPr>
        <p:spPr>
          <a:xfrm>
            <a:off x="2525713" y="2335213"/>
            <a:ext cx="1625600" cy="379412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45" name="手繪多邊形 4"/>
          <p:cNvSpPr/>
          <p:nvPr/>
        </p:nvSpPr>
        <p:spPr>
          <a:xfrm>
            <a:off x="623888" y="2365375"/>
            <a:ext cx="434975" cy="377825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cxnSp>
        <p:nvCxnSpPr>
          <p:cNvPr id="46" name="直線單箭頭接點 239"/>
          <p:cNvCxnSpPr>
            <a:cxnSpLocks/>
          </p:cNvCxnSpPr>
          <p:nvPr/>
        </p:nvCxnSpPr>
        <p:spPr>
          <a:xfrm>
            <a:off x="2659063" y="2981325"/>
            <a:ext cx="88741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240"/>
          <p:cNvCxnSpPr>
            <a:cxnSpLocks/>
          </p:cNvCxnSpPr>
          <p:nvPr/>
        </p:nvCxnSpPr>
        <p:spPr>
          <a:xfrm flipH="1" flipV="1">
            <a:off x="3779838" y="3184525"/>
            <a:ext cx="0" cy="12303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60701" y="3548141"/>
            <a:ext cx="521297" cy="46166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50" name="矩形 5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8594" y="2741686"/>
            <a:ext cx="521297" cy="46166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51" name="矩形 60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04663" y="2723295"/>
            <a:ext cx="521297" cy="46166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52" name="文字方塊 3"/>
          <p:cNvSpPr txBox="1">
            <a:spLocks noChangeArrowheads="1"/>
          </p:cNvSpPr>
          <p:nvPr/>
        </p:nvSpPr>
        <p:spPr bwMode="auto">
          <a:xfrm>
            <a:off x="2359025" y="2909888"/>
            <a:ext cx="1428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tanh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791200" y="2514600"/>
            <a:ext cx="210502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err="1">
                <a:latin typeface="Arial" charset="0"/>
                <a:ea typeface="ＭＳ Ｐゴシック" charset="0"/>
                <a:cs typeface="ＭＳ Ｐゴシック" charset="0"/>
              </a:rPr>
              <a:t>c</a:t>
            </a:r>
            <a:r>
              <a:rPr lang="en-US" baseline="30000" dirty="0" err="1">
                <a:latin typeface="Arial" charset="0"/>
                <a:ea typeface="ＭＳ Ｐゴシック" charset="0"/>
                <a:cs typeface="ＭＳ Ｐゴシック" charset="0"/>
              </a:rPr>
              <a:t>t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= </a:t>
            </a:r>
            <a:r>
              <a:rPr lang="en-US" dirty="0" err="1">
                <a:latin typeface="Arial" charset="0"/>
                <a:ea typeface="ＭＳ Ｐゴシック" charset="0"/>
                <a:cs typeface="ＭＳ Ｐゴシック" charset="0"/>
              </a:rPr>
              <a:t>z</a:t>
            </a:r>
            <a:r>
              <a:rPr lang="en-US" baseline="30000" dirty="0" err="1">
                <a:latin typeface="Arial" charset="0"/>
                <a:ea typeface="ＭＳ Ｐゴシック" charset="0"/>
                <a:cs typeface="ＭＳ Ｐゴシック" charset="0"/>
              </a:rPr>
              <a:t>f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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  <a:sym typeface="Wingdings"/>
              </a:rPr>
              <a:t> c</a:t>
            </a:r>
            <a:r>
              <a:rPr lang="en-US" baseline="30000" dirty="0">
                <a:latin typeface="Arial" charset="0"/>
                <a:ea typeface="ＭＳ Ｐゴシック" charset="0"/>
                <a:cs typeface="ＭＳ Ｐゴシック" charset="0"/>
                <a:sym typeface="Wingdings"/>
              </a:rPr>
              <a:t>t-1 </a:t>
            </a:r>
            <a:r>
              <a:rPr lang="en-US" dirty="0">
                <a:latin typeface="Arial" charset="0"/>
                <a:ea typeface="ＭＳ Ｐゴシック" charset="0"/>
                <a:cs typeface="ＭＳ Ｐゴシック" charset="0"/>
                <a:sym typeface="Wingdings"/>
              </a:rPr>
              <a:t>+ </a:t>
            </a:r>
            <a:r>
              <a:rPr lang="en-US" dirty="0" err="1">
                <a:latin typeface="Arial" charset="0"/>
                <a:ea typeface="ＭＳ Ｐゴシック" charset="0"/>
                <a:cs typeface="ＭＳ Ｐゴシック" charset="0"/>
                <a:sym typeface="Wingdings"/>
              </a:rPr>
              <a:t>z</a:t>
            </a:r>
            <a:r>
              <a:rPr lang="en-US" baseline="30000" dirty="0" err="1">
                <a:latin typeface="Arial" charset="0"/>
                <a:ea typeface="ＭＳ Ｐゴシック" charset="0"/>
                <a:cs typeface="ＭＳ Ｐゴシック" charset="0"/>
                <a:sym typeface="Wingdings"/>
              </a:rPr>
              <a:t>i</a:t>
            </a:r>
            <a:r>
              <a:rPr lang="en-US" dirty="0" err="1">
                <a:latin typeface="Wingdings"/>
                <a:ea typeface="Wingdings"/>
                <a:cs typeface="Wingdings"/>
                <a:sym typeface="Wingdings"/>
              </a:rPr>
              <a:t></a:t>
            </a:r>
            <a:r>
              <a:rPr lang="en-US" dirty="0" err="1">
                <a:latin typeface="+mj-lt"/>
                <a:ea typeface="Wingdings"/>
                <a:cs typeface="Wingdings"/>
                <a:sym typeface="Wingdings"/>
              </a:rPr>
              <a:t>z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517" name="TextBox 55"/>
          <p:cNvSpPr txBox="1">
            <a:spLocks noChangeArrowheads="1"/>
          </p:cNvSpPr>
          <p:nvPr/>
        </p:nvSpPr>
        <p:spPr bwMode="auto">
          <a:xfrm>
            <a:off x="5715000" y="3048000"/>
            <a:ext cx="191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 = z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o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>
                <a:latin typeface="Wingdings" panose="05000000000000000000" pitchFamily="2" charset="2"/>
                <a:ea typeface="MS PGothic" panose="020B0600070205080204" pitchFamily="34" charset="-128"/>
                <a:sym typeface="Wingdings" panose="05000000000000000000" pitchFamily="2" charset="2"/>
              </a:rPr>
              <a:t>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  <a:sym typeface="Wingdings" panose="05000000000000000000" pitchFamily="2" charset="2"/>
              </a:rPr>
              <a:t> tanh(c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  <a:sym typeface="Wingdings" panose="05000000000000000000" pitchFamily="2" charset="2"/>
              </a:rPr>
              <a:t>t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  <a:sym typeface="Wingdings" panose="05000000000000000000" pitchFamily="2" charset="2"/>
              </a:rPr>
              <a:t>)</a:t>
            </a:r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0518" name="TextBox 57"/>
          <p:cNvSpPr txBox="1">
            <a:spLocks noChangeArrowheads="1"/>
          </p:cNvSpPr>
          <p:nvPr/>
        </p:nvSpPr>
        <p:spPr bwMode="auto">
          <a:xfrm>
            <a:off x="5715000" y="3581400"/>
            <a:ext cx="1411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y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 = σ(W’ h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) </a:t>
            </a:r>
          </a:p>
        </p:txBody>
      </p:sp>
      <p:sp>
        <p:nvSpPr>
          <p:cNvPr id="20519" name="TextBox 58"/>
          <p:cNvSpPr txBox="1">
            <a:spLocks noChangeArrowheads="1"/>
          </p:cNvSpPr>
          <p:nvPr/>
        </p:nvSpPr>
        <p:spPr bwMode="auto">
          <a:xfrm>
            <a:off x="2590800" y="6488113"/>
            <a:ext cx="3876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Information flow of LSTM</a:t>
            </a:r>
          </a:p>
        </p:txBody>
      </p:sp>
      <p:grpSp>
        <p:nvGrpSpPr>
          <p:cNvPr id="20520" name="群組 146"/>
          <p:cNvGrpSpPr>
            <a:grpSpLocks/>
          </p:cNvGrpSpPr>
          <p:nvPr/>
        </p:nvGrpSpPr>
        <p:grpSpPr bwMode="auto">
          <a:xfrm>
            <a:off x="4267200" y="228600"/>
            <a:ext cx="438150" cy="438150"/>
            <a:chOff x="6656524" y="2699227"/>
            <a:chExt cx="438150" cy="438150"/>
          </a:xfrm>
        </p:grpSpPr>
        <p:sp>
          <p:nvSpPr>
            <p:cNvPr id="63" name="橢圓 147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64" name="文字方塊 149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10937" y="2723025"/>
              <a:ext cx="336631" cy="369332"/>
            </a:xfrm>
            <a:prstGeom prst="rect">
              <a:avLst/>
            </a:prstGeom>
            <a:blipFill rotWithShape="1">
              <a:blip r:embed="rId5"/>
              <a:stretch>
                <a:fillRect l="-7143" t="-6557"/>
              </a:stretch>
            </a:blipFill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noFill/>
                  <a:latin typeface="Arial" charset="0"/>
                  <a:ea typeface="ＭＳ Ｐゴシック" charset="0"/>
                  <a:cs typeface="ＭＳ Ｐゴシック" charset="0"/>
                </a:rPr>
                <a:t> </a:t>
              </a:r>
            </a:p>
          </p:txBody>
        </p:sp>
      </p:grpSp>
      <p:sp>
        <p:nvSpPr>
          <p:cNvPr id="20521" name="TextBox 2"/>
          <p:cNvSpPr txBox="1">
            <a:spLocks noChangeArrowheads="1"/>
          </p:cNvSpPr>
          <p:nvPr/>
        </p:nvSpPr>
        <p:spPr bwMode="auto">
          <a:xfrm>
            <a:off x="4800600" y="228600"/>
            <a:ext cx="241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Element-wise multiply</a:t>
            </a:r>
          </a:p>
        </p:txBody>
      </p:sp>
      <p:pic>
        <p:nvPicPr>
          <p:cNvPr id="20522" name="Picture 6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0"/>
            <a:ext cx="274478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22" grpId="0" animBg="1"/>
      <p:bldP spid="24" grpId="0"/>
      <p:bldP spid="5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標題 1"/>
          <p:cNvSpPr>
            <a:spLocks noGrp="1"/>
          </p:cNvSpPr>
          <p:nvPr>
            <p:ph type="title"/>
          </p:nvPr>
        </p:nvSpPr>
        <p:spPr>
          <a:xfrm>
            <a:off x="25400" y="304800"/>
            <a:ext cx="4394200" cy="914400"/>
          </a:xfrm>
        </p:spPr>
        <p:txBody>
          <a:bodyPr/>
          <a:lstStyle/>
          <a:p>
            <a:pPr eaLnBrk="1" hangingPunct="1"/>
            <a:r>
              <a:rPr lang="en-US" altLang="zh-TW" sz="3200" smtClean="0"/>
              <a:t>LSTM information flow</a:t>
            </a:r>
            <a:endParaRPr lang="zh-TW" altLang="en-US" sz="3200" smtClean="0"/>
          </a:p>
        </p:txBody>
      </p:sp>
      <p:grpSp>
        <p:nvGrpSpPr>
          <p:cNvPr id="21507" name="群組 129"/>
          <p:cNvGrpSpPr>
            <a:grpSpLocks/>
          </p:cNvGrpSpPr>
          <p:nvPr/>
        </p:nvGrpSpPr>
        <p:grpSpPr bwMode="auto">
          <a:xfrm>
            <a:off x="2444750" y="5832475"/>
            <a:ext cx="908050" cy="460375"/>
            <a:chOff x="4765592" y="6396335"/>
            <a:chExt cx="907572" cy="461665"/>
          </a:xfrm>
        </p:grpSpPr>
        <p:sp>
          <p:nvSpPr>
            <p:cNvPr id="6" name="矩形 130"/>
            <p:cNvSpPr>
              <a:spLocks noChangeArrowheads="1"/>
            </p:cNvSpPr>
            <p:nvPr/>
          </p:nvSpPr>
          <p:spPr bwMode="auto">
            <a:xfrm>
              <a:off x="4822712" y="6442502"/>
              <a:ext cx="720346" cy="369332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21593" name="文字方塊 131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x</a:t>
              </a:r>
              <a:r>
                <a:rPr lang="en-US" altLang="zh-TW" sz="2400" baseline="300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8" name="矩形 136"/>
          <p:cNvSpPr>
            <a:spLocks noChangeArrowheads="1"/>
          </p:cNvSpPr>
          <p:nvPr/>
        </p:nvSpPr>
        <p:spPr bwMode="auto">
          <a:xfrm>
            <a:off x="2525713" y="4424363"/>
            <a:ext cx="719137" cy="431800"/>
          </a:xfrm>
          <a:prstGeom prst="rect">
            <a:avLst/>
          </a:prstGeom>
          <a:gradFill rotWithShape="1">
            <a:gsLst>
              <a:gs pos="0">
                <a:srgbClr val="F5F5FC"/>
              </a:gs>
              <a:gs pos="64999">
                <a:srgbClr val="E6E6F6"/>
              </a:gs>
              <a:gs pos="100000">
                <a:srgbClr val="DCDCF3"/>
              </a:gs>
            </a:gsLst>
            <a:lin ang="5400000" scaled="1"/>
          </a:gradFill>
          <a:ln w="9525">
            <a:solidFill>
              <a:srgbClr val="BFBFD2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mtClean="0">
                <a:solidFill>
                  <a:srgbClr val="000000"/>
                </a:solidFill>
              </a:rPr>
              <a:t>z</a:t>
            </a:r>
            <a:endParaRPr lang="zh-TW" altLang="en-US" smtClean="0">
              <a:solidFill>
                <a:srgbClr val="000000"/>
              </a:solidFill>
            </a:endParaRPr>
          </a:p>
        </p:txBody>
      </p:sp>
      <p:sp>
        <p:nvSpPr>
          <p:cNvPr id="9" name="矩形 137"/>
          <p:cNvSpPr/>
          <p:nvPr/>
        </p:nvSpPr>
        <p:spPr>
          <a:xfrm>
            <a:off x="1631950" y="4424363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i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10" name="橢圓 140"/>
          <p:cNvSpPr/>
          <p:nvPr/>
        </p:nvSpPr>
        <p:spPr>
          <a:xfrm>
            <a:off x="2197100" y="3570288"/>
            <a:ext cx="438150" cy="438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11" name="矩形 144"/>
          <p:cNvSpPr/>
          <p:nvPr/>
        </p:nvSpPr>
        <p:spPr>
          <a:xfrm>
            <a:off x="747713" y="4424363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chemeClr val="tx1"/>
                </a:solidFill>
              </a:rPr>
              <a:t>z</a:t>
            </a:r>
            <a:r>
              <a:rPr lang="en-US" altLang="zh-TW" sz="2400" baseline="30000" dirty="0" err="1">
                <a:solidFill>
                  <a:schemeClr val="tx1"/>
                </a:solidFill>
              </a:rPr>
              <a:t>f</a:t>
            </a:r>
            <a:endParaRPr lang="zh-TW" altLang="en-US" sz="2400" baseline="30000" dirty="0">
              <a:solidFill>
                <a:schemeClr val="tx1"/>
              </a:solidFill>
            </a:endParaRPr>
          </a:p>
        </p:txBody>
      </p:sp>
      <p:sp>
        <p:nvSpPr>
          <p:cNvPr id="12" name="矩形 145"/>
          <p:cNvSpPr/>
          <p:nvPr/>
        </p:nvSpPr>
        <p:spPr>
          <a:xfrm>
            <a:off x="3409950" y="4429125"/>
            <a:ext cx="719138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>
                <a:solidFill>
                  <a:srgbClr val="000000"/>
                </a:solidFill>
              </a:rPr>
              <a:t>o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grpSp>
        <p:nvGrpSpPr>
          <p:cNvPr id="21513" name="群組 146"/>
          <p:cNvGrpSpPr>
            <a:grpSpLocks/>
          </p:cNvGrpSpPr>
          <p:nvPr/>
        </p:nvGrpSpPr>
        <p:grpSpPr bwMode="auto">
          <a:xfrm>
            <a:off x="838200" y="2743200"/>
            <a:ext cx="438150" cy="438150"/>
            <a:chOff x="6656524" y="2699227"/>
            <a:chExt cx="438150" cy="438150"/>
          </a:xfrm>
        </p:grpSpPr>
        <p:sp>
          <p:nvSpPr>
            <p:cNvPr id="14" name="橢圓 147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5" name="文字方塊 149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10937" y="2723025"/>
              <a:ext cx="336631" cy="369332"/>
            </a:xfrm>
            <a:prstGeom prst="rect">
              <a:avLst/>
            </a:prstGeom>
            <a:blipFill rotWithShape="1">
              <a:blip r:embed="rId2"/>
              <a:stretch>
                <a:fillRect l="-7143" t="-6557"/>
              </a:stretch>
            </a:blipFill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noFill/>
                  <a:latin typeface="Arial" charset="0"/>
                  <a:ea typeface="ＭＳ Ｐゴシック" charset="0"/>
                  <a:cs typeface="ＭＳ Ｐゴシック" charset="0"/>
                </a:rPr>
                <a:t> </a:t>
              </a:r>
            </a:p>
          </p:txBody>
        </p:sp>
      </p:grpSp>
      <p:grpSp>
        <p:nvGrpSpPr>
          <p:cNvPr id="21514" name="群組 150"/>
          <p:cNvGrpSpPr>
            <a:grpSpLocks/>
          </p:cNvGrpSpPr>
          <p:nvPr/>
        </p:nvGrpSpPr>
        <p:grpSpPr bwMode="auto">
          <a:xfrm>
            <a:off x="2185988" y="2724150"/>
            <a:ext cx="438150" cy="438150"/>
            <a:chOff x="6656524" y="2699227"/>
            <a:chExt cx="438150" cy="438150"/>
          </a:xfrm>
        </p:grpSpPr>
        <p:sp>
          <p:nvSpPr>
            <p:cNvPr id="17" name="橢圓 154"/>
            <p:cNvSpPr>
              <a:spLocks noChangeArrowheads="1"/>
            </p:cNvSpPr>
            <p:nvPr/>
          </p:nvSpPr>
          <p:spPr bwMode="auto">
            <a:xfrm>
              <a:off x="6656524" y="2699227"/>
              <a:ext cx="438150" cy="438150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18" name="文字方塊 155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66595" y="2808578"/>
              <a:ext cx="283732" cy="276999"/>
            </a:xfrm>
            <a:prstGeom prst="rect">
              <a:avLst/>
            </a:prstGeom>
            <a:blipFill rotWithShape="1">
              <a:blip r:embed="rId3"/>
              <a:stretch>
                <a:fillRect l="-8333" t="-8511" b="-4255"/>
              </a:stretch>
            </a:blipFill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noFill/>
                  <a:latin typeface="Arial" charset="0"/>
                  <a:ea typeface="ＭＳ Ｐゴシック" charset="0"/>
                  <a:cs typeface="ＭＳ Ｐゴシック" charset="0"/>
                </a:rPr>
                <a:t> </a:t>
              </a:r>
            </a:p>
          </p:txBody>
        </p:sp>
      </p:grpSp>
      <p:sp>
        <p:nvSpPr>
          <p:cNvPr id="19" name="橢圓 167"/>
          <p:cNvSpPr/>
          <p:nvPr/>
        </p:nvSpPr>
        <p:spPr>
          <a:xfrm>
            <a:off x="3546475" y="2746375"/>
            <a:ext cx="438150" cy="438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20" name="矩形 169"/>
          <p:cNvSpPr/>
          <p:nvPr/>
        </p:nvSpPr>
        <p:spPr>
          <a:xfrm>
            <a:off x="3408363" y="1409700"/>
            <a:ext cx="719137" cy="431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1517" name="文字方塊 211"/>
          <p:cNvSpPr txBox="1">
            <a:spLocks noChangeArrowheads="1"/>
          </p:cNvSpPr>
          <p:nvPr/>
        </p:nvSpPr>
        <p:spPr bwMode="auto">
          <a:xfrm>
            <a:off x="3325813" y="1395413"/>
            <a:ext cx="908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y</a:t>
            </a:r>
            <a:r>
              <a:rPr lang="en-US" altLang="zh-TW" sz="2400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endParaRPr lang="zh-TW" altLang="en-US" sz="2400" baseline="30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22" name="直線單箭頭接點 215"/>
          <p:cNvCxnSpPr>
            <a:cxnSpLocks/>
          </p:cNvCxnSpPr>
          <p:nvPr/>
        </p:nvCxnSpPr>
        <p:spPr>
          <a:xfrm flipH="1" flipV="1">
            <a:off x="1108075" y="3217863"/>
            <a:ext cx="0" cy="123031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16"/>
          <p:cNvCxnSpPr>
            <a:cxnSpLocks/>
          </p:cNvCxnSpPr>
          <p:nvPr/>
        </p:nvCxnSpPr>
        <p:spPr>
          <a:xfrm>
            <a:off x="1314450" y="2981325"/>
            <a:ext cx="88741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17"/>
          <p:cNvCxnSpPr>
            <a:cxnSpLocks/>
            <a:endCxn id="10" idx="5"/>
          </p:cNvCxnSpPr>
          <p:nvPr/>
        </p:nvCxnSpPr>
        <p:spPr>
          <a:xfrm flipH="1" flipV="1">
            <a:off x="2571750" y="3944938"/>
            <a:ext cx="338138" cy="4953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22"/>
          <p:cNvCxnSpPr>
            <a:cxnSpLocks/>
            <a:endCxn id="10" idx="3"/>
          </p:cNvCxnSpPr>
          <p:nvPr/>
        </p:nvCxnSpPr>
        <p:spPr>
          <a:xfrm flipV="1">
            <a:off x="1992313" y="3944938"/>
            <a:ext cx="269875" cy="4794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23"/>
          <p:cNvCxnSpPr>
            <a:cxnSpLocks/>
          </p:cNvCxnSpPr>
          <p:nvPr/>
        </p:nvCxnSpPr>
        <p:spPr>
          <a:xfrm flipV="1">
            <a:off x="2413000" y="3170238"/>
            <a:ext cx="0" cy="3968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向下箭號 161"/>
          <p:cNvSpPr/>
          <p:nvPr/>
        </p:nvSpPr>
        <p:spPr>
          <a:xfrm flipV="1">
            <a:off x="3560763" y="1935163"/>
            <a:ext cx="438150" cy="749300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8" name="向下箭號 162"/>
          <p:cNvSpPr/>
          <p:nvPr/>
        </p:nvSpPr>
        <p:spPr>
          <a:xfrm rot="2620627" flipV="1">
            <a:off x="3303588" y="4886325"/>
            <a:ext cx="438150" cy="984250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9" name="向下箭號 163"/>
          <p:cNvSpPr/>
          <p:nvPr/>
        </p:nvSpPr>
        <p:spPr>
          <a:xfrm rot="20057551" flipV="1">
            <a:off x="1890713" y="4879975"/>
            <a:ext cx="438150" cy="909638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0" name="向下箭號 165"/>
          <p:cNvSpPr/>
          <p:nvPr/>
        </p:nvSpPr>
        <p:spPr>
          <a:xfrm rot="1353372" flipV="1">
            <a:off x="2601913" y="4926013"/>
            <a:ext cx="438150" cy="860425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1" name="向下箭號 166"/>
          <p:cNvSpPr/>
          <p:nvPr/>
        </p:nvSpPr>
        <p:spPr>
          <a:xfrm rot="18851723" flipV="1">
            <a:off x="1143794" y="4855369"/>
            <a:ext cx="438150" cy="1030288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1528" name="群組 230"/>
          <p:cNvGrpSpPr>
            <a:grpSpLocks/>
          </p:cNvGrpSpPr>
          <p:nvPr/>
        </p:nvGrpSpPr>
        <p:grpSpPr bwMode="auto">
          <a:xfrm>
            <a:off x="1649413" y="5821363"/>
            <a:ext cx="908050" cy="461962"/>
            <a:chOff x="4765592" y="6396335"/>
            <a:chExt cx="907572" cy="461665"/>
          </a:xfrm>
        </p:grpSpPr>
        <p:sp>
          <p:nvSpPr>
            <p:cNvPr id="33" name="矩形 231"/>
            <p:cNvSpPr>
              <a:spLocks noChangeArrowheads="1"/>
            </p:cNvSpPr>
            <p:nvPr/>
          </p:nvSpPr>
          <p:spPr bwMode="auto">
            <a:xfrm>
              <a:off x="4822712" y="6442342"/>
              <a:ext cx="720346" cy="369650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21587" name="文字方塊 232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r>
                <a:rPr lang="en-US" altLang="zh-TW" sz="2400" baseline="300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t-1</a:t>
              </a:r>
              <a:endParaRPr lang="zh-TW" altLang="en-US" sz="24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21529" name="群組 233"/>
          <p:cNvGrpSpPr>
            <a:grpSpLocks/>
          </p:cNvGrpSpPr>
          <p:nvPr/>
        </p:nvGrpSpPr>
        <p:grpSpPr bwMode="auto">
          <a:xfrm>
            <a:off x="-165100" y="2117725"/>
            <a:ext cx="908050" cy="461963"/>
            <a:chOff x="4775004" y="6396335"/>
            <a:chExt cx="907572" cy="461665"/>
          </a:xfrm>
        </p:grpSpPr>
        <p:sp>
          <p:nvSpPr>
            <p:cNvPr id="36" name="矩形 234"/>
            <p:cNvSpPr>
              <a:spLocks noChangeArrowheads="1"/>
            </p:cNvSpPr>
            <p:nvPr/>
          </p:nvSpPr>
          <p:spPr bwMode="auto">
            <a:xfrm>
              <a:off x="4822604" y="6442343"/>
              <a:ext cx="720346" cy="369648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37" name="文字方塊 235"/>
            <p:cNvSpPr txBox="1">
              <a:spLocks noChangeArrowheads="1"/>
            </p:cNvSpPr>
            <p:nvPr/>
          </p:nvSpPr>
          <p:spPr bwMode="auto"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/>
                <a:t>c</a:t>
              </a:r>
              <a:r>
                <a:rPr lang="en-US" altLang="zh-TW" baseline="30000" smtClean="0"/>
                <a:t>t-1</a:t>
              </a:r>
              <a:endParaRPr lang="zh-TW" altLang="en-US" baseline="30000" smtClean="0"/>
            </a:p>
          </p:txBody>
        </p:sp>
      </p:grpSp>
      <p:grpSp>
        <p:nvGrpSpPr>
          <p:cNvPr id="21530" name="群組 236"/>
          <p:cNvGrpSpPr>
            <a:grpSpLocks/>
          </p:cNvGrpSpPr>
          <p:nvPr/>
        </p:nvGrpSpPr>
        <p:grpSpPr bwMode="auto">
          <a:xfrm>
            <a:off x="4024313" y="2079625"/>
            <a:ext cx="908050" cy="460375"/>
            <a:chOff x="4775004" y="6396335"/>
            <a:chExt cx="907572" cy="461665"/>
          </a:xfrm>
        </p:grpSpPr>
        <p:sp>
          <p:nvSpPr>
            <p:cNvPr id="39" name="矩形 237"/>
            <p:cNvSpPr>
              <a:spLocks noChangeArrowheads="1"/>
            </p:cNvSpPr>
            <p:nvPr/>
          </p:nvSpPr>
          <p:spPr bwMode="auto">
            <a:xfrm>
              <a:off x="4822604" y="6442502"/>
              <a:ext cx="720346" cy="369332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40" name="文字方塊 238"/>
            <p:cNvSpPr txBox="1">
              <a:spLocks noChangeArrowheads="1"/>
            </p:cNvSpPr>
            <p:nvPr/>
          </p:nvSpPr>
          <p:spPr bwMode="auto"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/>
                <a:t>c</a:t>
              </a:r>
              <a:r>
                <a:rPr lang="en-US" altLang="zh-TW" baseline="30000" smtClean="0"/>
                <a:t>t</a:t>
              </a:r>
              <a:endParaRPr lang="zh-TW" altLang="en-US" baseline="30000" smtClean="0"/>
            </a:p>
          </p:txBody>
        </p:sp>
      </p:grpSp>
      <p:sp>
        <p:nvSpPr>
          <p:cNvPr id="41" name="手繪多邊形 2"/>
          <p:cNvSpPr/>
          <p:nvPr/>
        </p:nvSpPr>
        <p:spPr>
          <a:xfrm>
            <a:off x="2525713" y="2335213"/>
            <a:ext cx="1625600" cy="379412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42" name="手繪多邊形 4"/>
          <p:cNvSpPr/>
          <p:nvPr/>
        </p:nvSpPr>
        <p:spPr>
          <a:xfrm>
            <a:off x="623888" y="2365375"/>
            <a:ext cx="434975" cy="377825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cxnSp>
        <p:nvCxnSpPr>
          <p:cNvPr id="43" name="直線單箭頭接點 242"/>
          <p:cNvCxnSpPr>
            <a:cxnSpLocks/>
          </p:cNvCxnSpPr>
          <p:nvPr/>
        </p:nvCxnSpPr>
        <p:spPr>
          <a:xfrm>
            <a:off x="2659063" y="2981325"/>
            <a:ext cx="88741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243"/>
          <p:cNvCxnSpPr>
            <a:cxnSpLocks/>
          </p:cNvCxnSpPr>
          <p:nvPr/>
        </p:nvCxnSpPr>
        <p:spPr>
          <a:xfrm flipH="1" flipV="1">
            <a:off x="3779838" y="3184525"/>
            <a:ext cx="0" cy="12303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群組 244"/>
          <p:cNvGrpSpPr>
            <a:grpSpLocks/>
          </p:cNvGrpSpPr>
          <p:nvPr/>
        </p:nvGrpSpPr>
        <p:grpSpPr bwMode="auto">
          <a:xfrm>
            <a:off x="6713538" y="5818188"/>
            <a:ext cx="908050" cy="460375"/>
            <a:chOff x="4765592" y="6396335"/>
            <a:chExt cx="907572" cy="461665"/>
          </a:xfrm>
        </p:grpSpPr>
        <p:sp>
          <p:nvSpPr>
            <p:cNvPr id="46" name="矩形 245"/>
            <p:cNvSpPr>
              <a:spLocks noChangeArrowheads="1"/>
            </p:cNvSpPr>
            <p:nvPr/>
          </p:nvSpPr>
          <p:spPr bwMode="auto">
            <a:xfrm>
              <a:off x="4822712" y="6442501"/>
              <a:ext cx="720346" cy="369332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21581" name="文字方塊 246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x</a:t>
              </a:r>
              <a:r>
                <a:rPr lang="en-US" altLang="zh-TW" sz="2400" baseline="300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t+1</a:t>
              </a:r>
              <a:endParaRPr lang="zh-TW" altLang="en-US" sz="2400" baseline="300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48" name="矩形 247"/>
          <p:cNvSpPr>
            <a:spLocks noChangeArrowheads="1"/>
          </p:cNvSpPr>
          <p:nvPr/>
        </p:nvSpPr>
        <p:spPr bwMode="auto">
          <a:xfrm>
            <a:off x="6751638" y="4411663"/>
            <a:ext cx="720725" cy="431800"/>
          </a:xfrm>
          <a:prstGeom prst="rect">
            <a:avLst/>
          </a:prstGeom>
          <a:gradFill rotWithShape="1">
            <a:gsLst>
              <a:gs pos="0">
                <a:srgbClr val="F5F5FC"/>
              </a:gs>
              <a:gs pos="64999">
                <a:srgbClr val="E6E6F6"/>
              </a:gs>
              <a:gs pos="100000">
                <a:srgbClr val="DCDCF3"/>
              </a:gs>
            </a:gsLst>
            <a:lin ang="5400000" scaled="1"/>
          </a:gradFill>
          <a:ln w="9525">
            <a:solidFill>
              <a:srgbClr val="BFBFD2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mtClean="0">
                <a:solidFill>
                  <a:srgbClr val="000000"/>
                </a:solidFill>
              </a:rPr>
              <a:t>z</a:t>
            </a:r>
            <a:endParaRPr lang="zh-TW" altLang="en-US" smtClean="0">
              <a:solidFill>
                <a:srgbClr val="000000"/>
              </a:solidFill>
            </a:endParaRPr>
          </a:p>
        </p:txBody>
      </p:sp>
      <p:sp>
        <p:nvSpPr>
          <p:cNvPr id="49" name="矩形 248"/>
          <p:cNvSpPr/>
          <p:nvPr/>
        </p:nvSpPr>
        <p:spPr>
          <a:xfrm>
            <a:off x="5859463" y="4411663"/>
            <a:ext cx="719137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i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50" name="橢圓 250"/>
          <p:cNvSpPr/>
          <p:nvPr/>
        </p:nvSpPr>
        <p:spPr>
          <a:xfrm>
            <a:off x="6424613" y="3559175"/>
            <a:ext cx="438150" cy="438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51" name="矩形 252"/>
          <p:cNvSpPr/>
          <p:nvPr/>
        </p:nvSpPr>
        <p:spPr>
          <a:xfrm>
            <a:off x="4975225" y="4411663"/>
            <a:ext cx="719138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f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52" name="矩形 253"/>
          <p:cNvSpPr/>
          <p:nvPr/>
        </p:nvSpPr>
        <p:spPr>
          <a:xfrm>
            <a:off x="7635875" y="4416425"/>
            <a:ext cx="720725" cy="4333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>
                <a:solidFill>
                  <a:srgbClr val="000000"/>
                </a:solidFill>
              </a:rPr>
              <a:t>o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53" name="橢圓 255"/>
          <p:cNvSpPr/>
          <p:nvPr/>
        </p:nvSpPr>
        <p:spPr>
          <a:xfrm>
            <a:off x="5097463" y="2740025"/>
            <a:ext cx="438150" cy="438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grpSp>
        <p:nvGrpSpPr>
          <p:cNvPr id="54" name="群組 257"/>
          <p:cNvGrpSpPr>
            <a:grpSpLocks/>
          </p:cNvGrpSpPr>
          <p:nvPr/>
        </p:nvGrpSpPr>
        <p:grpSpPr bwMode="auto">
          <a:xfrm>
            <a:off x="6413500" y="2713038"/>
            <a:ext cx="438150" cy="438150"/>
            <a:chOff x="6656524" y="2699227"/>
            <a:chExt cx="438150" cy="438150"/>
          </a:xfrm>
        </p:grpSpPr>
        <p:sp>
          <p:nvSpPr>
            <p:cNvPr id="55" name="橢圓 258"/>
            <p:cNvSpPr>
              <a:spLocks noChangeArrowheads="1"/>
            </p:cNvSpPr>
            <p:nvPr/>
          </p:nvSpPr>
          <p:spPr bwMode="auto">
            <a:xfrm>
              <a:off x="6656524" y="2699227"/>
              <a:ext cx="438150" cy="438150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56" name="文字方塊 259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66595" y="2808578"/>
              <a:ext cx="283732" cy="276999"/>
            </a:xfrm>
            <a:prstGeom prst="rect">
              <a:avLst/>
            </a:prstGeom>
            <a:blipFill rotWithShape="1">
              <a:blip r:embed="rId4"/>
              <a:stretch>
                <a:fillRect l="-10638" t="-8511" b="-4255"/>
              </a:stretch>
            </a:blipFill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noFill/>
                  <a:latin typeface="Arial" charset="0"/>
                  <a:ea typeface="ＭＳ Ｐゴシック" charset="0"/>
                  <a:cs typeface="ＭＳ Ｐゴシック" charset="0"/>
                </a:rPr>
                <a:t> </a:t>
              </a:r>
            </a:p>
          </p:txBody>
        </p:sp>
      </p:grpSp>
      <p:sp>
        <p:nvSpPr>
          <p:cNvPr id="57" name="橢圓 261"/>
          <p:cNvSpPr/>
          <p:nvPr/>
        </p:nvSpPr>
        <p:spPr>
          <a:xfrm>
            <a:off x="7772400" y="2735263"/>
            <a:ext cx="438150" cy="438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58" name="矩形 263"/>
          <p:cNvSpPr/>
          <p:nvPr/>
        </p:nvSpPr>
        <p:spPr>
          <a:xfrm>
            <a:off x="7634288" y="1397000"/>
            <a:ext cx="720725" cy="431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59" name="文字方塊 264"/>
          <p:cNvSpPr txBox="1">
            <a:spLocks noChangeArrowheads="1"/>
          </p:cNvSpPr>
          <p:nvPr/>
        </p:nvSpPr>
        <p:spPr bwMode="auto">
          <a:xfrm>
            <a:off x="7553325" y="1382713"/>
            <a:ext cx="906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y</a:t>
            </a:r>
            <a:r>
              <a:rPr lang="en-US" altLang="zh-TW" sz="2400" baseline="30000">
                <a:latin typeface="Arial" panose="020B0604020202020204" pitchFamily="34" charset="0"/>
                <a:ea typeface="MS PGothic" panose="020B0600070205080204" pitchFamily="34" charset="-128"/>
              </a:rPr>
              <a:t>t+1</a:t>
            </a:r>
            <a:endParaRPr lang="zh-TW" altLang="en-US" sz="2400" baseline="30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60" name="直線單箭頭接點 265"/>
          <p:cNvCxnSpPr>
            <a:cxnSpLocks/>
          </p:cNvCxnSpPr>
          <p:nvPr/>
        </p:nvCxnSpPr>
        <p:spPr>
          <a:xfrm flipH="1" flipV="1">
            <a:off x="5334000" y="3205163"/>
            <a:ext cx="0" cy="123031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266"/>
          <p:cNvCxnSpPr>
            <a:cxnSpLocks/>
          </p:cNvCxnSpPr>
          <p:nvPr/>
        </p:nvCxnSpPr>
        <p:spPr>
          <a:xfrm>
            <a:off x="5540375" y="2968625"/>
            <a:ext cx="88741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267"/>
          <p:cNvCxnSpPr>
            <a:cxnSpLocks/>
            <a:endCxn id="50" idx="5"/>
          </p:cNvCxnSpPr>
          <p:nvPr/>
        </p:nvCxnSpPr>
        <p:spPr>
          <a:xfrm flipH="1" flipV="1">
            <a:off x="6797675" y="3932238"/>
            <a:ext cx="338138" cy="4953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268"/>
          <p:cNvCxnSpPr>
            <a:cxnSpLocks/>
            <a:endCxn id="50" idx="3"/>
          </p:cNvCxnSpPr>
          <p:nvPr/>
        </p:nvCxnSpPr>
        <p:spPr>
          <a:xfrm flipV="1">
            <a:off x="6219825" y="3932238"/>
            <a:ext cx="268288" cy="4794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269"/>
          <p:cNvCxnSpPr>
            <a:cxnSpLocks/>
          </p:cNvCxnSpPr>
          <p:nvPr/>
        </p:nvCxnSpPr>
        <p:spPr>
          <a:xfrm flipV="1">
            <a:off x="6640513" y="3157538"/>
            <a:ext cx="0" cy="3968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向下箭號 161"/>
          <p:cNvSpPr/>
          <p:nvPr/>
        </p:nvSpPr>
        <p:spPr>
          <a:xfrm flipV="1">
            <a:off x="7788275" y="1922463"/>
            <a:ext cx="438150" cy="749300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66" name="向下箭號 162"/>
          <p:cNvSpPr/>
          <p:nvPr/>
        </p:nvSpPr>
        <p:spPr>
          <a:xfrm rot="2620627" flipV="1">
            <a:off x="7531100" y="4873625"/>
            <a:ext cx="438150" cy="985838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67" name="向下箭號 163"/>
          <p:cNvSpPr/>
          <p:nvPr/>
        </p:nvSpPr>
        <p:spPr>
          <a:xfrm rot="20057551" flipV="1">
            <a:off x="6116638" y="4867275"/>
            <a:ext cx="438150" cy="909638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68" name="向下箭號 165"/>
          <p:cNvSpPr/>
          <p:nvPr/>
        </p:nvSpPr>
        <p:spPr>
          <a:xfrm rot="1353372" flipV="1">
            <a:off x="6829425" y="4913313"/>
            <a:ext cx="438150" cy="862012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69" name="向下箭號 166"/>
          <p:cNvSpPr/>
          <p:nvPr/>
        </p:nvSpPr>
        <p:spPr>
          <a:xfrm rot="18851723" flipV="1">
            <a:off x="5371307" y="4842669"/>
            <a:ext cx="438150" cy="1030287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21556" name="群組 275"/>
          <p:cNvGrpSpPr>
            <a:grpSpLocks/>
          </p:cNvGrpSpPr>
          <p:nvPr/>
        </p:nvGrpSpPr>
        <p:grpSpPr bwMode="auto">
          <a:xfrm>
            <a:off x="5876925" y="5810250"/>
            <a:ext cx="906463" cy="460375"/>
            <a:chOff x="4765592" y="6396335"/>
            <a:chExt cx="907572" cy="461665"/>
          </a:xfrm>
        </p:grpSpPr>
        <p:sp>
          <p:nvSpPr>
            <p:cNvPr id="71" name="矩形 276"/>
            <p:cNvSpPr>
              <a:spLocks noChangeArrowheads="1"/>
            </p:cNvSpPr>
            <p:nvPr/>
          </p:nvSpPr>
          <p:spPr bwMode="auto">
            <a:xfrm>
              <a:off x="4822812" y="6442502"/>
              <a:ext cx="720018" cy="369332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21577" name="文字方塊 277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r>
                <a:rPr lang="en-US" altLang="zh-TW" sz="2400" baseline="30000"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73" name="群組 281"/>
          <p:cNvGrpSpPr>
            <a:grpSpLocks/>
          </p:cNvGrpSpPr>
          <p:nvPr/>
        </p:nvGrpSpPr>
        <p:grpSpPr bwMode="auto">
          <a:xfrm>
            <a:off x="8353425" y="2066925"/>
            <a:ext cx="908050" cy="461963"/>
            <a:chOff x="4775004" y="6396335"/>
            <a:chExt cx="907572" cy="461665"/>
          </a:xfrm>
        </p:grpSpPr>
        <p:sp>
          <p:nvSpPr>
            <p:cNvPr id="74" name="矩形 282"/>
            <p:cNvSpPr>
              <a:spLocks noChangeArrowheads="1"/>
            </p:cNvSpPr>
            <p:nvPr/>
          </p:nvSpPr>
          <p:spPr bwMode="auto">
            <a:xfrm>
              <a:off x="4822604" y="6442343"/>
              <a:ext cx="720346" cy="369648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75" name="文字方塊 283"/>
            <p:cNvSpPr txBox="1">
              <a:spLocks noChangeArrowheads="1"/>
            </p:cNvSpPr>
            <p:nvPr/>
          </p:nvSpPr>
          <p:spPr bwMode="auto">
            <a:xfrm>
              <a:off x="4775004" y="6396335"/>
              <a:ext cx="907572" cy="461665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/>
                <a:t>c</a:t>
              </a:r>
              <a:r>
                <a:rPr lang="en-US" altLang="zh-TW" baseline="30000" smtClean="0"/>
                <a:t>t+1</a:t>
              </a:r>
              <a:endParaRPr lang="zh-TW" altLang="en-US" baseline="30000" smtClean="0"/>
            </a:p>
          </p:txBody>
        </p:sp>
      </p:grpSp>
      <p:sp>
        <p:nvSpPr>
          <p:cNvPr id="76" name="手繪多邊形 2"/>
          <p:cNvSpPr/>
          <p:nvPr/>
        </p:nvSpPr>
        <p:spPr>
          <a:xfrm>
            <a:off x="6751638" y="2324100"/>
            <a:ext cx="1625600" cy="377825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77" name="手繪多邊形 4"/>
          <p:cNvSpPr/>
          <p:nvPr/>
        </p:nvSpPr>
        <p:spPr>
          <a:xfrm>
            <a:off x="4851400" y="2352675"/>
            <a:ext cx="434975" cy="377825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78" name="手繪多邊形 110"/>
          <p:cNvSpPr/>
          <p:nvPr/>
        </p:nvSpPr>
        <p:spPr>
          <a:xfrm>
            <a:off x="4019550" y="3000375"/>
            <a:ext cx="1908175" cy="3101975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cxnSp>
        <p:nvCxnSpPr>
          <p:cNvPr id="79" name="直線單箭頭接點 287"/>
          <p:cNvCxnSpPr>
            <a:cxnSpLocks/>
          </p:cNvCxnSpPr>
          <p:nvPr/>
        </p:nvCxnSpPr>
        <p:spPr>
          <a:xfrm>
            <a:off x="6884988" y="2968625"/>
            <a:ext cx="88741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288"/>
          <p:cNvCxnSpPr>
            <a:cxnSpLocks/>
          </p:cNvCxnSpPr>
          <p:nvPr/>
        </p:nvCxnSpPr>
        <p:spPr>
          <a:xfrm flipH="1" flipV="1">
            <a:off x="8007350" y="3173413"/>
            <a:ext cx="0" cy="12287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字方塊 9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252331" y="3566571"/>
            <a:ext cx="336631" cy="369332"/>
          </a:xfrm>
          <a:prstGeom prst="rect">
            <a:avLst/>
          </a:prstGeom>
          <a:blipFill rotWithShape="1">
            <a:blip r:embed="rId5"/>
            <a:stretch>
              <a:fillRect l="-7143" t="-8197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82" name="文字方塊 9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607468" y="2775597"/>
            <a:ext cx="336631" cy="369332"/>
          </a:xfrm>
          <a:prstGeom prst="rect">
            <a:avLst/>
          </a:prstGeom>
          <a:blipFill rotWithShape="1">
            <a:blip r:embed="rId2"/>
            <a:stretch>
              <a:fillRect l="-7143" t="-6557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83" name="文字方塊 9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166369" y="2754147"/>
            <a:ext cx="336631" cy="369332"/>
          </a:xfrm>
          <a:prstGeom prst="rect">
            <a:avLst/>
          </a:prstGeom>
          <a:blipFill rotWithShape="1">
            <a:blip r:embed="rId5"/>
            <a:stretch>
              <a:fillRect l="-7143" t="-64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84" name="文字方塊 9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79698" y="3575729"/>
            <a:ext cx="336631" cy="369332"/>
          </a:xfrm>
          <a:prstGeom prst="rect">
            <a:avLst/>
          </a:prstGeom>
          <a:blipFill rotWithShape="1">
            <a:blip r:embed="rId6"/>
            <a:stretch>
              <a:fillRect l="-7018" t="-64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85" name="文字方塊 9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838414" y="2754147"/>
            <a:ext cx="336631" cy="369332"/>
          </a:xfrm>
          <a:prstGeom prst="rect">
            <a:avLst/>
          </a:prstGeom>
          <a:blipFill rotWithShape="1">
            <a:blip r:embed="rId6"/>
            <a:stretch>
              <a:fillRect l="-7018" t="-6452"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21568" name="文字方塊 96"/>
          <p:cNvSpPr txBox="1">
            <a:spLocks noChangeArrowheads="1"/>
          </p:cNvSpPr>
          <p:nvPr/>
        </p:nvSpPr>
        <p:spPr bwMode="auto">
          <a:xfrm>
            <a:off x="2359025" y="2909888"/>
            <a:ext cx="1428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tanh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8" name="文字方塊 97"/>
          <p:cNvSpPr txBox="1">
            <a:spLocks noChangeArrowheads="1"/>
          </p:cNvSpPr>
          <p:nvPr/>
        </p:nvSpPr>
        <p:spPr bwMode="auto">
          <a:xfrm>
            <a:off x="6600825" y="2930525"/>
            <a:ext cx="1428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tanh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89" name="手繪多邊形 110"/>
          <p:cNvSpPr/>
          <p:nvPr/>
        </p:nvSpPr>
        <p:spPr>
          <a:xfrm>
            <a:off x="8240713" y="2963863"/>
            <a:ext cx="1906587" cy="3101975"/>
          </a:xfrm>
          <a:custGeom>
            <a:avLst/>
            <a:gdLst>
              <a:gd name="connsiteX0" fmla="*/ 0 w 1320800"/>
              <a:gd name="connsiteY0" fmla="*/ 0 h 3135086"/>
              <a:gd name="connsiteX1" fmla="*/ 362857 w 1320800"/>
              <a:gd name="connsiteY1" fmla="*/ 624114 h 3135086"/>
              <a:gd name="connsiteX2" fmla="*/ 508000 w 1320800"/>
              <a:gd name="connsiteY2" fmla="*/ 2409371 h 3135086"/>
              <a:gd name="connsiteX3" fmla="*/ 1320800 w 1320800"/>
              <a:gd name="connsiteY3" fmla="*/ 3135086 h 3135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0800" h="3135086">
                <a:moveTo>
                  <a:pt x="0" y="0"/>
                </a:moveTo>
                <a:cubicBezTo>
                  <a:pt x="139095" y="111276"/>
                  <a:pt x="278190" y="222552"/>
                  <a:pt x="362857" y="624114"/>
                </a:cubicBezTo>
                <a:cubicBezTo>
                  <a:pt x="447524" y="1025676"/>
                  <a:pt x="348343" y="1990876"/>
                  <a:pt x="508000" y="2409371"/>
                </a:cubicBezTo>
                <a:cubicBezTo>
                  <a:pt x="667657" y="2827866"/>
                  <a:pt x="994228" y="2981476"/>
                  <a:pt x="1320800" y="3135086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90" name="文字方塊 101"/>
          <p:cNvSpPr txBox="1">
            <a:spLocks noChangeArrowheads="1"/>
          </p:cNvSpPr>
          <p:nvPr/>
        </p:nvSpPr>
        <p:spPr bwMode="auto">
          <a:xfrm>
            <a:off x="8332788" y="5322888"/>
            <a:ext cx="9064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r>
              <a:rPr lang="en-US" altLang="zh-TW" sz="2400" baseline="30000">
                <a:latin typeface="Arial" panose="020B0604020202020204" pitchFamily="34" charset="0"/>
                <a:ea typeface="MS PGothic" panose="020B0600070205080204" pitchFamily="34" charset="-128"/>
              </a:rPr>
              <a:t>t+1</a:t>
            </a:r>
            <a:endParaRPr lang="zh-TW" altLang="en-US" sz="2400" baseline="30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1572" name="TextBox 90"/>
          <p:cNvSpPr txBox="1">
            <a:spLocks noChangeArrowheads="1"/>
          </p:cNvSpPr>
          <p:nvPr/>
        </p:nvSpPr>
        <p:spPr bwMode="auto">
          <a:xfrm>
            <a:off x="2590800" y="6488113"/>
            <a:ext cx="3876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Information flow of LSTM</a:t>
            </a:r>
          </a:p>
        </p:txBody>
      </p:sp>
      <p:pic>
        <p:nvPicPr>
          <p:cNvPr id="21573" name="Picture 9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-228600"/>
            <a:ext cx="274478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0" grpId="0" animBg="1"/>
      <p:bldP spid="53" grpId="0" animBg="1"/>
      <p:bldP spid="57" grpId="0" animBg="1"/>
      <p:bldP spid="59" grpId="0"/>
      <p:bldP spid="88" grpId="0"/>
      <p:bldP spid="9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GRU – gated recurrent unit </a:t>
            </a:r>
            <a:br>
              <a:rPr lang="en-US" altLang="en-US" smtClean="0"/>
            </a:br>
            <a:r>
              <a:rPr lang="en-US" altLang="en-US" sz="2000" smtClean="0">
                <a:solidFill>
                  <a:srgbClr val="FF0000"/>
                </a:solidFill>
              </a:rPr>
              <a:t>(more compression)</a:t>
            </a:r>
            <a:endParaRPr lang="en-US" altLang="en-US" smtClean="0">
              <a:solidFill>
                <a:srgbClr val="FF0000"/>
              </a:solidFill>
            </a:endParaRPr>
          </a:p>
        </p:txBody>
      </p:sp>
      <p:pic>
        <p:nvPicPr>
          <p:cNvPr id="2253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06600"/>
            <a:ext cx="9144000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Box 4"/>
          <p:cNvSpPr txBox="1">
            <a:spLocks noChangeArrowheads="1"/>
          </p:cNvSpPr>
          <p:nvPr/>
        </p:nvSpPr>
        <p:spPr bwMode="auto">
          <a:xfrm>
            <a:off x="228600" y="5181600"/>
            <a:ext cx="7315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It combines the 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forget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 and 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input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 into a single 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update gate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It also merges the cell state and hidden state. This is simpler</a:t>
            </a:r>
          </a:p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than LSTM. There are many other variants too.</a:t>
            </a:r>
          </a:p>
        </p:txBody>
      </p:sp>
      <p:sp>
        <p:nvSpPr>
          <p:cNvPr id="22533" name="TextBox 1"/>
          <p:cNvSpPr txBox="1">
            <a:spLocks noChangeArrowheads="1"/>
          </p:cNvSpPr>
          <p:nvPr/>
        </p:nvSpPr>
        <p:spPr bwMode="auto">
          <a:xfrm>
            <a:off x="609600" y="1752600"/>
            <a:ext cx="1211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reset gate</a:t>
            </a:r>
          </a:p>
        </p:txBody>
      </p:sp>
      <p:cxnSp>
        <p:nvCxnSpPr>
          <p:cNvPr id="4" name="Straight Arrow Connector 3"/>
          <p:cNvCxnSpPr>
            <a:cxnSpLocks noChangeShapeType="1"/>
          </p:cNvCxnSpPr>
          <p:nvPr/>
        </p:nvCxnSpPr>
        <p:spPr bwMode="auto">
          <a:xfrm flipH="1">
            <a:off x="1295400" y="2133600"/>
            <a:ext cx="152400" cy="10668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5" name="TextBox 6"/>
          <p:cNvSpPr txBox="1">
            <a:spLocks noChangeArrowheads="1"/>
          </p:cNvSpPr>
          <p:nvPr/>
        </p:nvSpPr>
        <p:spPr bwMode="auto">
          <a:xfrm>
            <a:off x="6248400" y="6488113"/>
            <a:ext cx="28273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X,*: element-wise multiply</a:t>
            </a:r>
          </a:p>
        </p:txBody>
      </p:sp>
      <p:pic>
        <p:nvPicPr>
          <p:cNvPr id="2253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9213" y="-25400"/>
            <a:ext cx="2744787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7" name="TextBox 13"/>
          <p:cNvSpPr txBox="1">
            <a:spLocks noChangeArrowheads="1"/>
          </p:cNvSpPr>
          <p:nvPr/>
        </p:nvSpPr>
        <p:spPr bwMode="auto">
          <a:xfrm>
            <a:off x="6781800" y="25400"/>
            <a:ext cx="800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LSTM</a:t>
            </a:r>
          </a:p>
        </p:txBody>
      </p:sp>
      <p:sp>
        <p:nvSpPr>
          <p:cNvPr id="22538" name="TextBox 14"/>
          <p:cNvSpPr txBox="1">
            <a:spLocks noChangeArrowheads="1"/>
          </p:cNvSpPr>
          <p:nvPr/>
        </p:nvSpPr>
        <p:spPr bwMode="auto">
          <a:xfrm>
            <a:off x="1905000" y="1752600"/>
            <a:ext cx="1443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Update gate</a:t>
            </a:r>
          </a:p>
        </p:txBody>
      </p:sp>
      <p:cxnSp>
        <p:nvCxnSpPr>
          <p:cNvPr id="18" name="Straight Arrow Connector 17"/>
          <p:cNvCxnSpPr>
            <a:cxnSpLocks noChangeShapeType="1"/>
          </p:cNvCxnSpPr>
          <p:nvPr/>
        </p:nvCxnSpPr>
        <p:spPr bwMode="auto">
          <a:xfrm flipH="1">
            <a:off x="2438400" y="2133600"/>
            <a:ext cx="304800" cy="14478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8102600" cy="608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828800"/>
            <a:ext cx="3295650" cy="2155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219200" y="4191000"/>
            <a:ext cx="6781800" cy="203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GRUs also takes x</a:t>
            </a:r>
            <a:r>
              <a:rPr lang="en-US" altLang="en-US" baseline="-25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 and h</a:t>
            </a:r>
            <a:r>
              <a:rPr lang="en-US" altLang="en-US" baseline="-25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 as inputs.  They perform some calculations and then pass along h</a:t>
            </a:r>
            <a:r>
              <a:rPr lang="en-US" altLang="en-US" baseline="-25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. What makes them different from LSTMs is that GRUs don't need the cell layer to pass values along.  The calculations within each iteration insure that the h</a:t>
            </a:r>
            <a:r>
              <a:rPr lang="en-US" altLang="en-US" baseline="-25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 values being passed along either retain a high amount of old information or are jump-started with a high amount of new information.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"/>
          <p:cNvSpPr/>
          <p:nvPr/>
        </p:nvSpPr>
        <p:spPr>
          <a:xfrm>
            <a:off x="831850" y="1890713"/>
            <a:ext cx="438150" cy="719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x</a:t>
            </a:r>
            <a:endParaRPr lang="zh-TW" altLang="en-US" sz="2400" baseline="30000" dirty="0"/>
          </a:p>
        </p:txBody>
      </p:sp>
      <p:sp>
        <p:nvSpPr>
          <p:cNvPr id="6" name="矩形 4"/>
          <p:cNvSpPr/>
          <p:nvPr/>
        </p:nvSpPr>
        <p:spPr>
          <a:xfrm>
            <a:off x="1495425" y="1890713"/>
            <a:ext cx="430213" cy="7191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chemeClr val="tx1"/>
                </a:solidFill>
              </a:rPr>
              <a:t>f</a:t>
            </a:r>
            <a:r>
              <a:rPr lang="en-US" altLang="zh-TW" sz="2400" baseline="-25000" dirty="0">
                <a:solidFill>
                  <a:schemeClr val="tx1"/>
                </a:solidFill>
              </a:rPr>
              <a:t>1</a:t>
            </a:r>
            <a:endParaRPr lang="zh-TW" altLang="en-US" sz="2400" baseline="-25000" dirty="0">
              <a:solidFill>
                <a:schemeClr val="tx1"/>
              </a:solidFill>
            </a:endParaRPr>
          </a:p>
        </p:txBody>
      </p:sp>
      <p:sp>
        <p:nvSpPr>
          <p:cNvPr id="7" name="矩形 5"/>
          <p:cNvSpPr/>
          <p:nvPr/>
        </p:nvSpPr>
        <p:spPr>
          <a:xfrm>
            <a:off x="2151063" y="1890713"/>
            <a:ext cx="436562" cy="71913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a</a:t>
            </a:r>
            <a:r>
              <a:rPr lang="en-US" altLang="zh-TW" sz="2000" baseline="30000" dirty="0">
                <a:solidFill>
                  <a:srgbClr val="000000"/>
                </a:solidFill>
              </a:rPr>
              <a:t>1</a:t>
            </a:r>
            <a:endParaRPr lang="zh-TW" altLang="en-US" sz="2000" baseline="30000" dirty="0">
              <a:solidFill>
                <a:srgbClr val="000000"/>
              </a:solidFill>
            </a:endParaRPr>
          </a:p>
        </p:txBody>
      </p:sp>
      <p:sp>
        <p:nvSpPr>
          <p:cNvPr id="8" name="矩形 6"/>
          <p:cNvSpPr/>
          <p:nvPr/>
        </p:nvSpPr>
        <p:spPr>
          <a:xfrm>
            <a:off x="2813050" y="1890713"/>
            <a:ext cx="430213" cy="7191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</a:t>
            </a:r>
            <a:r>
              <a:rPr lang="en-US" altLang="zh-TW" sz="2400" baseline="-25000" dirty="0">
                <a:solidFill>
                  <a:srgbClr val="000000"/>
                </a:solidFill>
              </a:rPr>
              <a:t>2</a:t>
            </a:r>
            <a:endParaRPr lang="zh-TW" altLang="en-US" sz="2400" baseline="-25000" dirty="0">
              <a:solidFill>
                <a:srgbClr val="000000"/>
              </a:solidFill>
            </a:endParaRPr>
          </a:p>
        </p:txBody>
      </p:sp>
      <p:sp>
        <p:nvSpPr>
          <p:cNvPr id="9" name="矩形 7"/>
          <p:cNvSpPr/>
          <p:nvPr/>
        </p:nvSpPr>
        <p:spPr>
          <a:xfrm>
            <a:off x="3468688" y="1890713"/>
            <a:ext cx="438150" cy="71913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a</a:t>
            </a:r>
            <a:r>
              <a:rPr lang="en-US" altLang="zh-TW" sz="2000" baseline="30000" dirty="0">
                <a:solidFill>
                  <a:srgbClr val="000000"/>
                </a:solidFill>
              </a:rPr>
              <a:t>2</a:t>
            </a:r>
            <a:endParaRPr lang="zh-TW" altLang="en-US" sz="2000" baseline="30000" dirty="0">
              <a:solidFill>
                <a:srgbClr val="000000"/>
              </a:solidFill>
            </a:endParaRPr>
          </a:p>
        </p:txBody>
      </p:sp>
      <p:sp>
        <p:nvSpPr>
          <p:cNvPr id="10" name="矩形 8"/>
          <p:cNvSpPr/>
          <p:nvPr/>
        </p:nvSpPr>
        <p:spPr>
          <a:xfrm>
            <a:off x="4132263" y="1890713"/>
            <a:ext cx="428625" cy="7191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</a:t>
            </a:r>
            <a:r>
              <a:rPr lang="en-US" altLang="zh-TW" sz="2400" baseline="-25000" dirty="0">
                <a:solidFill>
                  <a:srgbClr val="000000"/>
                </a:solidFill>
              </a:rPr>
              <a:t>3</a:t>
            </a:r>
            <a:endParaRPr lang="zh-TW" altLang="en-US" sz="2400" baseline="-25000" dirty="0">
              <a:solidFill>
                <a:srgbClr val="000000"/>
              </a:solidFill>
            </a:endParaRPr>
          </a:p>
        </p:txBody>
      </p:sp>
      <p:sp>
        <p:nvSpPr>
          <p:cNvPr id="11" name="矩形 9"/>
          <p:cNvSpPr/>
          <p:nvPr/>
        </p:nvSpPr>
        <p:spPr>
          <a:xfrm>
            <a:off x="4786313" y="1890713"/>
            <a:ext cx="438150" cy="71913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a</a:t>
            </a:r>
            <a:r>
              <a:rPr lang="en-US" altLang="zh-TW" sz="2000" baseline="30000" dirty="0">
                <a:solidFill>
                  <a:srgbClr val="000000"/>
                </a:solidFill>
              </a:rPr>
              <a:t>3</a:t>
            </a:r>
            <a:endParaRPr lang="zh-TW" altLang="en-US" sz="2000" baseline="30000" dirty="0">
              <a:solidFill>
                <a:srgbClr val="000000"/>
              </a:solidFill>
            </a:endParaRPr>
          </a:p>
        </p:txBody>
      </p:sp>
      <p:sp>
        <p:nvSpPr>
          <p:cNvPr id="12" name="矩形 10"/>
          <p:cNvSpPr/>
          <p:nvPr/>
        </p:nvSpPr>
        <p:spPr>
          <a:xfrm>
            <a:off x="5449888" y="1890713"/>
            <a:ext cx="430212" cy="7191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</a:t>
            </a:r>
            <a:r>
              <a:rPr lang="en-US" altLang="zh-TW" sz="2400" baseline="-25000" dirty="0">
                <a:solidFill>
                  <a:srgbClr val="000000"/>
                </a:solidFill>
              </a:rPr>
              <a:t>4</a:t>
            </a:r>
            <a:endParaRPr lang="zh-TW" altLang="en-US" sz="2400" baseline="-25000" dirty="0">
              <a:solidFill>
                <a:srgbClr val="000000"/>
              </a:solidFill>
            </a:endParaRPr>
          </a:p>
        </p:txBody>
      </p:sp>
      <p:cxnSp>
        <p:nvCxnSpPr>
          <p:cNvPr id="13" name="直線單箭頭接點 11"/>
          <p:cNvCxnSpPr/>
          <p:nvPr/>
        </p:nvCxnSpPr>
        <p:spPr>
          <a:xfrm>
            <a:off x="1270000" y="2247900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2"/>
          <p:cNvCxnSpPr/>
          <p:nvPr/>
        </p:nvCxnSpPr>
        <p:spPr>
          <a:xfrm>
            <a:off x="1908175" y="2247900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3"/>
          <p:cNvCxnSpPr/>
          <p:nvPr/>
        </p:nvCxnSpPr>
        <p:spPr>
          <a:xfrm>
            <a:off x="2584450" y="2247900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4"/>
          <p:cNvCxnSpPr/>
          <p:nvPr/>
        </p:nvCxnSpPr>
        <p:spPr>
          <a:xfrm>
            <a:off x="3270250" y="2257425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5"/>
          <p:cNvCxnSpPr/>
          <p:nvPr/>
        </p:nvCxnSpPr>
        <p:spPr>
          <a:xfrm>
            <a:off x="3908425" y="2257425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6"/>
          <p:cNvCxnSpPr/>
          <p:nvPr/>
        </p:nvCxnSpPr>
        <p:spPr>
          <a:xfrm>
            <a:off x="4546600" y="2257425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7"/>
          <p:cNvCxnSpPr/>
          <p:nvPr/>
        </p:nvCxnSpPr>
        <p:spPr>
          <a:xfrm>
            <a:off x="5232400" y="2257425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8"/>
          <p:cNvSpPr/>
          <p:nvPr/>
        </p:nvSpPr>
        <p:spPr>
          <a:xfrm>
            <a:off x="6137275" y="1897063"/>
            <a:ext cx="430213" cy="71913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y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cxnSp>
        <p:nvCxnSpPr>
          <p:cNvPr id="21" name="直線單箭頭接點 19"/>
          <p:cNvCxnSpPr/>
          <p:nvPr/>
        </p:nvCxnSpPr>
        <p:spPr>
          <a:xfrm>
            <a:off x="5880100" y="2262188"/>
            <a:ext cx="2238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1"/>
          <p:cNvSpPr/>
          <p:nvPr/>
        </p:nvSpPr>
        <p:spPr>
          <a:xfrm>
            <a:off x="1514475" y="4584700"/>
            <a:ext cx="438150" cy="7207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/>
              <a:t>x</a:t>
            </a:r>
            <a:r>
              <a:rPr lang="en-US" altLang="zh-TW" sz="2000" baseline="30000" dirty="0"/>
              <a:t>1</a:t>
            </a:r>
            <a:endParaRPr lang="zh-TW" altLang="en-US" sz="2000" baseline="30000" dirty="0"/>
          </a:p>
        </p:txBody>
      </p:sp>
      <p:sp>
        <p:nvSpPr>
          <p:cNvPr id="24" name="矩形 22"/>
          <p:cNvSpPr/>
          <p:nvPr/>
        </p:nvSpPr>
        <p:spPr>
          <a:xfrm>
            <a:off x="831850" y="3641725"/>
            <a:ext cx="454025" cy="71913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/>
              <a:t>h</a:t>
            </a:r>
            <a:r>
              <a:rPr lang="en-US" altLang="zh-TW" sz="2000" baseline="30000" dirty="0"/>
              <a:t>0</a:t>
            </a:r>
            <a:endParaRPr lang="zh-TW" altLang="en-US" sz="2000" baseline="30000" dirty="0"/>
          </a:p>
        </p:txBody>
      </p:sp>
      <p:sp>
        <p:nvSpPr>
          <p:cNvPr id="25" name="矩形 23"/>
          <p:cNvSpPr/>
          <p:nvPr/>
        </p:nvSpPr>
        <p:spPr>
          <a:xfrm>
            <a:off x="1511300" y="3641725"/>
            <a:ext cx="430213" cy="719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6" name="矩形 24"/>
          <p:cNvSpPr/>
          <p:nvPr/>
        </p:nvSpPr>
        <p:spPr>
          <a:xfrm>
            <a:off x="2122488" y="3641725"/>
            <a:ext cx="454025" cy="7191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h</a:t>
            </a:r>
            <a:r>
              <a:rPr lang="en-US" altLang="zh-TW" sz="2000" baseline="30000" dirty="0">
                <a:solidFill>
                  <a:srgbClr val="000000"/>
                </a:solidFill>
              </a:rPr>
              <a:t>1</a:t>
            </a:r>
            <a:endParaRPr lang="zh-TW" altLang="en-US" sz="2000" baseline="30000" dirty="0">
              <a:solidFill>
                <a:srgbClr val="000000"/>
              </a:solidFill>
            </a:endParaRPr>
          </a:p>
        </p:txBody>
      </p:sp>
      <p:sp>
        <p:nvSpPr>
          <p:cNvPr id="27" name="矩形 25"/>
          <p:cNvSpPr/>
          <p:nvPr/>
        </p:nvSpPr>
        <p:spPr>
          <a:xfrm>
            <a:off x="2820988" y="4584700"/>
            <a:ext cx="438150" cy="7207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/>
              <a:t>x</a:t>
            </a:r>
            <a:r>
              <a:rPr lang="en-US" altLang="zh-TW" sz="2000" baseline="30000" dirty="0"/>
              <a:t>2</a:t>
            </a:r>
            <a:endParaRPr lang="zh-TW" altLang="en-US" sz="2000" baseline="30000" dirty="0"/>
          </a:p>
        </p:txBody>
      </p:sp>
      <p:sp>
        <p:nvSpPr>
          <p:cNvPr id="28" name="矩形 26"/>
          <p:cNvSpPr/>
          <p:nvPr/>
        </p:nvSpPr>
        <p:spPr>
          <a:xfrm>
            <a:off x="2830513" y="3641725"/>
            <a:ext cx="428625" cy="719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29" name="矩形 27"/>
          <p:cNvSpPr/>
          <p:nvPr/>
        </p:nvSpPr>
        <p:spPr>
          <a:xfrm>
            <a:off x="4146550" y="4560888"/>
            <a:ext cx="438150" cy="719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/>
              <a:t>x</a:t>
            </a:r>
            <a:r>
              <a:rPr lang="en-US" altLang="zh-TW" sz="2000" baseline="30000" dirty="0"/>
              <a:t>3</a:t>
            </a:r>
            <a:endParaRPr lang="zh-TW" altLang="en-US" sz="2000" baseline="30000" dirty="0"/>
          </a:p>
        </p:txBody>
      </p:sp>
      <p:sp>
        <p:nvSpPr>
          <p:cNvPr id="30" name="矩形 28"/>
          <p:cNvSpPr/>
          <p:nvPr/>
        </p:nvSpPr>
        <p:spPr>
          <a:xfrm>
            <a:off x="3484563" y="3641725"/>
            <a:ext cx="452437" cy="7191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h</a:t>
            </a:r>
            <a:r>
              <a:rPr lang="en-US" altLang="zh-TW" sz="2000" baseline="30000" dirty="0">
                <a:solidFill>
                  <a:srgbClr val="000000"/>
                </a:solidFill>
              </a:rPr>
              <a:t>2</a:t>
            </a:r>
            <a:endParaRPr lang="zh-TW" altLang="en-US" sz="2000" baseline="30000" dirty="0">
              <a:solidFill>
                <a:srgbClr val="000000"/>
              </a:solidFill>
            </a:endParaRPr>
          </a:p>
        </p:txBody>
      </p:sp>
      <p:sp>
        <p:nvSpPr>
          <p:cNvPr id="31" name="矩形 29"/>
          <p:cNvSpPr/>
          <p:nvPr/>
        </p:nvSpPr>
        <p:spPr>
          <a:xfrm>
            <a:off x="4148138" y="3641725"/>
            <a:ext cx="430212" cy="719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32" name="矩形 30"/>
          <p:cNvSpPr/>
          <p:nvPr/>
        </p:nvSpPr>
        <p:spPr>
          <a:xfrm>
            <a:off x="5457825" y="4560888"/>
            <a:ext cx="438150" cy="7191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/>
              <a:t>x</a:t>
            </a:r>
            <a:r>
              <a:rPr lang="en-US" altLang="zh-TW" sz="2000" baseline="30000" dirty="0"/>
              <a:t>4</a:t>
            </a:r>
            <a:endParaRPr lang="zh-TW" altLang="en-US" sz="2000" baseline="30000" dirty="0"/>
          </a:p>
        </p:txBody>
      </p:sp>
      <p:sp>
        <p:nvSpPr>
          <p:cNvPr id="33" name="矩形 31"/>
          <p:cNvSpPr/>
          <p:nvPr/>
        </p:nvSpPr>
        <p:spPr>
          <a:xfrm>
            <a:off x="4772025" y="3641725"/>
            <a:ext cx="468313" cy="71913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h</a:t>
            </a:r>
            <a:r>
              <a:rPr lang="en-US" altLang="zh-TW" sz="2400" baseline="30000" dirty="0">
                <a:solidFill>
                  <a:srgbClr val="000000"/>
                </a:solidFill>
              </a:rPr>
              <a:t>3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34" name="矩形 32"/>
          <p:cNvSpPr/>
          <p:nvPr/>
        </p:nvSpPr>
        <p:spPr>
          <a:xfrm>
            <a:off x="5465763" y="3641725"/>
            <a:ext cx="430212" cy="719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f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sp>
        <p:nvSpPr>
          <p:cNvPr id="35" name="矩形 33"/>
          <p:cNvSpPr/>
          <p:nvPr/>
        </p:nvSpPr>
        <p:spPr>
          <a:xfrm>
            <a:off x="6348413" y="3641725"/>
            <a:ext cx="428625" cy="7191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g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cxnSp>
        <p:nvCxnSpPr>
          <p:cNvPr id="36" name="直線單箭頭接點 34"/>
          <p:cNvCxnSpPr/>
          <p:nvPr/>
        </p:nvCxnSpPr>
        <p:spPr>
          <a:xfrm>
            <a:off x="1285875" y="3998913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5"/>
          <p:cNvCxnSpPr/>
          <p:nvPr/>
        </p:nvCxnSpPr>
        <p:spPr>
          <a:xfrm>
            <a:off x="1924050" y="3998913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6"/>
          <p:cNvCxnSpPr/>
          <p:nvPr/>
        </p:nvCxnSpPr>
        <p:spPr>
          <a:xfrm>
            <a:off x="2600325" y="3998913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7"/>
          <p:cNvCxnSpPr/>
          <p:nvPr/>
        </p:nvCxnSpPr>
        <p:spPr>
          <a:xfrm>
            <a:off x="3286125" y="4008438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8"/>
          <p:cNvCxnSpPr/>
          <p:nvPr/>
        </p:nvCxnSpPr>
        <p:spPr>
          <a:xfrm>
            <a:off x="3924300" y="4008438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39"/>
          <p:cNvCxnSpPr/>
          <p:nvPr/>
        </p:nvCxnSpPr>
        <p:spPr>
          <a:xfrm>
            <a:off x="4562475" y="4008438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0"/>
          <p:cNvCxnSpPr/>
          <p:nvPr/>
        </p:nvCxnSpPr>
        <p:spPr>
          <a:xfrm>
            <a:off x="5248275" y="4008438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1"/>
          <p:cNvCxnSpPr>
            <a:cxnSpLocks/>
          </p:cNvCxnSpPr>
          <p:nvPr/>
        </p:nvCxnSpPr>
        <p:spPr>
          <a:xfrm rot="16200000">
            <a:off x="1616075" y="4473576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2"/>
          <p:cNvCxnSpPr>
            <a:cxnSpLocks/>
          </p:cNvCxnSpPr>
          <p:nvPr/>
        </p:nvCxnSpPr>
        <p:spPr>
          <a:xfrm rot="16200000">
            <a:off x="2941637" y="4483101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43"/>
          <p:cNvCxnSpPr>
            <a:cxnSpLocks/>
          </p:cNvCxnSpPr>
          <p:nvPr/>
        </p:nvCxnSpPr>
        <p:spPr>
          <a:xfrm rot="16200000">
            <a:off x="4262437" y="4473576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44"/>
          <p:cNvCxnSpPr>
            <a:cxnSpLocks/>
          </p:cNvCxnSpPr>
          <p:nvPr/>
        </p:nvCxnSpPr>
        <p:spPr>
          <a:xfrm rot="16200000">
            <a:off x="5586412" y="4471988"/>
            <a:ext cx="2254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5"/>
          <p:cNvCxnSpPr>
            <a:cxnSpLocks/>
          </p:cNvCxnSpPr>
          <p:nvPr/>
        </p:nvCxnSpPr>
        <p:spPr>
          <a:xfrm flipV="1">
            <a:off x="5886450" y="4008438"/>
            <a:ext cx="46196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6"/>
          <p:cNvCxnSpPr>
            <a:cxnSpLocks/>
          </p:cNvCxnSpPr>
          <p:nvPr/>
        </p:nvCxnSpPr>
        <p:spPr>
          <a:xfrm flipV="1">
            <a:off x="6808788" y="3998913"/>
            <a:ext cx="4619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7"/>
          <p:cNvSpPr/>
          <p:nvPr/>
        </p:nvSpPr>
        <p:spPr>
          <a:xfrm>
            <a:off x="7270750" y="3648075"/>
            <a:ext cx="430213" cy="71913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y</a:t>
            </a:r>
            <a:r>
              <a:rPr lang="en-US" altLang="zh-TW" sz="2000" baseline="30000" dirty="0">
                <a:solidFill>
                  <a:srgbClr val="000000"/>
                </a:solidFill>
              </a:rPr>
              <a:t>4</a:t>
            </a:r>
            <a:endParaRPr lang="zh-TW" altLang="en-US" sz="2000" baseline="30000" dirty="0">
              <a:solidFill>
                <a:srgbClr val="000000"/>
              </a:solidFill>
            </a:endParaRPr>
          </a:p>
        </p:txBody>
      </p:sp>
      <p:sp>
        <p:nvSpPr>
          <p:cNvPr id="51" name="文字方塊 49"/>
          <p:cNvSpPr txBox="1">
            <a:spLocks noChangeArrowheads="1"/>
          </p:cNvSpPr>
          <p:nvPr/>
        </p:nvSpPr>
        <p:spPr bwMode="auto">
          <a:xfrm>
            <a:off x="5895975" y="2787650"/>
            <a:ext cx="1279525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smtClean="0">
                <a:solidFill>
                  <a:srgbClr val="000000"/>
                </a:solidFill>
              </a:rPr>
              <a:t>t is layer</a:t>
            </a:r>
            <a:endParaRPr lang="zh-TW" altLang="en-US" sz="2000" smtClean="0">
              <a:solidFill>
                <a:srgbClr val="000000"/>
              </a:solidFill>
            </a:endParaRPr>
          </a:p>
        </p:txBody>
      </p:sp>
      <p:sp>
        <p:nvSpPr>
          <p:cNvPr id="52" name="文字方塊 50"/>
          <p:cNvSpPr txBox="1">
            <a:spLocks noChangeArrowheads="1"/>
          </p:cNvSpPr>
          <p:nvPr/>
        </p:nvSpPr>
        <p:spPr bwMode="auto">
          <a:xfrm>
            <a:off x="6808788" y="4864100"/>
            <a:ext cx="1866900" cy="400050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smtClean="0">
                <a:solidFill>
                  <a:srgbClr val="000000"/>
                </a:solidFill>
              </a:rPr>
              <a:t>t is time step</a:t>
            </a:r>
            <a:endParaRPr lang="zh-TW" altLang="en-US" smtClean="0">
              <a:solidFill>
                <a:srgbClr val="000000"/>
              </a:solidFill>
            </a:endParaRPr>
          </a:p>
        </p:txBody>
      </p:sp>
      <p:sp>
        <p:nvSpPr>
          <p:cNvPr id="53" name="文字方塊 51"/>
          <p:cNvSpPr txBox="1"/>
          <p:nvPr/>
        </p:nvSpPr>
        <p:spPr>
          <a:xfrm>
            <a:off x="628650" y="6057900"/>
            <a:ext cx="7994650" cy="52228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We will turn the recurrent network 90 degrees. </a:t>
            </a:r>
            <a:endParaRPr lang="zh-TW" altLang="en-US" sz="2800" dirty="0">
              <a:solidFill>
                <a:srgbClr val="000000"/>
              </a:solidFill>
            </a:endParaRPr>
          </a:p>
        </p:txBody>
      </p:sp>
      <p:sp>
        <p:nvSpPr>
          <p:cNvPr id="24625" name="矩形 52"/>
          <p:cNvSpPr>
            <a:spLocks noChangeArrowheads="1"/>
          </p:cNvSpPr>
          <p:nvPr/>
        </p:nvSpPr>
        <p:spPr bwMode="auto">
          <a:xfrm>
            <a:off x="201613" y="74613"/>
            <a:ext cx="71485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3200" b="1" u="sng">
                <a:latin typeface="Arial" panose="020B0604020202020204" pitchFamily="34" charset="0"/>
                <a:ea typeface="MS PGothic" panose="020B0600070205080204" pitchFamily="34" charset="-128"/>
              </a:rPr>
              <a:t>Feed-forward vs Recurrent Network</a:t>
            </a:r>
            <a:endParaRPr lang="zh-TW" altLang="en-US" sz="3200" b="1" u="sng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5" name="文字方塊 53"/>
          <p:cNvSpPr txBox="1">
            <a:spLocks noChangeArrowheads="1"/>
          </p:cNvSpPr>
          <p:nvPr/>
        </p:nvSpPr>
        <p:spPr bwMode="auto">
          <a:xfrm>
            <a:off x="692150" y="741363"/>
            <a:ext cx="8070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1. Feedforward network does not have input at each step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6" name="文字方塊 54"/>
          <p:cNvSpPr txBox="1">
            <a:spLocks noChangeArrowheads="1"/>
          </p:cNvSpPr>
          <p:nvPr/>
        </p:nvSpPr>
        <p:spPr bwMode="auto">
          <a:xfrm>
            <a:off x="679450" y="1168400"/>
            <a:ext cx="818515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2. Feedforward network has different parameters for each layer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990600" y="2971800"/>
            <a:ext cx="3025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 = f</a:t>
            </a:r>
            <a:r>
              <a:rPr lang="en-US" altLang="en-US" sz="2000" baseline="-25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(a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) = σ(W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 + b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914400" y="5562600"/>
            <a:ext cx="4067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= f(a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, x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) = σ(W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h 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 + W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i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x</a:t>
            </a:r>
            <a:r>
              <a:rPr lang="en-US" altLang="en-US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 + b</a:t>
            </a:r>
            <a:r>
              <a:rPr lang="en-US" altLang="en-US" sz="20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i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  <a:r>
              <a:rPr lang="en-US" altLang="en-US" sz="200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51" grpId="0" animBg="1"/>
      <p:bldP spid="52" grpId="0" animBg="1"/>
      <p:bldP spid="55" grpId="0"/>
      <p:bldP spid="56" grpId="0"/>
      <p:bldP spid="57" grpId="0"/>
      <p:bldP spid="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Applications of LSTM / RNN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1767352"/>
            <a:ext cx="5334000" cy="6869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01" y="3027294"/>
            <a:ext cx="4191000" cy="62394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01" y="4187825"/>
            <a:ext cx="8568721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Neural machine translation</a:t>
            </a:r>
          </a:p>
        </p:txBody>
      </p:sp>
      <p:pic>
        <p:nvPicPr>
          <p:cNvPr id="3277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47800"/>
            <a:ext cx="5748338" cy="531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TextBox 4"/>
          <p:cNvSpPr txBox="1">
            <a:spLocks noChangeArrowheads="1"/>
          </p:cNvSpPr>
          <p:nvPr/>
        </p:nvSpPr>
        <p:spPr bwMode="auto">
          <a:xfrm>
            <a:off x="152400" y="3962400"/>
            <a:ext cx="800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LSTM</a:t>
            </a:r>
          </a:p>
        </p:txBody>
      </p:sp>
      <p:cxnSp>
        <p:nvCxnSpPr>
          <p:cNvPr id="7" name="Straight Arrow Connector 6"/>
          <p:cNvCxnSpPr>
            <a:cxnSpLocks noChangeShapeType="1"/>
          </p:cNvCxnSpPr>
          <p:nvPr/>
        </p:nvCxnSpPr>
        <p:spPr bwMode="auto">
          <a:xfrm flipV="1">
            <a:off x="914400" y="3886200"/>
            <a:ext cx="533400" cy="1524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>
            <a:off x="914400" y="4267200"/>
            <a:ext cx="609600" cy="1524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Sequence to sequence chat model</a:t>
            </a:r>
          </a:p>
        </p:txBody>
      </p:sp>
      <p:pic>
        <p:nvPicPr>
          <p:cNvPr id="3379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0"/>
            <a:ext cx="81153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Chat with context</a:t>
            </a:r>
          </a:p>
        </p:txBody>
      </p:sp>
      <p:pic>
        <p:nvPicPr>
          <p:cNvPr id="34819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1781175"/>
            <a:ext cx="8750300" cy="392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文字方塊 7"/>
          <p:cNvSpPr txBox="1">
            <a:spLocks noChangeArrowheads="1"/>
          </p:cNvSpPr>
          <p:nvPr/>
        </p:nvSpPr>
        <p:spPr bwMode="auto">
          <a:xfrm>
            <a:off x="5118100" y="5532438"/>
            <a:ext cx="2212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U: Hi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4821" name="文字方塊 3"/>
          <p:cNvSpPr txBox="1">
            <a:spLocks noChangeArrowheads="1"/>
          </p:cNvSpPr>
          <p:nvPr/>
        </p:nvSpPr>
        <p:spPr bwMode="auto">
          <a:xfrm>
            <a:off x="966788" y="1933575"/>
            <a:ext cx="1562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U: Hi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4822" name="文字方塊 4"/>
          <p:cNvSpPr txBox="1">
            <a:spLocks noChangeArrowheads="1"/>
          </p:cNvSpPr>
          <p:nvPr/>
        </p:nvSpPr>
        <p:spPr bwMode="auto">
          <a:xfrm>
            <a:off x="966788" y="2346325"/>
            <a:ext cx="15621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M: Hi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9" name="文字方塊 5"/>
          <p:cNvSpPr txBox="1">
            <a:spLocks noChangeArrowheads="1"/>
          </p:cNvSpPr>
          <p:nvPr/>
        </p:nvSpPr>
        <p:spPr bwMode="auto">
          <a:xfrm>
            <a:off x="966788" y="1520825"/>
            <a:ext cx="1562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M: Hello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4824" name="文字方塊 9"/>
          <p:cNvSpPr txBox="1">
            <a:spLocks noChangeArrowheads="1"/>
          </p:cNvSpPr>
          <p:nvPr/>
        </p:nvSpPr>
        <p:spPr bwMode="auto">
          <a:xfrm>
            <a:off x="6611938" y="1290638"/>
            <a:ext cx="2212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M: Hi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1" name="文字方塊 10"/>
          <p:cNvSpPr txBox="1">
            <a:spLocks noChangeArrowheads="1"/>
          </p:cNvSpPr>
          <p:nvPr/>
        </p:nvSpPr>
        <p:spPr bwMode="auto">
          <a:xfrm>
            <a:off x="1092200" y="5602288"/>
            <a:ext cx="2212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M: Hello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4826" name="TextBox 4"/>
          <p:cNvSpPr txBox="1">
            <a:spLocks noChangeArrowheads="1"/>
          </p:cNvSpPr>
          <p:nvPr/>
        </p:nvSpPr>
        <p:spPr bwMode="auto">
          <a:xfrm>
            <a:off x="88900" y="6019800"/>
            <a:ext cx="90551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Serban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 Iulian V., Alessandro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Sordoni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Yoshua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Bengio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 Aaron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Courville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 and Joelle </a:t>
            </a:r>
            <a:r>
              <a:rPr lang="en-US" altLang="en-US" dirty="0" err="1">
                <a:latin typeface="Arial" panose="020B0604020202020204" pitchFamily="34" charset="0"/>
                <a:ea typeface="MS PGothic" panose="020B0600070205080204" pitchFamily="34" charset="-128"/>
              </a:rPr>
              <a:t>Pineau</a:t>
            </a:r>
            <a:r>
              <a:rPr lang="en-US" altLang="en-US" dirty="0">
                <a:latin typeface="Arial" panose="020B0604020202020204" pitchFamily="34" charset="0"/>
                <a:ea typeface="MS PGothic" panose="020B0600070205080204" pitchFamily="34" charset="-128"/>
              </a:rPr>
              <a:t>, 2015 "Building End-To-End Dialogue Systems Using Generative Hierarchical Neural Network Models.</a:t>
            </a:r>
          </a:p>
        </p:txBody>
      </p:sp>
      <p:sp>
        <p:nvSpPr>
          <p:cNvPr id="15" name="矩形 18"/>
          <p:cNvSpPr/>
          <p:nvPr/>
        </p:nvSpPr>
        <p:spPr>
          <a:xfrm>
            <a:off x="-76200" y="3276600"/>
            <a:ext cx="5075238" cy="2328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6" name="矩形 19"/>
          <p:cNvSpPr/>
          <p:nvPr/>
        </p:nvSpPr>
        <p:spPr>
          <a:xfrm>
            <a:off x="1744663" y="3381375"/>
            <a:ext cx="5076825" cy="9048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pic>
        <p:nvPicPr>
          <p:cNvPr id="17" name="Picture 4" descr="相關圖片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0" y="1206500"/>
            <a:ext cx="5302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Baidu’s speech recognition using RNN</a:t>
            </a:r>
          </a:p>
        </p:txBody>
      </p:sp>
      <p:pic>
        <p:nvPicPr>
          <p:cNvPr id="3584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09800"/>
            <a:ext cx="8077200" cy="440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Attention</a:t>
            </a:r>
          </a:p>
        </p:txBody>
      </p:sp>
      <p:pic>
        <p:nvPicPr>
          <p:cNvPr id="3686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7924800" cy="447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200" dirty="0" smtClean="0"/>
              <a:t>Image caption generation using attention</a:t>
            </a:r>
            <a:br>
              <a:rPr lang="en-US" altLang="zh-TW" sz="3200" dirty="0" smtClean="0"/>
            </a:br>
            <a:r>
              <a:rPr lang="en-US" altLang="zh-TW" sz="3200" dirty="0" smtClean="0"/>
              <a:t>(From CY Lee lecture)</a:t>
            </a:r>
            <a:endParaRPr lang="zh-TW" altLang="en-US" sz="3200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71" y="4867497"/>
            <a:ext cx="2326237" cy="14996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isometricTopUp"/>
            <a:lightRig rig="threePt" dir="t"/>
          </a:scene3d>
        </p:spPr>
      </p:pic>
      <p:cxnSp>
        <p:nvCxnSpPr>
          <p:cNvPr id="5" name="直線接點 4"/>
          <p:cNvCxnSpPr/>
          <p:nvPr/>
        </p:nvCxnSpPr>
        <p:spPr>
          <a:xfrm flipV="1">
            <a:off x="1185863" y="5019675"/>
            <a:ext cx="1741487" cy="1138238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1281113" y="5387975"/>
            <a:ext cx="1206500" cy="744538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798638" y="5073650"/>
            <a:ext cx="1276350" cy="758825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 7"/>
          <p:cNvSpPr/>
          <p:nvPr/>
        </p:nvSpPr>
        <p:spPr>
          <a:xfrm>
            <a:off x="2266950" y="4132263"/>
            <a:ext cx="981075" cy="1025525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9" name="手繪多邊形 8"/>
          <p:cNvSpPr/>
          <p:nvPr/>
        </p:nvSpPr>
        <p:spPr>
          <a:xfrm>
            <a:off x="1855788" y="4108450"/>
            <a:ext cx="595312" cy="1279525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10" name="手繪多邊形 9"/>
          <p:cNvSpPr/>
          <p:nvPr/>
        </p:nvSpPr>
        <p:spPr>
          <a:xfrm>
            <a:off x="1247775" y="4140200"/>
            <a:ext cx="407988" cy="1589088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11" name="梯形 10"/>
          <p:cNvSpPr/>
          <p:nvPr/>
        </p:nvSpPr>
        <p:spPr>
          <a:xfrm>
            <a:off x="1270000" y="3695700"/>
            <a:ext cx="792163" cy="449263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梯形 11"/>
          <p:cNvSpPr/>
          <p:nvPr/>
        </p:nvSpPr>
        <p:spPr>
          <a:xfrm>
            <a:off x="2051050" y="3695700"/>
            <a:ext cx="792163" cy="449263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3" name="梯形 12"/>
          <p:cNvSpPr/>
          <p:nvPr/>
        </p:nvSpPr>
        <p:spPr>
          <a:xfrm>
            <a:off x="2843213" y="3695700"/>
            <a:ext cx="793750" cy="449263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4" name="梯形 13"/>
          <p:cNvSpPr/>
          <p:nvPr/>
        </p:nvSpPr>
        <p:spPr>
          <a:xfrm>
            <a:off x="1641475" y="3973513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chemeClr val="tx1"/>
                </a:solidFill>
              </a:rPr>
              <a:t>filter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梯形 14"/>
          <p:cNvSpPr/>
          <p:nvPr/>
        </p:nvSpPr>
        <p:spPr>
          <a:xfrm>
            <a:off x="2422525" y="3973513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6" name="梯形 15"/>
          <p:cNvSpPr/>
          <p:nvPr/>
        </p:nvSpPr>
        <p:spPr>
          <a:xfrm>
            <a:off x="3214688" y="3973513"/>
            <a:ext cx="793750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17" name="直線單箭頭接點 16"/>
          <p:cNvCxnSpPr/>
          <p:nvPr/>
        </p:nvCxnSpPr>
        <p:spPr>
          <a:xfrm flipV="1">
            <a:off x="1665288" y="3389313"/>
            <a:ext cx="0" cy="3063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2027238" y="3667125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2446338" y="3413125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2817813" y="3695700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3240088" y="3413125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3636963" y="3679825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563688" y="2763838"/>
            <a:ext cx="204787" cy="6492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4" name="矩形 23"/>
          <p:cNvSpPr/>
          <p:nvPr/>
        </p:nvSpPr>
        <p:spPr>
          <a:xfrm>
            <a:off x="2332038" y="2752725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5" name="矩形 24"/>
          <p:cNvSpPr/>
          <p:nvPr/>
        </p:nvSpPr>
        <p:spPr>
          <a:xfrm>
            <a:off x="3136900" y="2763838"/>
            <a:ext cx="204788" cy="6492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6" name="矩形 25"/>
          <p:cNvSpPr/>
          <p:nvPr/>
        </p:nvSpPr>
        <p:spPr>
          <a:xfrm>
            <a:off x="1933575" y="3005138"/>
            <a:ext cx="204788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7" name="矩形 26"/>
          <p:cNvSpPr/>
          <p:nvPr/>
        </p:nvSpPr>
        <p:spPr>
          <a:xfrm>
            <a:off x="2722563" y="3076575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8" name="矩形 27"/>
          <p:cNvSpPr/>
          <p:nvPr/>
        </p:nvSpPr>
        <p:spPr>
          <a:xfrm>
            <a:off x="3530600" y="3027363"/>
            <a:ext cx="204788" cy="6492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9" name="手繪多邊形 28"/>
          <p:cNvSpPr/>
          <p:nvPr/>
        </p:nvSpPr>
        <p:spPr>
          <a:xfrm>
            <a:off x="1733550" y="4394200"/>
            <a:ext cx="344488" cy="1668463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30" name="手繪多邊形 29"/>
          <p:cNvSpPr/>
          <p:nvPr/>
        </p:nvSpPr>
        <p:spPr>
          <a:xfrm>
            <a:off x="2374900" y="4418013"/>
            <a:ext cx="490538" cy="1381125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31" name="手繪多邊形 30"/>
          <p:cNvSpPr/>
          <p:nvPr/>
        </p:nvSpPr>
        <p:spPr>
          <a:xfrm>
            <a:off x="2798763" y="4400550"/>
            <a:ext cx="847725" cy="1030288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51" name="矩形 50"/>
          <p:cNvSpPr/>
          <p:nvPr/>
        </p:nvSpPr>
        <p:spPr>
          <a:xfrm>
            <a:off x="5570538" y="2373313"/>
            <a:ext cx="971550" cy="7381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dirty="0">
                <a:solidFill>
                  <a:srgbClr val="000000"/>
                </a:solidFill>
              </a:rPr>
              <a:t>match</a:t>
            </a:r>
            <a:endParaRPr lang="zh-TW" altLang="en-US" sz="2000" dirty="0">
              <a:solidFill>
                <a:srgbClr val="000000"/>
              </a:solidFill>
            </a:endParaRPr>
          </a:p>
        </p:txBody>
      </p:sp>
      <p:cxnSp>
        <p:nvCxnSpPr>
          <p:cNvPr id="52" name="直線單箭頭接點 51"/>
          <p:cNvCxnSpPr>
            <a:cxnSpLocks noChangeShapeType="1"/>
          </p:cNvCxnSpPr>
          <p:nvPr/>
        </p:nvCxnSpPr>
        <p:spPr bwMode="auto">
          <a:xfrm flipV="1">
            <a:off x="6542088" y="2717800"/>
            <a:ext cx="360362" cy="63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5" name="文字方塊 54"/>
          <p:cNvSpPr txBox="1">
            <a:spLocks noChangeArrowheads="1"/>
          </p:cNvSpPr>
          <p:nvPr/>
        </p:nvSpPr>
        <p:spPr bwMode="auto">
          <a:xfrm>
            <a:off x="6891338" y="2511425"/>
            <a:ext cx="838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0.7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7922" name="文字方塊 59"/>
          <p:cNvSpPr txBox="1">
            <a:spLocks noChangeArrowheads="1"/>
          </p:cNvSpPr>
          <p:nvPr/>
        </p:nvSpPr>
        <p:spPr bwMode="auto">
          <a:xfrm>
            <a:off x="374650" y="3825875"/>
            <a:ext cx="749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CNN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2" name="梯形 71"/>
          <p:cNvSpPr/>
          <p:nvPr/>
        </p:nvSpPr>
        <p:spPr>
          <a:xfrm>
            <a:off x="5378450" y="5659438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3" name="梯形 72"/>
          <p:cNvSpPr/>
          <p:nvPr/>
        </p:nvSpPr>
        <p:spPr>
          <a:xfrm>
            <a:off x="6159500" y="5659438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4" name="梯形 73"/>
          <p:cNvSpPr/>
          <p:nvPr/>
        </p:nvSpPr>
        <p:spPr>
          <a:xfrm>
            <a:off x="6951663" y="5659438"/>
            <a:ext cx="793750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5" name="梯形 74"/>
          <p:cNvSpPr/>
          <p:nvPr/>
        </p:nvSpPr>
        <p:spPr>
          <a:xfrm>
            <a:off x="5749925" y="5938838"/>
            <a:ext cx="792163" cy="447675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6" name="梯形 75"/>
          <p:cNvSpPr/>
          <p:nvPr/>
        </p:nvSpPr>
        <p:spPr>
          <a:xfrm>
            <a:off x="6530975" y="5938838"/>
            <a:ext cx="792163" cy="447675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7" name="梯形 76"/>
          <p:cNvSpPr/>
          <p:nvPr/>
        </p:nvSpPr>
        <p:spPr>
          <a:xfrm>
            <a:off x="7323138" y="5938838"/>
            <a:ext cx="793750" cy="447675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78" name="直線單箭頭接點 77"/>
          <p:cNvCxnSpPr/>
          <p:nvPr/>
        </p:nvCxnSpPr>
        <p:spPr>
          <a:xfrm flipV="1">
            <a:off x="5775325" y="5353050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6135688" y="5630863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V="1">
            <a:off x="6556375" y="5376863"/>
            <a:ext cx="0" cy="3063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V="1">
            <a:off x="6927850" y="5659438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V="1">
            <a:off x="7348538" y="5376863"/>
            <a:ext cx="0" cy="3063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V="1">
            <a:off x="7745413" y="5643563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5672138" y="472916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5" name="矩形 84"/>
          <p:cNvSpPr/>
          <p:nvPr/>
        </p:nvSpPr>
        <p:spPr>
          <a:xfrm>
            <a:off x="6440488" y="471646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6" name="矩形 85"/>
          <p:cNvSpPr/>
          <p:nvPr/>
        </p:nvSpPr>
        <p:spPr>
          <a:xfrm>
            <a:off x="7246938" y="472916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7" name="矩形 86"/>
          <p:cNvSpPr/>
          <p:nvPr/>
        </p:nvSpPr>
        <p:spPr>
          <a:xfrm>
            <a:off x="6042025" y="4968875"/>
            <a:ext cx="204788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8" name="矩形 87"/>
          <p:cNvSpPr/>
          <p:nvPr/>
        </p:nvSpPr>
        <p:spPr>
          <a:xfrm>
            <a:off x="6831013" y="504031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9" name="矩形 88"/>
          <p:cNvSpPr/>
          <p:nvPr/>
        </p:nvSpPr>
        <p:spPr>
          <a:xfrm>
            <a:off x="7640638" y="4992688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cxnSp>
        <p:nvCxnSpPr>
          <p:cNvPr id="94" name="直線單箭頭接點 93"/>
          <p:cNvCxnSpPr>
            <a:cxnSpLocks noChangeShapeType="1"/>
          </p:cNvCxnSpPr>
          <p:nvPr/>
        </p:nvCxnSpPr>
        <p:spPr bwMode="auto">
          <a:xfrm flipV="1">
            <a:off x="5789613" y="3105150"/>
            <a:ext cx="0" cy="161131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8" name="群組 97"/>
          <p:cNvGrpSpPr>
            <a:grpSpLocks/>
          </p:cNvGrpSpPr>
          <p:nvPr/>
        </p:nvGrpSpPr>
        <p:grpSpPr bwMode="auto">
          <a:xfrm>
            <a:off x="4521200" y="2268538"/>
            <a:ext cx="460375" cy="900112"/>
            <a:chOff x="4123648" y="5748055"/>
            <a:chExt cx="461666" cy="900000"/>
          </a:xfrm>
        </p:grpSpPr>
        <p:sp>
          <p:nvSpPr>
            <p:cNvPr id="99" name="矩形 98"/>
            <p:cNvSpPr>
              <a:spLocks noChangeArrowheads="1"/>
            </p:cNvSpPr>
            <p:nvPr/>
          </p:nvSpPr>
          <p:spPr bwMode="auto">
            <a:xfrm>
              <a:off x="4123648" y="5748055"/>
              <a:ext cx="461666" cy="900000"/>
            </a:xfrm>
            <a:prstGeom prst="rect">
              <a:avLst/>
            </a:prstGeom>
            <a:gradFill rotWithShape="1">
              <a:gsLst>
                <a:gs pos="0">
                  <a:srgbClr val="F5F5FC"/>
                </a:gs>
                <a:gs pos="64999">
                  <a:srgbClr val="E6E6F6"/>
                </a:gs>
                <a:gs pos="100000">
                  <a:srgbClr val="DCDCF3"/>
                </a:gs>
              </a:gsLst>
              <a:lin ang="5400000" scaled="1"/>
            </a:gradFill>
            <a:ln w="9525">
              <a:solidFill>
                <a:srgbClr val="BFBFD2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37947" name="文字方塊 99"/>
            <p:cNvSpPr txBox="1">
              <a:spLocks noChangeArrowheads="1"/>
            </p:cNvSpPr>
            <p:nvPr/>
          </p:nvSpPr>
          <p:spPr bwMode="auto">
            <a:xfrm>
              <a:off x="4196384" y="6013389"/>
              <a:ext cx="22333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CA" altLang="zh-TW" sz="2000">
                  <a:latin typeface="Arial" panose="020B0604020202020204" pitchFamily="34" charset="0"/>
                  <a:ea typeface="MS PGothic" panose="020B0600070205080204" pitchFamily="34" charset="-128"/>
                </a:rPr>
                <a:t>z</a:t>
              </a:r>
              <a:r>
                <a:rPr lang="en-CA" altLang="zh-TW" sz="2000" baseline="30000">
                  <a:latin typeface="Arial" panose="020B0604020202020204" pitchFamily="34" charset="0"/>
                  <a:ea typeface="MS PGothic" panose="020B0600070205080204" pitchFamily="34" charset="-128"/>
                </a:rPr>
                <a:t>0</a:t>
              </a:r>
              <a:endParaRPr lang="zh-TW" altLang="en-US" sz="2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cxnSp>
        <p:nvCxnSpPr>
          <p:cNvPr id="101" name="直線單箭頭接點 100"/>
          <p:cNvCxnSpPr>
            <a:endCxn id="51" idx="1"/>
          </p:cNvCxnSpPr>
          <p:nvPr/>
        </p:nvCxnSpPr>
        <p:spPr>
          <a:xfrm>
            <a:off x="5033963" y="2717800"/>
            <a:ext cx="5365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44" name="文字方塊 58"/>
          <p:cNvSpPr txBox="1">
            <a:spLocks noChangeArrowheads="1"/>
          </p:cNvSpPr>
          <p:nvPr/>
        </p:nvSpPr>
        <p:spPr bwMode="auto">
          <a:xfrm>
            <a:off x="1620838" y="1795463"/>
            <a:ext cx="1965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A vector for each region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962400" y="1676400"/>
            <a:ext cx="41703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z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0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 is initial parameter, it is also learned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Image Caption Generation</a:t>
            </a:r>
            <a:endParaRPr lang="zh-TW" altLang="en-US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71" y="4867497"/>
            <a:ext cx="2326237" cy="14996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isometricTopUp"/>
            <a:lightRig rig="threePt" dir="t"/>
          </a:scene3d>
        </p:spPr>
      </p:pic>
      <p:cxnSp>
        <p:nvCxnSpPr>
          <p:cNvPr id="5" name="直線接點 4"/>
          <p:cNvCxnSpPr/>
          <p:nvPr/>
        </p:nvCxnSpPr>
        <p:spPr>
          <a:xfrm flipV="1">
            <a:off x="1185863" y="5019675"/>
            <a:ext cx="1741487" cy="1138238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1281113" y="5387975"/>
            <a:ext cx="1206500" cy="744538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798638" y="5073650"/>
            <a:ext cx="1276350" cy="758825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 7"/>
          <p:cNvSpPr/>
          <p:nvPr/>
        </p:nvSpPr>
        <p:spPr>
          <a:xfrm>
            <a:off x="2266950" y="4132263"/>
            <a:ext cx="981075" cy="1025525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9" name="手繪多邊形 8"/>
          <p:cNvSpPr/>
          <p:nvPr/>
        </p:nvSpPr>
        <p:spPr>
          <a:xfrm>
            <a:off x="1855788" y="4108450"/>
            <a:ext cx="595312" cy="1279525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10" name="手繪多邊形 9"/>
          <p:cNvSpPr/>
          <p:nvPr/>
        </p:nvSpPr>
        <p:spPr>
          <a:xfrm>
            <a:off x="1247775" y="4140200"/>
            <a:ext cx="407988" cy="1589088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11" name="梯形 10"/>
          <p:cNvSpPr/>
          <p:nvPr/>
        </p:nvSpPr>
        <p:spPr>
          <a:xfrm>
            <a:off x="1270000" y="3695700"/>
            <a:ext cx="792163" cy="449263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梯形 11"/>
          <p:cNvSpPr/>
          <p:nvPr/>
        </p:nvSpPr>
        <p:spPr>
          <a:xfrm>
            <a:off x="2051050" y="3695700"/>
            <a:ext cx="792163" cy="449263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3" name="梯形 12"/>
          <p:cNvSpPr/>
          <p:nvPr/>
        </p:nvSpPr>
        <p:spPr>
          <a:xfrm>
            <a:off x="2843213" y="3695700"/>
            <a:ext cx="793750" cy="449263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4" name="梯形 13"/>
          <p:cNvSpPr/>
          <p:nvPr/>
        </p:nvSpPr>
        <p:spPr>
          <a:xfrm>
            <a:off x="1641475" y="3973513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5" name="梯形 14"/>
          <p:cNvSpPr/>
          <p:nvPr/>
        </p:nvSpPr>
        <p:spPr>
          <a:xfrm>
            <a:off x="2422525" y="3973513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6" name="梯形 15"/>
          <p:cNvSpPr/>
          <p:nvPr/>
        </p:nvSpPr>
        <p:spPr>
          <a:xfrm>
            <a:off x="3214688" y="3973513"/>
            <a:ext cx="793750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17" name="直線單箭頭接點 16"/>
          <p:cNvCxnSpPr/>
          <p:nvPr/>
        </p:nvCxnSpPr>
        <p:spPr>
          <a:xfrm flipV="1">
            <a:off x="1665288" y="3389313"/>
            <a:ext cx="0" cy="3063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2027238" y="3667125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2446338" y="3413125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2817813" y="3695700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3240088" y="3413125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3636963" y="3679825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563688" y="2763838"/>
            <a:ext cx="204787" cy="6492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4" name="矩形 23"/>
          <p:cNvSpPr/>
          <p:nvPr/>
        </p:nvSpPr>
        <p:spPr>
          <a:xfrm>
            <a:off x="2332038" y="2752725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5" name="矩形 24"/>
          <p:cNvSpPr/>
          <p:nvPr/>
        </p:nvSpPr>
        <p:spPr>
          <a:xfrm>
            <a:off x="3136900" y="2763838"/>
            <a:ext cx="204788" cy="6492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6" name="矩形 25"/>
          <p:cNvSpPr/>
          <p:nvPr/>
        </p:nvSpPr>
        <p:spPr>
          <a:xfrm>
            <a:off x="1933575" y="3005138"/>
            <a:ext cx="204788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7" name="矩形 26"/>
          <p:cNvSpPr/>
          <p:nvPr/>
        </p:nvSpPr>
        <p:spPr>
          <a:xfrm>
            <a:off x="2722563" y="3076575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8" name="矩形 27"/>
          <p:cNvSpPr/>
          <p:nvPr/>
        </p:nvSpPr>
        <p:spPr>
          <a:xfrm>
            <a:off x="3530600" y="3027363"/>
            <a:ext cx="204788" cy="6492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9" name="手繪多邊形 28"/>
          <p:cNvSpPr/>
          <p:nvPr/>
        </p:nvSpPr>
        <p:spPr>
          <a:xfrm>
            <a:off x="1733550" y="4394200"/>
            <a:ext cx="344488" cy="1668463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30" name="手繪多邊形 29"/>
          <p:cNvSpPr/>
          <p:nvPr/>
        </p:nvSpPr>
        <p:spPr>
          <a:xfrm>
            <a:off x="2374900" y="4418013"/>
            <a:ext cx="490538" cy="1381125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31" name="手繪多邊形 30"/>
          <p:cNvSpPr/>
          <p:nvPr/>
        </p:nvSpPr>
        <p:spPr>
          <a:xfrm>
            <a:off x="2798763" y="4400550"/>
            <a:ext cx="847725" cy="1030288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39967" name="文字方塊 59"/>
          <p:cNvSpPr txBox="1">
            <a:spLocks noChangeArrowheads="1"/>
          </p:cNvSpPr>
          <p:nvPr/>
        </p:nvSpPr>
        <p:spPr bwMode="auto">
          <a:xfrm>
            <a:off x="374650" y="3825875"/>
            <a:ext cx="749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CNN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2" name="梯形 71"/>
          <p:cNvSpPr/>
          <p:nvPr/>
        </p:nvSpPr>
        <p:spPr>
          <a:xfrm>
            <a:off x="5378450" y="5659438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3" name="梯形 72"/>
          <p:cNvSpPr/>
          <p:nvPr/>
        </p:nvSpPr>
        <p:spPr>
          <a:xfrm>
            <a:off x="6159500" y="5659438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4" name="梯形 73"/>
          <p:cNvSpPr/>
          <p:nvPr/>
        </p:nvSpPr>
        <p:spPr>
          <a:xfrm>
            <a:off x="6951663" y="5659438"/>
            <a:ext cx="793750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5" name="梯形 74"/>
          <p:cNvSpPr/>
          <p:nvPr/>
        </p:nvSpPr>
        <p:spPr>
          <a:xfrm>
            <a:off x="5749925" y="5938838"/>
            <a:ext cx="792163" cy="447675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6" name="梯形 75"/>
          <p:cNvSpPr/>
          <p:nvPr/>
        </p:nvSpPr>
        <p:spPr>
          <a:xfrm>
            <a:off x="6530975" y="5938838"/>
            <a:ext cx="792163" cy="447675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7" name="梯形 76"/>
          <p:cNvSpPr/>
          <p:nvPr/>
        </p:nvSpPr>
        <p:spPr>
          <a:xfrm>
            <a:off x="7323138" y="5938838"/>
            <a:ext cx="793750" cy="447675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78" name="直線單箭頭接點 77"/>
          <p:cNvCxnSpPr/>
          <p:nvPr/>
        </p:nvCxnSpPr>
        <p:spPr>
          <a:xfrm flipV="1">
            <a:off x="5775325" y="5353050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6135688" y="5630863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V="1">
            <a:off x="6556375" y="5376863"/>
            <a:ext cx="0" cy="3063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V="1">
            <a:off x="6927850" y="5659438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V="1">
            <a:off x="7348538" y="5376863"/>
            <a:ext cx="0" cy="3063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V="1">
            <a:off x="7745413" y="5643563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5672138" y="472916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5" name="矩形 84"/>
          <p:cNvSpPr/>
          <p:nvPr/>
        </p:nvSpPr>
        <p:spPr>
          <a:xfrm>
            <a:off x="6440488" y="471646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6" name="矩形 85"/>
          <p:cNvSpPr/>
          <p:nvPr/>
        </p:nvSpPr>
        <p:spPr>
          <a:xfrm>
            <a:off x="7246938" y="472916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7" name="矩形 86"/>
          <p:cNvSpPr/>
          <p:nvPr/>
        </p:nvSpPr>
        <p:spPr>
          <a:xfrm>
            <a:off x="6042025" y="4968875"/>
            <a:ext cx="204788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8" name="矩形 87"/>
          <p:cNvSpPr/>
          <p:nvPr/>
        </p:nvSpPr>
        <p:spPr>
          <a:xfrm>
            <a:off x="6831013" y="504031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9" name="矩形 88"/>
          <p:cNvSpPr/>
          <p:nvPr/>
        </p:nvSpPr>
        <p:spPr>
          <a:xfrm>
            <a:off x="7640638" y="4992688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39986" name="文字方塊 89"/>
          <p:cNvSpPr txBox="1">
            <a:spLocks noChangeArrowheads="1"/>
          </p:cNvSpPr>
          <p:nvPr/>
        </p:nvSpPr>
        <p:spPr bwMode="auto">
          <a:xfrm>
            <a:off x="1620838" y="1795463"/>
            <a:ext cx="1965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A vector for each region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87" name="文字方塊 62"/>
          <p:cNvSpPr txBox="1">
            <a:spLocks noChangeArrowheads="1"/>
          </p:cNvSpPr>
          <p:nvPr/>
        </p:nvSpPr>
        <p:spPr bwMode="auto">
          <a:xfrm>
            <a:off x="5527675" y="4376738"/>
            <a:ext cx="635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0.7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88" name="文字方塊 63"/>
          <p:cNvSpPr txBox="1">
            <a:spLocks noChangeArrowheads="1"/>
          </p:cNvSpPr>
          <p:nvPr/>
        </p:nvSpPr>
        <p:spPr bwMode="auto">
          <a:xfrm>
            <a:off x="6324600" y="4362450"/>
            <a:ext cx="692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0.1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89" name="文字方塊 64"/>
          <p:cNvSpPr txBox="1">
            <a:spLocks noChangeArrowheads="1"/>
          </p:cNvSpPr>
          <p:nvPr/>
        </p:nvSpPr>
        <p:spPr bwMode="auto">
          <a:xfrm>
            <a:off x="7124700" y="4368800"/>
            <a:ext cx="611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0.1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90" name="文字方塊 65"/>
          <p:cNvSpPr txBox="1">
            <a:spLocks noChangeArrowheads="1"/>
          </p:cNvSpPr>
          <p:nvPr/>
        </p:nvSpPr>
        <p:spPr bwMode="auto">
          <a:xfrm>
            <a:off x="5916613" y="4675188"/>
            <a:ext cx="657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0.1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91" name="文字方塊 66"/>
          <p:cNvSpPr txBox="1">
            <a:spLocks noChangeArrowheads="1"/>
          </p:cNvSpPr>
          <p:nvPr/>
        </p:nvSpPr>
        <p:spPr bwMode="auto">
          <a:xfrm>
            <a:off x="6716713" y="4721225"/>
            <a:ext cx="64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0.0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9992" name="文字方塊 67"/>
          <p:cNvSpPr txBox="1">
            <a:spLocks noChangeArrowheads="1"/>
          </p:cNvSpPr>
          <p:nvPr/>
        </p:nvSpPr>
        <p:spPr bwMode="auto">
          <a:xfrm>
            <a:off x="7537450" y="4675188"/>
            <a:ext cx="587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0.0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70" name="直線單箭頭接點 69"/>
          <p:cNvCxnSpPr>
            <a:endCxn id="103" idx="2"/>
          </p:cNvCxnSpPr>
          <p:nvPr/>
        </p:nvCxnSpPr>
        <p:spPr>
          <a:xfrm flipV="1">
            <a:off x="5781675" y="4125913"/>
            <a:ext cx="176213" cy="28733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>
            <a:spLocks noChangeArrowheads="1"/>
          </p:cNvSpPr>
          <p:nvPr/>
        </p:nvSpPr>
        <p:spPr bwMode="auto">
          <a:xfrm>
            <a:off x="4343400" y="3505200"/>
            <a:ext cx="14938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weighted sum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95" name="直線單箭頭接點 94"/>
          <p:cNvCxnSpPr>
            <a:endCxn id="103" idx="2"/>
          </p:cNvCxnSpPr>
          <p:nvPr/>
        </p:nvCxnSpPr>
        <p:spPr>
          <a:xfrm flipH="1" flipV="1">
            <a:off x="5957888" y="4125913"/>
            <a:ext cx="514350" cy="306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endCxn id="103" idx="2"/>
          </p:cNvCxnSpPr>
          <p:nvPr/>
        </p:nvCxnSpPr>
        <p:spPr>
          <a:xfrm flipH="1" flipV="1">
            <a:off x="5957888" y="4125913"/>
            <a:ext cx="1390650" cy="3587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 flipV="1">
            <a:off x="5902325" y="2000250"/>
            <a:ext cx="0" cy="2698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>
            <a:spLocks noChangeArrowheads="1"/>
          </p:cNvSpPr>
          <p:nvPr/>
        </p:nvSpPr>
        <p:spPr bwMode="auto">
          <a:xfrm>
            <a:off x="5729288" y="3470275"/>
            <a:ext cx="457200" cy="655638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800" smtClean="0">
              <a:solidFill>
                <a:srgbClr val="000000"/>
              </a:solidFill>
            </a:endParaRPr>
          </a:p>
        </p:txBody>
      </p:sp>
      <p:cxnSp>
        <p:nvCxnSpPr>
          <p:cNvPr id="104" name="直線單箭頭接點 103"/>
          <p:cNvCxnSpPr>
            <a:endCxn id="103" idx="2"/>
          </p:cNvCxnSpPr>
          <p:nvPr/>
        </p:nvCxnSpPr>
        <p:spPr>
          <a:xfrm flipH="1" flipV="1">
            <a:off x="5957888" y="4125913"/>
            <a:ext cx="185737" cy="6619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群組 104"/>
          <p:cNvGrpSpPr>
            <a:grpSpLocks/>
          </p:cNvGrpSpPr>
          <p:nvPr/>
        </p:nvGrpSpPr>
        <p:grpSpPr bwMode="auto">
          <a:xfrm>
            <a:off x="5700713" y="2292350"/>
            <a:ext cx="461962" cy="900113"/>
            <a:chOff x="4123648" y="5748055"/>
            <a:chExt cx="461666" cy="900000"/>
          </a:xfrm>
        </p:grpSpPr>
        <p:sp>
          <p:nvSpPr>
            <p:cNvPr id="106" name="矩形 105"/>
            <p:cNvSpPr>
              <a:spLocks noChangeArrowheads="1"/>
            </p:cNvSpPr>
            <p:nvPr/>
          </p:nvSpPr>
          <p:spPr bwMode="auto">
            <a:xfrm>
              <a:off x="4123648" y="5748055"/>
              <a:ext cx="461666" cy="900000"/>
            </a:xfrm>
            <a:prstGeom prst="rect">
              <a:avLst/>
            </a:prstGeom>
            <a:gradFill rotWithShape="1">
              <a:gsLst>
                <a:gs pos="0">
                  <a:srgbClr val="F5F5FC"/>
                </a:gs>
                <a:gs pos="64999">
                  <a:srgbClr val="E6E6F6"/>
                </a:gs>
                <a:gs pos="100000">
                  <a:srgbClr val="DCDCF3"/>
                </a:gs>
              </a:gsLst>
              <a:lin ang="5400000" scaled="1"/>
            </a:gradFill>
            <a:ln w="9525">
              <a:solidFill>
                <a:srgbClr val="BFBFD2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40009" name="文字方塊 106"/>
            <p:cNvSpPr txBox="1">
              <a:spLocks noChangeArrowheads="1"/>
            </p:cNvSpPr>
            <p:nvPr/>
          </p:nvSpPr>
          <p:spPr bwMode="auto">
            <a:xfrm>
              <a:off x="4196384" y="6013389"/>
              <a:ext cx="22333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CA" altLang="zh-TW" sz="2000">
                  <a:latin typeface="Arial" panose="020B0604020202020204" pitchFamily="34" charset="0"/>
                  <a:ea typeface="MS PGothic" panose="020B0600070205080204" pitchFamily="34" charset="-128"/>
                </a:rPr>
                <a:t>z</a:t>
              </a:r>
              <a:r>
                <a:rPr lang="en-CA" altLang="zh-TW" sz="2000" baseline="30000">
                  <a:latin typeface="Arial" panose="020B0604020202020204" pitchFamily="34" charset="0"/>
                  <a:ea typeface="MS PGothic" panose="020B0600070205080204" pitchFamily="34" charset="-128"/>
                </a:rPr>
                <a:t>1</a:t>
              </a:r>
              <a:endParaRPr lang="zh-TW" altLang="en-US" sz="2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108" name="矩形 107"/>
          <p:cNvSpPr>
            <a:spLocks noChangeArrowheads="1"/>
          </p:cNvSpPr>
          <p:nvPr/>
        </p:nvSpPr>
        <p:spPr bwMode="auto">
          <a:xfrm>
            <a:off x="5486400" y="1339850"/>
            <a:ext cx="838200" cy="657225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800" smtClean="0">
              <a:solidFill>
                <a:srgbClr val="000000"/>
              </a:solidFill>
            </a:endParaRPr>
          </a:p>
        </p:txBody>
      </p:sp>
      <p:sp>
        <p:nvSpPr>
          <p:cNvPr id="99" name="文字方塊 98"/>
          <p:cNvSpPr txBox="1">
            <a:spLocks noChangeArrowheads="1"/>
          </p:cNvSpPr>
          <p:nvPr/>
        </p:nvSpPr>
        <p:spPr bwMode="auto">
          <a:xfrm>
            <a:off x="5310188" y="1452563"/>
            <a:ext cx="1204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Word 1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109" name="直線單箭頭接點 108"/>
          <p:cNvCxnSpPr/>
          <p:nvPr/>
        </p:nvCxnSpPr>
        <p:spPr>
          <a:xfrm flipV="1">
            <a:off x="5945188" y="3194050"/>
            <a:ext cx="0" cy="2698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/>
          <p:cNvSpPr>
            <a:spLocks noChangeArrowheads="1"/>
          </p:cNvSpPr>
          <p:nvPr/>
        </p:nvSpPr>
        <p:spPr bwMode="auto">
          <a:xfrm>
            <a:off x="4521200" y="2268538"/>
            <a:ext cx="460375" cy="900112"/>
          </a:xfrm>
          <a:prstGeom prst="rect">
            <a:avLst/>
          </a:prstGeom>
          <a:gradFill rotWithShape="1">
            <a:gsLst>
              <a:gs pos="0">
                <a:srgbClr val="F5F5FC"/>
              </a:gs>
              <a:gs pos="64999">
                <a:srgbClr val="E6E6F6"/>
              </a:gs>
              <a:gs pos="100000">
                <a:srgbClr val="DCDCF3"/>
              </a:gs>
            </a:gsLst>
            <a:lin ang="5400000" scaled="1"/>
          </a:gradFill>
          <a:ln w="9525">
            <a:solidFill>
              <a:srgbClr val="BFBFD2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altLang="zh-TW" sz="1800" smtClean="0">
                <a:solidFill>
                  <a:srgbClr val="000000"/>
                </a:solidFill>
              </a:rPr>
              <a:t>z</a:t>
            </a:r>
            <a:r>
              <a:rPr lang="en-CA" altLang="zh-TW" sz="1800" baseline="30000" smtClean="0">
                <a:solidFill>
                  <a:srgbClr val="000000"/>
                </a:solidFill>
              </a:rPr>
              <a:t>0</a:t>
            </a:r>
            <a:endParaRPr lang="zh-TW" altLang="en-US" sz="1800" smtClean="0">
              <a:solidFill>
                <a:srgbClr val="000000"/>
              </a:solidFill>
            </a:endParaRPr>
          </a:p>
        </p:txBody>
      </p:sp>
      <p:cxnSp>
        <p:nvCxnSpPr>
          <p:cNvPr id="114" name="直線單箭頭接點 113"/>
          <p:cNvCxnSpPr/>
          <p:nvPr/>
        </p:nvCxnSpPr>
        <p:spPr>
          <a:xfrm flipV="1">
            <a:off x="5033963" y="2717800"/>
            <a:ext cx="6381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cxnSpLocks noChangeShapeType="1"/>
          </p:cNvCxnSpPr>
          <p:nvPr/>
        </p:nvCxnSpPr>
        <p:spPr bwMode="auto">
          <a:xfrm flipH="1">
            <a:off x="7543800" y="3657600"/>
            <a:ext cx="304800" cy="6096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arrow" w="med" len="med"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007" name="TextBox 32"/>
          <p:cNvSpPr txBox="1">
            <a:spLocks noChangeArrowheads="1"/>
          </p:cNvSpPr>
          <p:nvPr/>
        </p:nvSpPr>
        <p:spPr bwMode="auto">
          <a:xfrm>
            <a:off x="7391400" y="2971800"/>
            <a:ext cx="1365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Attention to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a region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103" grpId="0" animBg="1"/>
      <p:bldP spid="108" grpId="0" animBg="1"/>
      <p:bldP spid="9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Image Caption Generation</a:t>
            </a:r>
            <a:endParaRPr lang="zh-TW" altLang="en-US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71" y="4867497"/>
            <a:ext cx="2326237" cy="14996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scene3d>
            <a:camera prst="isometricTopUp"/>
            <a:lightRig rig="threePt" dir="t"/>
          </a:scene3d>
        </p:spPr>
      </p:pic>
      <p:cxnSp>
        <p:nvCxnSpPr>
          <p:cNvPr id="5" name="直線接點 4"/>
          <p:cNvCxnSpPr/>
          <p:nvPr/>
        </p:nvCxnSpPr>
        <p:spPr>
          <a:xfrm flipV="1">
            <a:off x="1185863" y="5019675"/>
            <a:ext cx="1741487" cy="1138238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>
            <a:off x="1281113" y="5387975"/>
            <a:ext cx="1206500" cy="744538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1798638" y="5073650"/>
            <a:ext cx="1276350" cy="758825"/>
          </a:xfrm>
          <a:prstGeom prst="line">
            <a:avLst/>
          </a:prstGeom>
          <a:ln w="571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手繪多邊形 7"/>
          <p:cNvSpPr/>
          <p:nvPr/>
        </p:nvSpPr>
        <p:spPr>
          <a:xfrm>
            <a:off x="2266950" y="4132263"/>
            <a:ext cx="981075" cy="1025525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9" name="手繪多邊形 8"/>
          <p:cNvSpPr/>
          <p:nvPr/>
        </p:nvSpPr>
        <p:spPr>
          <a:xfrm>
            <a:off x="1855788" y="4108450"/>
            <a:ext cx="595312" cy="1279525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10" name="手繪多邊形 9"/>
          <p:cNvSpPr/>
          <p:nvPr/>
        </p:nvSpPr>
        <p:spPr>
          <a:xfrm>
            <a:off x="1247775" y="4140200"/>
            <a:ext cx="407988" cy="1589088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11" name="梯形 10"/>
          <p:cNvSpPr/>
          <p:nvPr/>
        </p:nvSpPr>
        <p:spPr>
          <a:xfrm>
            <a:off x="1270000" y="3695700"/>
            <a:ext cx="792163" cy="449263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2" name="梯形 11"/>
          <p:cNvSpPr/>
          <p:nvPr/>
        </p:nvSpPr>
        <p:spPr>
          <a:xfrm>
            <a:off x="2051050" y="3695700"/>
            <a:ext cx="792163" cy="449263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3" name="梯形 12"/>
          <p:cNvSpPr/>
          <p:nvPr/>
        </p:nvSpPr>
        <p:spPr>
          <a:xfrm>
            <a:off x="2843213" y="3695700"/>
            <a:ext cx="793750" cy="449263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4" name="梯形 13"/>
          <p:cNvSpPr/>
          <p:nvPr/>
        </p:nvSpPr>
        <p:spPr>
          <a:xfrm>
            <a:off x="1641475" y="3973513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5" name="梯形 14"/>
          <p:cNvSpPr/>
          <p:nvPr/>
        </p:nvSpPr>
        <p:spPr>
          <a:xfrm>
            <a:off x="2422525" y="3973513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16" name="梯形 15"/>
          <p:cNvSpPr/>
          <p:nvPr/>
        </p:nvSpPr>
        <p:spPr>
          <a:xfrm>
            <a:off x="3214688" y="3973513"/>
            <a:ext cx="793750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17" name="直線單箭頭接點 16"/>
          <p:cNvCxnSpPr/>
          <p:nvPr/>
        </p:nvCxnSpPr>
        <p:spPr>
          <a:xfrm flipV="1">
            <a:off x="1665288" y="3389313"/>
            <a:ext cx="0" cy="3063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2027238" y="3667125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2446338" y="3413125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2817813" y="3695700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3240088" y="3413125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3636963" y="3679825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563688" y="2763838"/>
            <a:ext cx="204787" cy="6492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4" name="矩形 23"/>
          <p:cNvSpPr/>
          <p:nvPr/>
        </p:nvSpPr>
        <p:spPr>
          <a:xfrm>
            <a:off x="2332038" y="2752725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5" name="矩形 24"/>
          <p:cNvSpPr/>
          <p:nvPr/>
        </p:nvSpPr>
        <p:spPr>
          <a:xfrm>
            <a:off x="3136900" y="2763838"/>
            <a:ext cx="204788" cy="6492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6" name="矩形 25"/>
          <p:cNvSpPr/>
          <p:nvPr/>
        </p:nvSpPr>
        <p:spPr>
          <a:xfrm>
            <a:off x="1933575" y="3005138"/>
            <a:ext cx="204788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7" name="矩形 26"/>
          <p:cNvSpPr/>
          <p:nvPr/>
        </p:nvSpPr>
        <p:spPr>
          <a:xfrm>
            <a:off x="2722563" y="3076575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8" name="矩形 27"/>
          <p:cNvSpPr/>
          <p:nvPr/>
        </p:nvSpPr>
        <p:spPr>
          <a:xfrm>
            <a:off x="3530600" y="3027363"/>
            <a:ext cx="204788" cy="6492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29" name="手繪多邊形 28"/>
          <p:cNvSpPr/>
          <p:nvPr/>
        </p:nvSpPr>
        <p:spPr>
          <a:xfrm>
            <a:off x="1733550" y="4394200"/>
            <a:ext cx="344488" cy="1668463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30" name="手繪多邊形 29"/>
          <p:cNvSpPr/>
          <p:nvPr/>
        </p:nvSpPr>
        <p:spPr>
          <a:xfrm>
            <a:off x="2374900" y="4418013"/>
            <a:ext cx="490538" cy="1381125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31" name="手繪多邊形 30"/>
          <p:cNvSpPr/>
          <p:nvPr/>
        </p:nvSpPr>
        <p:spPr>
          <a:xfrm>
            <a:off x="2798763" y="4400550"/>
            <a:ext cx="847725" cy="1030288"/>
          </a:xfrm>
          <a:custGeom>
            <a:avLst/>
            <a:gdLst>
              <a:gd name="connsiteX0" fmla="*/ 0 w 1129686"/>
              <a:gd name="connsiteY0" fmla="*/ 2169994 h 2169994"/>
              <a:gd name="connsiteX1" fmla="*/ 996286 w 1129686"/>
              <a:gd name="connsiteY1" fmla="*/ 1037230 h 2169994"/>
              <a:gd name="connsiteX2" fmla="*/ 1091820 w 1129686"/>
              <a:gd name="connsiteY2" fmla="*/ 0 h 2169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9686" h="2169994">
                <a:moveTo>
                  <a:pt x="0" y="2169994"/>
                </a:moveTo>
                <a:cubicBezTo>
                  <a:pt x="407158" y="1784445"/>
                  <a:pt x="814316" y="1398896"/>
                  <a:pt x="996286" y="1037230"/>
                </a:cubicBezTo>
                <a:cubicBezTo>
                  <a:pt x="1178256" y="675564"/>
                  <a:pt x="1135038" y="337782"/>
                  <a:pt x="1091820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42015" name="文字方塊 59"/>
          <p:cNvSpPr txBox="1">
            <a:spLocks noChangeArrowheads="1"/>
          </p:cNvSpPr>
          <p:nvPr/>
        </p:nvSpPr>
        <p:spPr bwMode="auto">
          <a:xfrm>
            <a:off x="374650" y="3825875"/>
            <a:ext cx="749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CNN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2" name="梯形 71"/>
          <p:cNvSpPr/>
          <p:nvPr/>
        </p:nvSpPr>
        <p:spPr>
          <a:xfrm>
            <a:off x="5378450" y="5659438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3" name="梯形 72"/>
          <p:cNvSpPr/>
          <p:nvPr/>
        </p:nvSpPr>
        <p:spPr>
          <a:xfrm>
            <a:off x="6159500" y="5659438"/>
            <a:ext cx="792163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4" name="梯形 73"/>
          <p:cNvSpPr/>
          <p:nvPr/>
        </p:nvSpPr>
        <p:spPr>
          <a:xfrm>
            <a:off x="6951663" y="5659438"/>
            <a:ext cx="793750" cy="449262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5" name="梯形 74"/>
          <p:cNvSpPr/>
          <p:nvPr/>
        </p:nvSpPr>
        <p:spPr>
          <a:xfrm>
            <a:off x="5749925" y="5938838"/>
            <a:ext cx="792163" cy="447675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6" name="梯形 75"/>
          <p:cNvSpPr/>
          <p:nvPr/>
        </p:nvSpPr>
        <p:spPr>
          <a:xfrm>
            <a:off x="6530975" y="5938838"/>
            <a:ext cx="792163" cy="447675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77" name="梯形 76"/>
          <p:cNvSpPr/>
          <p:nvPr/>
        </p:nvSpPr>
        <p:spPr>
          <a:xfrm>
            <a:off x="7323138" y="5938838"/>
            <a:ext cx="793750" cy="447675"/>
          </a:xfrm>
          <a:prstGeom prst="trapezoi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00"/>
                </a:solidFill>
              </a:rPr>
              <a:t>filter</a:t>
            </a:r>
            <a:endParaRPr lang="zh-TW" altLang="en-US" dirty="0">
              <a:solidFill>
                <a:srgbClr val="000000"/>
              </a:solidFill>
            </a:endParaRPr>
          </a:p>
        </p:txBody>
      </p:sp>
      <p:cxnSp>
        <p:nvCxnSpPr>
          <p:cNvPr id="78" name="直線單箭頭接點 77"/>
          <p:cNvCxnSpPr/>
          <p:nvPr/>
        </p:nvCxnSpPr>
        <p:spPr>
          <a:xfrm flipV="1">
            <a:off x="5775325" y="5353050"/>
            <a:ext cx="0" cy="3063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單箭頭接點 78"/>
          <p:cNvCxnSpPr/>
          <p:nvPr/>
        </p:nvCxnSpPr>
        <p:spPr>
          <a:xfrm flipV="1">
            <a:off x="6135688" y="5630863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79"/>
          <p:cNvCxnSpPr/>
          <p:nvPr/>
        </p:nvCxnSpPr>
        <p:spPr>
          <a:xfrm flipV="1">
            <a:off x="6556375" y="5376863"/>
            <a:ext cx="0" cy="3063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80"/>
          <p:cNvCxnSpPr/>
          <p:nvPr/>
        </p:nvCxnSpPr>
        <p:spPr>
          <a:xfrm flipV="1">
            <a:off x="6927850" y="5659438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1"/>
          <p:cNvCxnSpPr/>
          <p:nvPr/>
        </p:nvCxnSpPr>
        <p:spPr>
          <a:xfrm flipV="1">
            <a:off x="7348538" y="5376863"/>
            <a:ext cx="0" cy="3063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/>
          <p:cNvCxnSpPr/>
          <p:nvPr/>
        </p:nvCxnSpPr>
        <p:spPr>
          <a:xfrm flipV="1">
            <a:off x="7745413" y="5643563"/>
            <a:ext cx="0" cy="30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83"/>
          <p:cNvSpPr/>
          <p:nvPr/>
        </p:nvSpPr>
        <p:spPr>
          <a:xfrm>
            <a:off x="5672138" y="472916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5" name="矩形 84"/>
          <p:cNvSpPr/>
          <p:nvPr/>
        </p:nvSpPr>
        <p:spPr>
          <a:xfrm>
            <a:off x="6440488" y="471646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6" name="矩形 85"/>
          <p:cNvSpPr/>
          <p:nvPr/>
        </p:nvSpPr>
        <p:spPr>
          <a:xfrm>
            <a:off x="7246938" y="472916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7" name="矩形 86"/>
          <p:cNvSpPr/>
          <p:nvPr/>
        </p:nvSpPr>
        <p:spPr>
          <a:xfrm>
            <a:off x="6042025" y="4968875"/>
            <a:ext cx="204788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8" name="矩形 87"/>
          <p:cNvSpPr/>
          <p:nvPr/>
        </p:nvSpPr>
        <p:spPr>
          <a:xfrm>
            <a:off x="6831013" y="5040313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89" name="矩形 88"/>
          <p:cNvSpPr/>
          <p:nvPr/>
        </p:nvSpPr>
        <p:spPr>
          <a:xfrm>
            <a:off x="7640638" y="4992688"/>
            <a:ext cx="204787" cy="6477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350"/>
          </a:p>
        </p:txBody>
      </p:sp>
      <p:sp>
        <p:nvSpPr>
          <p:cNvPr id="90" name="文字方塊 89"/>
          <p:cNvSpPr txBox="1">
            <a:spLocks noChangeArrowheads="1"/>
          </p:cNvSpPr>
          <p:nvPr/>
        </p:nvSpPr>
        <p:spPr bwMode="auto">
          <a:xfrm>
            <a:off x="1620838" y="1795463"/>
            <a:ext cx="1965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A vector for each region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42035" name="群組 92"/>
          <p:cNvGrpSpPr>
            <a:grpSpLocks/>
          </p:cNvGrpSpPr>
          <p:nvPr/>
        </p:nvGrpSpPr>
        <p:grpSpPr bwMode="auto">
          <a:xfrm>
            <a:off x="4521200" y="2268538"/>
            <a:ext cx="460375" cy="900112"/>
            <a:chOff x="4123648" y="5748055"/>
            <a:chExt cx="461666" cy="900000"/>
          </a:xfrm>
        </p:grpSpPr>
        <p:sp>
          <p:nvSpPr>
            <p:cNvPr id="91" name="矩形 90"/>
            <p:cNvSpPr>
              <a:spLocks noChangeArrowheads="1"/>
            </p:cNvSpPr>
            <p:nvPr/>
          </p:nvSpPr>
          <p:spPr bwMode="auto">
            <a:xfrm>
              <a:off x="4123648" y="5748055"/>
              <a:ext cx="461666" cy="900000"/>
            </a:xfrm>
            <a:prstGeom prst="rect">
              <a:avLst/>
            </a:prstGeom>
            <a:gradFill rotWithShape="1">
              <a:gsLst>
                <a:gs pos="0">
                  <a:srgbClr val="F5F5FC"/>
                </a:gs>
                <a:gs pos="64999">
                  <a:srgbClr val="E6E6F6"/>
                </a:gs>
                <a:gs pos="100000">
                  <a:srgbClr val="DCDCF3"/>
                </a:gs>
              </a:gsLst>
              <a:lin ang="5400000" scaled="1"/>
            </a:gradFill>
            <a:ln w="9525">
              <a:solidFill>
                <a:srgbClr val="BFBFD2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42061" name="文字方塊 91"/>
            <p:cNvSpPr txBox="1">
              <a:spLocks noChangeArrowheads="1"/>
            </p:cNvSpPr>
            <p:nvPr/>
          </p:nvSpPr>
          <p:spPr bwMode="auto">
            <a:xfrm>
              <a:off x="4196384" y="6013389"/>
              <a:ext cx="28336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CA" altLang="zh-TW" sz="2000">
                  <a:latin typeface="Arial" panose="020B0604020202020204" pitchFamily="34" charset="0"/>
                  <a:ea typeface="MS PGothic" panose="020B0600070205080204" pitchFamily="34" charset="-128"/>
                </a:rPr>
                <a:t>z</a:t>
              </a:r>
              <a:r>
                <a:rPr lang="en-CA" altLang="zh-TW" sz="2000" baseline="30000">
                  <a:latin typeface="Arial" panose="020B0604020202020204" pitchFamily="34" charset="0"/>
                  <a:ea typeface="MS PGothic" panose="020B0600070205080204" pitchFamily="34" charset="-128"/>
                </a:rPr>
                <a:t>0</a:t>
              </a:r>
              <a:endParaRPr lang="zh-TW" altLang="en-US" sz="2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63" name="文字方塊 62"/>
          <p:cNvSpPr txBox="1">
            <a:spLocks noChangeArrowheads="1"/>
          </p:cNvSpPr>
          <p:nvPr/>
        </p:nvSpPr>
        <p:spPr bwMode="auto">
          <a:xfrm>
            <a:off x="5527675" y="4376738"/>
            <a:ext cx="635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0.0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4" name="文字方塊 63"/>
          <p:cNvSpPr txBox="1">
            <a:spLocks noChangeArrowheads="1"/>
          </p:cNvSpPr>
          <p:nvPr/>
        </p:nvSpPr>
        <p:spPr bwMode="auto">
          <a:xfrm>
            <a:off x="6324600" y="4362450"/>
            <a:ext cx="692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0.8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5" name="文字方塊 64"/>
          <p:cNvSpPr txBox="1">
            <a:spLocks noChangeArrowheads="1"/>
          </p:cNvSpPr>
          <p:nvPr/>
        </p:nvSpPr>
        <p:spPr bwMode="auto">
          <a:xfrm>
            <a:off x="7124700" y="4368800"/>
            <a:ext cx="6111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0.2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6" name="文字方塊 65"/>
          <p:cNvSpPr txBox="1">
            <a:spLocks noChangeArrowheads="1"/>
          </p:cNvSpPr>
          <p:nvPr/>
        </p:nvSpPr>
        <p:spPr bwMode="auto">
          <a:xfrm>
            <a:off x="5916613" y="4675188"/>
            <a:ext cx="657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0.0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7" name="文字方塊 66"/>
          <p:cNvSpPr txBox="1">
            <a:spLocks noChangeArrowheads="1"/>
          </p:cNvSpPr>
          <p:nvPr/>
        </p:nvSpPr>
        <p:spPr bwMode="auto">
          <a:xfrm>
            <a:off x="6716713" y="4721225"/>
            <a:ext cx="64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0.0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8" name="文字方塊 67"/>
          <p:cNvSpPr txBox="1">
            <a:spLocks noChangeArrowheads="1"/>
          </p:cNvSpPr>
          <p:nvPr/>
        </p:nvSpPr>
        <p:spPr bwMode="auto">
          <a:xfrm>
            <a:off x="7537450" y="4675188"/>
            <a:ext cx="587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0.0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71" name="文字方塊 70"/>
          <p:cNvSpPr txBox="1">
            <a:spLocks noChangeArrowheads="1"/>
          </p:cNvSpPr>
          <p:nvPr/>
        </p:nvSpPr>
        <p:spPr bwMode="auto">
          <a:xfrm>
            <a:off x="7219950" y="3425825"/>
            <a:ext cx="14922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weighted sum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95" name="直線單箭頭接點 94"/>
          <p:cNvCxnSpPr>
            <a:endCxn id="94" idx="2"/>
          </p:cNvCxnSpPr>
          <p:nvPr/>
        </p:nvCxnSpPr>
        <p:spPr>
          <a:xfrm flipV="1">
            <a:off x="6530975" y="4135438"/>
            <a:ext cx="520700" cy="3190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endCxn id="94" idx="2"/>
          </p:cNvCxnSpPr>
          <p:nvPr/>
        </p:nvCxnSpPr>
        <p:spPr>
          <a:xfrm flipH="1" flipV="1">
            <a:off x="7051675" y="4135438"/>
            <a:ext cx="330200" cy="3492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9"/>
          <p:cNvCxnSpPr/>
          <p:nvPr/>
        </p:nvCxnSpPr>
        <p:spPr>
          <a:xfrm flipV="1">
            <a:off x="5902325" y="2000250"/>
            <a:ext cx="0" cy="2698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046" name="群組 104"/>
          <p:cNvGrpSpPr>
            <a:grpSpLocks/>
          </p:cNvGrpSpPr>
          <p:nvPr/>
        </p:nvGrpSpPr>
        <p:grpSpPr bwMode="auto">
          <a:xfrm>
            <a:off x="5700713" y="2292350"/>
            <a:ext cx="461962" cy="900113"/>
            <a:chOff x="4123648" y="5748055"/>
            <a:chExt cx="461666" cy="900000"/>
          </a:xfrm>
        </p:grpSpPr>
        <p:sp>
          <p:nvSpPr>
            <p:cNvPr id="106" name="矩形 105"/>
            <p:cNvSpPr>
              <a:spLocks noChangeArrowheads="1"/>
            </p:cNvSpPr>
            <p:nvPr/>
          </p:nvSpPr>
          <p:spPr bwMode="auto">
            <a:xfrm>
              <a:off x="4123648" y="5748055"/>
              <a:ext cx="461666" cy="900000"/>
            </a:xfrm>
            <a:prstGeom prst="rect">
              <a:avLst/>
            </a:prstGeom>
            <a:gradFill rotWithShape="1">
              <a:gsLst>
                <a:gs pos="0">
                  <a:srgbClr val="F5F5FC"/>
                </a:gs>
                <a:gs pos="64999">
                  <a:srgbClr val="E6E6F6"/>
                </a:gs>
                <a:gs pos="100000">
                  <a:srgbClr val="DCDCF3"/>
                </a:gs>
              </a:gsLst>
              <a:lin ang="5400000" scaled="1"/>
            </a:gradFill>
            <a:ln w="9525">
              <a:solidFill>
                <a:srgbClr val="BFBFD2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42059" name="文字方塊 106"/>
            <p:cNvSpPr txBox="1">
              <a:spLocks noChangeArrowheads="1"/>
            </p:cNvSpPr>
            <p:nvPr/>
          </p:nvSpPr>
          <p:spPr bwMode="auto">
            <a:xfrm>
              <a:off x="4196384" y="6013389"/>
              <a:ext cx="22333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CA" altLang="zh-TW" sz="2000">
                  <a:latin typeface="Arial" panose="020B0604020202020204" pitchFamily="34" charset="0"/>
                  <a:ea typeface="MS PGothic" panose="020B0600070205080204" pitchFamily="34" charset="-128"/>
                </a:rPr>
                <a:t>z</a:t>
              </a:r>
              <a:r>
                <a:rPr lang="en-CA" altLang="zh-TW" sz="2000" baseline="30000">
                  <a:latin typeface="Arial" panose="020B0604020202020204" pitchFamily="34" charset="0"/>
                  <a:ea typeface="MS PGothic" panose="020B0600070205080204" pitchFamily="34" charset="-128"/>
                </a:rPr>
                <a:t>1</a:t>
              </a:r>
              <a:endParaRPr lang="zh-TW" altLang="en-US" sz="2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108" name="矩形 107"/>
          <p:cNvSpPr>
            <a:spLocks noChangeArrowheads="1"/>
          </p:cNvSpPr>
          <p:nvPr/>
        </p:nvSpPr>
        <p:spPr bwMode="auto">
          <a:xfrm>
            <a:off x="5486400" y="1339850"/>
            <a:ext cx="838200" cy="657225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800" smtClean="0">
              <a:solidFill>
                <a:srgbClr val="000000"/>
              </a:solidFill>
            </a:endParaRPr>
          </a:p>
        </p:txBody>
      </p:sp>
      <p:sp>
        <p:nvSpPr>
          <p:cNvPr id="42048" name="文字方塊 98"/>
          <p:cNvSpPr txBox="1">
            <a:spLocks noChangeArrowheads="1"/>
          </p:cNvSpPr>
          <p:nvPr/>
        </p:nvSpPr>
        <p:spPr bwMode="auto">
          <a:xfrm>
            <a:off x="5310188" y="1452563"/>
            <a:ext cx="1204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Word 1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94" name="矩形 93"/>
          <p:cNvSpPr>
            <a:spLocks noChangeArrowheads="1"/>
          </p:cNvSpPr>
          <p:nvPr/>
        </p:nvSpPr>
        <p:spPr bwMode="auto">
          <a:xfrm>
            <a:off x="6823075" y="3478213"/>
            <a:ext cx="457200" cy="657225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800" smtClean="0">
              <a:solidFill>
                <a:srgbClr val="000000"/>
              </a:solidFill>
            </a:endParaRPr>
          </a:p>
        </p:txBody>
      </p:sp>
      <p:cxnSp>
        <p:nvCxnSpPr>
          <p:cNvPr id="97" name="直線單箭頭接點 96"/>
          <p:cNvCxnSpPr/>
          <p:nvPr/>
        </p:nvCxnSpPr>
        <p:spPr>
          <a:xfrm flipV="1">
            <a:off x="7024688" y="1976438"/>
            <a:ext cx="0" cy="2698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/>
          <p:cNvSpPr>
            <a:spLocks noChangeArrowheads="1"/>
          </p:cNvSpPr>
          <p:nvPr/>
        </p:nvSpPr>
        <p:spPr bwMode="auto">
          <a:xfrm>
            <a:off x="6823075" y="2268538"/>
            <a:ext cx="461963" cy="900112"/>
          </a:xfrm>
          <a:prstGeom prst="rect">
            <a:avLst/>
          </a:prstGeom>
          <a:gradFill rotWithShape="1">
            <a:gsLst>
              <a:gs pos="0">
                <a:srgbClr val="F5F5FC"/>
              </a:gs>
              <a:gs pos="64999">
                <a:srgbClr val="E6E6F6"/>
              </a:gs>
              <a:gs pos="100000">
                <a:srgbClr val="DCDCF3"/>
              </a:gs>
            </a:gsLst>
            <a:lin ang="5400000" scaled="1"/>
          </a:gradFill>
          <a:ln w="9525">
            <a:solidFill>
              <a:srgbClr val="BFBFD2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CA" altLang="zh-TW" sz="1800" smtClean="0">
                <a:solidFill>
                  <a:srgbClr val="000000"/>
                </a:solidFill>
              </a:rPr>
              <a:t>z</a:t>
            </a:r>
            <a:r>
              <a:rPr lang="en-CA" altLang="zh-TW" sz="1800" baseline="30000" smtClean="0">
                <a:solidFill>
                  <a:srgbClr val="000000"/>
                </a:solidFill>
              </a:rPr>
              <a:t>2</a:t>
            </a:r>
            <a:endParaRPr lang="zh-TW" altLang="en-US" sz="1800" smtClean="0">
              <a:solidFill>
                <a:srgbClr val="000000"/>
              </a:solidFill>
            </a:endParaRPr>
          </a:p>
        </p:txBody>
      </p:sp>
      <p:sp>
        <p:nvSpPr>
          <p:cNvPr id="111" name="矩形 110"/>
          <p:cNvSpPr>
            <a:spLocks noChangeArrowheads="1"/>
          </p:cNvSpPr>
          <p:nvPr/>
        </p:nvSpPr>
        <p:spPr bwMode="auto">
          <a:xfrm>
            <a:off x="6629400" y="1316038"/>
            <a:ext cx="838200" cy="655637"/>
          </a:xfrm>
          <a:prstGeom prst="rect">
            <a:avLst/>
          </a:prstGeom>
          <a:gradFill rotWithShape="1">
            <a:gsLst>
              <a:gs pos="0">
                <a:srgbClr val="EDEDED"/>
              </a:gs>
              <a:gs pos="64999">
                <a:srgbClr val="D0D0D0"/>
              </a:gs>
              <a:gs pos="100000">
                <a:srgbClr val="BCBCBC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1800" smtClean="0">
              <a:solidFill>
                <a:srgbClr val="000000"/>
              </a:solidFill>
            </a:endParaRPr>
          </a:p>
        </p:txBody>
      </p:sp>
      <p:sp>
        <p:nvSpPr>
          <p:cNvPr id="112" name="文字方塊 111"/>
          <p:cNvSpPr txBox="1">
            <a:spLocks noChangeArrowheads="1"/>
          </p:cNvSpPr>
          <p:nvPr/>
        </p:nvSpPr>
        <p:spPr bwMode="auto">
          <a:xfrm>
            <a:off x="6430963" y="1427163"/>
            <a:ext cx="1204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Word 2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113" name="直線單箭頭接點 112"/>
          <p:cNvCxnSpPr/>
          <p:nvPr/>
        </p:nvCxnSpPr>
        <p:spPr>
          <a:xfrm flipV="1">
            <a:off x="7067550" y="3168650"/>
            <a:ext cx="0" cy="2714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113"/>
          <p:cNvCxnSpPr>
            <a:endCxn id="101" idx="1"/>
          </p:cNvCxnSpPr>
          <p:nvPr/>
        </p:nvCxnSpPr>
        <p:spPr>
          <a:xfrm flipV="1">
            <a:off x="6183313" y="2717800"/>
            <a:ext cx="63976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114"/>
          <p:cNvCxnSpPr/>
          <p:nvPr/>
        </p:nvCxnSpPr>
        <p:spPr>
          <a:xfrm flipV="1">
            <a:off x="5033963" y="2717800"/>
            <a:ext cx="6381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2"/>
          <p:cNvCxnSpPr>
            <a:cxnSpLocks/>
            <a:endCxn id="101" idx="1"/>
          </p:cNvCxnSpPr>
          <p:nvPr/>
        </p:nvCxnSpPr>
        <p:spPr>
          <a:xfrm>
            <a:off x="6183313" y="1795463"/>
            <a:ext cx="639762" cy="9223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63" grpId="0"/>
      <p:bldP spid="64" grpId="0"/>
      <p:bldP spid="65" grpId="0"/>
      <p:bldP spid="66" grpId="0"/>
      <p:bldP spid="67" grpId="0"/>
      <p:bldP spid="68" grpId="0"/>
      <p:bldP spid="71" grpId="0"/>
      <p:bldP spid="94" grpId="0" animBg="1"/>
      <p:bldP spid="111" grpId="0" animBg="1"/>
      <p:bldP spid="1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Image Caption Generation</a:t>
            </a:r>
            <a:endParaRPr lang="zh-TW" altLang="en-US" smtClean="0"/>
          </a:p>
        </p:txBody>
      </p:sp>
      <p:sp>
        <p:nvSpPr>
          <p:cNvPr id="4403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en-US" smtClean="0"/>
          </a:p>
        </p:txBody>
      </p:sp>
      <p:pic>
        <p:nvPicPr>
          <p:cNvPr id="44036" name="Image 4" descr="good.pd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" y="1690688"/>
            <a:ext cx="8953500" cy="375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矩形 4"/>
          <p:cNvSpPr>
            <a:spLocks noChangeArrowheads="1"/>
          </p:cNvSpPr>
          <p:nvPr/>
        </p:nvSpPr>
        <p:spPr bwMode="auto">
          <a:xfrm>
            <a:off x="790575" y="5715000"/>
            <a:ext cx="75628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Kelvin Xu, Jimmy Ba, Ryan Kiros, Kyunghyun Cho, Aaron Courville, Ruslan Salakhutdinov, Richard Zemel, Yoshua Bengio, </a:t>
            </a:r>
            <a:r>
              <a:rPr lang="en-US" altLang="zh-TW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“</a:t>
            </a:r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Show, Attend and Tell: Neural Image Caption Generation with Visual Attention</a:t>
            </a:r>
            <a:r>
              <a:rPr lang="en-US" altLang="zh-TW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”, ICML, 2015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Image Caption Generation</a:t>
            </a:r>
            <a:endParaRPr lang="zh-TW" altLang="en-US" smtClean="0"/>
          </a:p>
        </p:txBody>
      </p:sp>
      <p:sp>
        <p:nvSpPr>
          <p:cNvPr id="4608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en-US" smtClean="0"/>
          </a:p>
        </p:txBody>
      </p:sp>
      <p:pic>
        <p:nvPicPr>
          <p:cNvPr id="46084" name="Image 4" descr="errors.pd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0688"/>
            <a:ext cx="8958263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矩形 4"/>
          <p:cNvSpPr>
            <a:spLocks noChangeArrowheads="1"/>
          </p:cNvSpPr>
          <p:nvPr/>
        </p:nvSpPr>
        <p:spPr bwMode="auto">
          <a:xfrm>
            <a:off x="790575" y="5715000"/>
            <a:ext cx="75628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Kelvin Xu, Jimmy Ba, Ryan Kiros, Kyunghyun Cho, Aaron Courville, Ruslan Salakhutdinov, Richard Zemel, Yoshua Bengio, </a:t>
            </a:r>
            <a:r>
              <a:rPr lang="en-US" altLang="zh-TW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“</a:t>
            </a:r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Show, Attend and Tell: Neural Image Caption Generation with Visual Attention</a:t>
            </a:r>
            <a:r>
              <a:rPr lang="en-US" altLang="zh-TW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”, ICML, 2015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925" y="242888"/>
            <a:ext cx="6121400" cy="215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13" y="2463800"/>
            <a:ext cx="55340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801938"/>
            <a:ext cx="54959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3182938"/>
            <a:ext cx="5975350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75" y="5594350"/>
            <a:ext cx="43243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75" y="5213350"/>
            <a:ext cx="3619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1017588" y="1511300"/>
            <a:ext cx="7154862" cy="935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017588" y="4333875"/>
            <a:ext cx="7154862" cy="935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48138" name="矩形 11"/>
          <p:cNvSpPr>
            <a:spLocks noChangeArrowheads="1"/>
          </p:cNvSpPr>
          <p:nvPr/>
        </p:nvSpPr>
        <p:spPr bwMode="auto">
          <a:xfrm>
            <a:off x="0" y="6019800"/>
            <a:ext cx="9223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>
                <a:latin typeface="Lucida Grande" charset="0"/>
                <a:ea typeface="MS PGothic" panose="020B0600070205080204" pitchFamily="34" charset="-128"/>
              </a:rPr>
              <a:t>Li Yao</a:t>
            </a:r>
            <a:r>
              <a:rPr lang="en-US" altLang="zh-TW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, </a:t>
            </a:r>
            <a:r>
              <a:rPr lang="en-US" altLang="zh-TW">
                <a:latin typeface="Lucida Grande" charset="0"/>
                <a:ea typeface="MS PGothic" panose="020B0600070205080204" pitchFamily="34" charset="-128"/>
              </a:rPr>
              <a:t>Atousa Torabi</a:t>
            </a:r>
            <a:r>
              <a:rPr lang="en-US" altLang="zh-TW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, </a:t>
            </a:r>
            <a:r>
              <a:rPr lang="en-US" altLang="zh-TW">
                <a:latin typeface="Lucida Grande" charset="0"/>
                <a:ea typeface="MS PGothic" panose="020B0600070205080204" pitchFamily="34" charset="-128"/>
              </a:rPr>
              <a:t>Kyunghyun Cho</a:t>
            </a:r>
            <a:r>
              <a:rPr lang="en-US" altLang="zh-TW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, </a:t>
            </a:r>
            <a:r>
              <a:rPr lang="en-US" altLang="zh-TW">
                <a:latin typeface="Lucida Grande" charset="0"/>
                <a:ea typeface="MS PGothic" panose="020B0600070205080204" pitchFamily="34" charset="-128"/>
              </a:rPr>
              <a:t>Nicolas Ballas</a:t>
            </a:r>
            <a:r>
              <a:rPr lang="en-US" altLang="zh-TW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, </a:t>
            </a:r>
            <a:r>
              <a:rPr lang="en-US" altLang="zh-TW">
                <a:latin typeface="Lucida Grande" charset="0"/>
                <a:ea typeface="MS PGothic" panose="020B0600070205080204" pitchFamily="34" charset="-128"/>
              </a:rPr>
              <a:t>Christopher Pal</a:t>
            </a:r>
            <a:r>
              <a:rPr lang="en-US" altLang="zh-TW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, </a:t>
            </a:r>
            <a:r>
              <a:rPr lang="en-US" altLang="zh-TW">
                <a:latin typeface="Lucida Grande" charset="0"/>
                <a:ea typeface="MS PGothic" panose="020B0600070205080204" pitchFamily="34" charset="-128"/>
              </a:rPr>
              <a:t>Hugo Larochelle</a:t>
            </a:r>
            <a:r>
              <a:rPr lang="en-US" altLang="zh-TW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, </a:t>
            </a:r>
            <a:r>
              <a:rPr lang="en-US" altLang="zh-TW">
                <a:latin typeface="Lucida Grande" charset="0"/>
                <a:ea typeface="MS PGothic" panose="020B0600070205080204" pitchFamily="34" charset="-128"/>
              </a:rPr>
              <a:t>Aaron Courville, “</a:t>
            </a:r>
            <a:r>
              <a:rPr lang="en-US" altLang="zh-TW">
                <a:latin typeface="Arial" panose="020B0604020202020204" pitchFamily="34" charset="0"/>
                <a:ea typeface="MS PGothic" panose="020B0600070205080204" pitchFamily="34" charset="-128"/>
              </a:rPr>
              <a:t>Describing Videos by Exploiting Temporal Structure</a:t>
            </a:r>
            <a:r>
              <a:rPr lang="en-US" altLang="zh-TW">
                <a:latin typeface="Lucida Grande" charset="0"/>
                <a:ea typeface="MS PGothic" panose="020B0600070205080204" pitchFamily="34" charset="-128"/>
              </a:rPr>
              <a:t>”, ICCV, 2015</a:t>
            </a:r>
            <a:endParaRPr lang="zh-TW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705600" y="4724400"/>
            <a:ext cx="2097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* Possible project?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Other Variations of LSTM</a:t>
            </a:r>
            <a:endParaRPr lang="en-US" altLang="en-US" dirty="0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045333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blipFill rotWithShape="1">
            <a:blip r:embed="rId2"/>
            <a:stretch>
              <a:fillRect/>
            </a:stretch>
          </a:blipFill>
          <a:extLst>
            <a:ext uri="{91240B29-F687-4f45-9708-019B960494DF}"/>
            <a:ext uri="{FAA26D3D-D897-4be2-8F04-BA451C77F1D7}"/>
          </a:ex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noFill/>
                <a:ea typeface="ＭＳ Ｐゴシック" charset="0"/>
              </a:rPr>
              <a:t> </a:t>
            </a:r>
          </a:p>
        </p:txBody>
      </p:sp>
      <p:sp>
        <p:nvSpPr>
          <p:cNvPr id="6" name="矩形 3"/>
          <p:cNvSpPr/>
          <p:nvPr/>
        </p:nvSpPr>
        <p:spPr>
          <a:xfrm>
            <a:off x="3494088" y="2286000"/>
            <a:ext cx="720725" cy="3683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7" name="文字方塊 4"/>
          <p:cNvSpPr txBox="1">
            <a:spLocks noChangeArrowheads="1"/>
          </p:cNvSpPr>
          <p:nvPr/>
        </p:nvSpPr>
        <p:spPr bwMode="auto">
          <a:xfrm>
            <a:off x="3417888" y="2254250"/>
            <a:ext cx="906462" cy="460375"/>
          </a:xfrm>
          <a:prstGeom prst="rect">
            <a:avLst/>
          </a:prstGeom>
          <a:noFill/>
          <a:ln>
            <a:noFill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mtClean="0"/>
              <a:t>h</a:t>
            </a:r>
            <a:r>
              <a:rPr lang="en-US" altLang="zh-TW" baseline="30000" smtClean="0"/>
              <a:t>t-1</a:t>
            </a:r>
            <a:endParaRPr lang="zh-TW" altLang="en-US" baseline="30000" smtClean="0"/>
          </a:p>
        </p:txBody>
      </p:sp>
      <p:sp>
        <p:nvSpPr>
          <p:cNvPr id="8" name="矩形 5"/>
          <p:cNvSpPr/>
          <p:nvPr/>
        </p:nvSpPr>
        <p:spPr>
          <a:xfrm>
            <a:off x="4386263" y="4592638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r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9" name="矩形 6"/>
          <p:cNvSpPr/>
          <p:nvPr/>
        </p:nvSpPr>
        <p:spPr>
          <a:xfrm>
            <a:off x="5646738" y="4625975"/>
            <a:ext cx="719137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z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grpSp>
        <p:nvGrpSpPr>
          <p:cNvPr id="10" name="群組 7"/>
          <p:cNvGrpSpPr>
            <a:grpSpLocks/>
          </p:cNvGrpSpPr>
          <p:nvPr/>
        </p:nvGrpSpPr>
        <p:grpSpPr bwMode="auto">
          <a:xfrm>
            <a:off x="6942138" y="939800"/>
            <a:ext cx="906462" cy="461963"/>
            <a:chOff x="3326306" y="1395097"/>
            <a:chExt cx="907572" cy="461665"/>
          </a:xfrm>
        </p:grpSpPr>
        <p:sp>
          <p:nvSpPr>
            <p:cNvPr id="11" name="矩形 8"/>
            <p:cNvSpPr/>
            <p:nvPr/>
          </p:nvSpPr>
          <p:spPr>
            <a:xfrm>
              <a:off x="3407367" y="1409376"/>
              <a:ext cx="720019" cy="431521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25669" name="文字方塊 9"/>
            <p:cNvSpPr txBox="1">
              <a:spLocks noChangeArrowheads="1"/>
            </p:cNvSpPr>
            <p:nvPr/>
          </p:nvSpPr>
          <p:spPr bwMode="auto">
            <a:xfrm>
              <a:off x="3326306" y="1395097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y</a:t>
              </a:r>
              <a:r>
                <a:rPr lang="en-US" altLang="zh-TW" sz="2400" baseline="300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cxnSp>
        <p:nvCxnSpPr>
          <p:cNvPr id="13" name="直線單箭頭接點 10"/>
          <p:cNvCxnSpPr>
            <a:cxnSpLocks/>
          </p:cNvCxnSpPr>
          <p:nvPr/>
        </p:nvCxnSpPr>
        <p:spPr>
          <a:xfrm flipH="1" flipV="1">
            <a:off x="4719638" y="3340100"/>
            <a:ext cx="0" cy="12287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1"/>
          <p:cNvCxnSpPr>
            <a:cxnSpLocks/>
            <a:endCxn id="38" idx="2"/>
          </p:cNvCxnSpPr>
          <p:nvPr/>
        </p:nvCxnSpPr>
        <p:spPr>
          <a:xfrm flipV="1">
            <a:off x="4203700" y="2476500"/>
            <a:ext cx="159067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向下箭號 161"/>
          <p:cNvSpPr/>
          <p:nvPr/>
        </p:nvSpPr>
        <p:spPr>
          <a:xfrm flipV="1">
            <a:off x="7183438" y="1458913"/>
            <a:ext cx="438150" cy="747712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6" name="向下箭號 165"/>
          <p:cNvSpPr/>
          <p:nvPr/>
        </p:nvSpPr>
        <p:spPr>
          <a:xfrm rot="18993628" flipV="1">
            <a:off x="4810125" y="4992688"/>
            <a:ext cx="438150" cy="873125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7" name="手繪多邊形 4"/>
          <p:cNvSpPr/>
          <p:nvPr/>
        </p:nvSpPr>
        <p:spPr>
          <a:xfrm>
            <a:off x="4235450" y="2486025"/>
            <a:ext cx="436563" cy="379413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cxnSp>
        <p:nvCxnSpPr>
          <p:cNvPr id="18" name="直線單箭頭接點 15"/>
          <p:cNvCxnSpPr>
            <a:cxnSpLocks/>
          </p:cNvCxnSpPr>
          <p:nvPr/>
        </p:nvCxnSpPr>
        <p:spPr>
          <a:xfrm flipV="1">
            <a:off x="7377113" y="3813175"/>
            <a:ext cx="0" cy="9271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群組 17"/>
          <p:cNvGrpSpPr>
            <a:grpSpLocks/>
          </p:cNvGrpSpPr>
          <p:nvPr/>
        </p:nvGrpSpPr>
        <p:grpSpPr bwMode="auto">
          <a:xfrm>
            <a:off x="5419725" y="5821363"/>
            <a:ext cx="908050" cy="461962"/>
            <a:chOff x="4765592" y="6396335"/>
            <a:chExt cx="907572" cy="461665"/>
          </a:xfrm>
        </p:grpSpPr>
        <p:sp>
          <p:nvSpPr>
            <p:cNvPr id="20" name="矩形 20"/>
            <p:cNvSpPr>
              <a:spLocks noChangeArrowheads="1"/>
            </p:cNvSpPr>
            <p:nvPr/>
          </p:nvSpPr>
          <p:spPr bwMode="auto">
            <a:xfrm>
              <a:off x="4822712" y="6442342"/>
              <a:ext cx="720346" cy="369650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25667" name="文字方塊 21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x</a:t>
              </a:r>
              <a:r>
                <a:rPr lang="en-US" altLang="zh-TW" sz="2400" baseline="30000">
                  <a:solidFill>
                    <a:schemeClr val="bg1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chemeClr val="bg1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2" name="矩形 18"/>
          <p:cNvSpPr/>
          <p:nvPr/>
        </p:nvSpPr>
        <p:spPr>
          <a:xfrm>
            <a:off x="4667250" y="5848350"/>
            <a:ext cx="719138" cy="36988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3" name="文字方塊 19"/>
          <p:cNvSpPr txBox="1">
            <a:spLocks noChangeArrowheads="1"/>
          </p:cNvSpPr>
          <p:nvPr/>
        </p:nvSpPr>
        <p:spPr bwMode="auto">
          <a:xfrm>
            <a:off x="4606925" y="5802313"/>
            <a:ext cx="908050" cy="461962"/>
          </a:xfrm>
          <a:prstGeom prst="rect">
            <a:avLst/>
          </a:prstGeom>
          <a:noFill/>
          <a:ln>
            <a:noFill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mtClean="0">
                <a:solidFill>
                  <a:srgbClr val="000000"/>
                </a:solidFill>
              </a:rPr>
              <a:t>h</a:t>
            </a:r>
            <a:r>
              <a:rPr lang="en-US" altLang="zh-TW" baseline="30000" smtClean="0">
                <a:solidFill>
                  <a:srgbClr val="000000"/>
                </a:solidFill>
              </a:rPr>
              <a:t>t-1</a:t>
            </a:r>
            <a:endParaRPr lang="zh-TW" altLang="en-US" baseline="30000" smtClean="0">
              <a:solidFill>
                <a:srgbClr val="000000"/>
              </a:solidFill>
            </a:endParaRPr>
          </a:p>
        </p:txBody>
      </p:sp>
      <p:cxnSp>
        <p:nvCxnSpPr>
          <p:cNvPr id="24" name="直線單箭頭接點 22"/>
          <p:cNvCxnSpPr>
            <a:cxnSpLocks/>
          </p:cNvCxnSpPr>
          <p:nvPr/>
        </p:nvCxnSpPr>
        <p:spPr>
          <a:xfrm flipV="1">
            <a:off x="3900488" y="2720975"/>
            <a:ext cx="0" cy="3324225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3"/>
          <p:cNvSpPr/>
          <p:nvPr/>
        </p:nvSpPr>
        <p:spPr>
          <a:xfrm>
            <a:off x="7042150" y="4632325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h'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cxnSp>
        <p:nvCxnSpPr>
          <p:cNvPr id="26" name="直線單箭頭接點 24"/>
          <p:cNvCxnSpPr>
            <a:cxnSpLocks/>
          </p:cNvCxnSpPr>
          <p:nvPr/>
        </p:nvCxnSpPr>
        <p:spPr>
          <a:xfrm flipV="1">
            <a:off x="3927475" y="6051550"/>
            <a:ext cx="690563" cy="0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25"/>
          <p:cNvGrpSpPr>
            <a:grpSpLocks/>
          </p:cNvGrpSpPr>
          <p:nvPr/>
        </p:nvGrpSpPr>
        <p:grpSpPr bwMode="auto">
          <a:xfrm>
            <a:off x="4481513" y="2873375"/>
            <a:ext cx="438150" cy="438150"/>
            <a:chOff x="6656524" y="2699227"/>
            <a:chExt cx="438150" cy="438150"/>
          </a:xfrm>
        </p:grpSpPr>
        <p:sp>
          <p:nvSpPr>
            <p:cNvPr id="28" name="橢圓 26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29" name="文字方塊 27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10937" y="2723025"/>
              <a:ext cx="336631" cy="369332"/>
            </a:xfrm>
            <a:prstGeom prst="rect">
              <a:avLst/>
            </a:prstGeom>
            <a:blipFill rotWithShape="1">
              <a:blip r:embed="rId3"/>
              <a:stretch>
                <a:fillRect l="-8929" t="-6557"/>
              </a:stretch>
            </a:blipFill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noFill/>
                  <a:latin typeface="Arial" charset="0"/>
                  <a:ea typeface="ＭＳ Ｐゴシック" charset="0"/>
                  <a:cs typeface="ＭＳ Ｐゴシック" charset="0"/>
                </a:rPr>
                <a:t> </a:t>
              </a:r>
            </a:p>
          </p:txBody>
        </p:sp>
      </p:grpSp>
      <p:grpSp>
        <p:nvGrpSpPr>
          <p:cNvPr id="30" name="群組 28"/>
          <p:cNvGrpSpPr>
            <a:grpSpLocks/>
          </p:cNvGrpSpPr>
          <p:nvPr/>
        </p:nvGrpSpPr>
        <p:grpSpPr bwMode="auto">
          <a:xfrm>
            <a:off x="6992938" y="5821363"/>
            <a:ext cx="906462" cy="461962"/>
            <a:chOff x="4765592" y="6396335"/>
            <a:chExt cx="907572" cy="461665"/>
          </a:xfrm>
        </p:grpSpPr>
        <p:sp>
          <p:nvSpPr>
            <p:cNvPr id="31" name="矩形 29"/>
            <p:cNvSpPr>
              <a:spLocks noChangeArrowheads="1"/>
            </p:cNvSpPr>
            <p:nvPr/>
          </p:nvSpPr>
          <p:spPr bwMode="auto">
            <a:xfrm>
              <a:off x="4822812" y="6442342"/>
              <a:ext cx="720018" cy="369650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25663" name="文字方塊 30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FFFF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x</a:t>
              </a:r>
              <a:r>
                <a:rPr lang="en-US" altLang="zh-TW" sz="2400" baseline="30000">
                  <a:solidFill>
                    <a:srgbClr val="FFFFFF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t</a:t>
              </a:r>
              <a:endParaRPr lang="zh-TW" altLang="en-US" sz="2400" baseline="30000">
                <a:solidFill>
                  <a:srgbClr val="FFFFFF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33" name="向下箭號 162"/>
          <p:cNvSpPr/>
          <p:nvPr/>
        </p:nvSpPr>
        <p:spPr>
          <a:xfrm flipV="1">
            <a:off x="7175500" y="5180013"/>
            <a:ext cx="438150" cy="550862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34" name="向下箭號 162"/>
          <p:cNvSpPr/>
          <p:nvPr/>
        </p:nvSpPr>
        <p:spPr>
          <a:xfrm rot="7262412" flipV="1">
            <a:off x="6020594" y="2777331"/>
            <a:ext cx="438150" cy="2205038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cxnSp>
        <p:nvCxnSpPr>
          <p:cNvPr id="35" name="直線單箭頭接點 33"/>
          <p:cNvCxnSpPr>
            <a:cxnSpLocks/>
          </p:cNvCxnSpPr>
          <p:nvPr/>
        </p:nvCxnSpPr>
        <p:spPr>
          <a:xfrm flipV="1">
            <a:off x="6019800" y="2667000"/>
            <a:ext cx="0" cy="1958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4"/>
          <p:cNvCxnSpPr>
            <a:cxnSpLocks/>
          </p:cNvCxnSpPr>
          <p:nvPr/>
        </p:nvCxnSpPr>
        <p:spPr>
          <a:xfrm>
            <a:off x="6035675" y="3582988"/>
            <a:ext cx="1068388" cy="79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26" name="群組 35"/>
          <p:cNvGrpSpPr>
            <a:grpSpLocks/>
          </p:cNvGrpSpPr>
          <p:nvPr/>
        </p:nvGrpSpPr>
        <p:grpSpPr bwMode="auto">
          <a:xfrm>
            <a:off x="5794375" y="2257425"/>
            <a:ext cx="438150" cy="438150"/>
            <a:chOff x="6656524" y="2699227"/>
            <a:chExt cx="438150" cy="438150"/>
          </a:xfrm>
        </p:grpSpPr>
        <p:sp>
          <p:nvSpPr>
            <p:cNvPr id="38" name="橢圓 36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39" name="文字方塊 37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10937" y="2723025"/>
              <a:ext cx="336631" cy="369332"/>
            </a:xfrm>
            <a:prstGeom prst="rect">
              <a:avLst/>
            </a:prstGeom>
            <a:blipFill rotWithShape="1">
              <a:blip r:embed="rId4"/>
              <a:stretch>
                <a:fillRect l="-7143" t="-8197"/>
              </a:stretch>
            </a:blipFill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noFill/>
                  <a:latin typeface="Arial" charset="0"/>
                  <a:ea typeface="ＭＳ Ｐゴシック" charset="0"/>
                  <a:cs typeface="ＭＳ Ｐゴシック" charset="0"/>
                </a:rPr>
                <a:t> </a:t>
              </a:r>
            </a:p>
          </p:txBody>
        </p:sp>
      </p:grpSp>
      <p:grpSp>
        <p:nvGrpSpPr>
          <p:cNvPr id="25627" name="群組 38"/>
          <p:cNvGrpSpPr>
            <a:grpSpLocks/>
          </p:cNvGrpSpPr>
          <p:nvPr/>
        </p:nvGrpSpPr>
        <p:grpSpPr bwMode="auto">
          <a:xfrm>
            <a:off x="7158038" y="3351213"/>
            <a:ext cx="438150" cy="438150"/>
            <a:chOff x="6656524" y="2699227"/>
            <a:chExt cx="438150" cy="438150"/>
          </a:xfrm>
        </p:grpSpPr>
        <p:sp>
          <p:nvSpPr>
            <p:cNvPr id="41" name="橢圓 39"/>
            <p:cNvSpPr/>
            <p:nvPr/>
          </p:nvSpPr>
          <p:spPr>
            <a:xfrm>
              <a:off x="6656524" y="2699227"/>
              <a:ext cx="438150" cy="438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42" name="文字方塊 40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10937" y="2723025"/>
              <a:ext cx="336631" cy="369332"/>
            </a:xfrm>
            <a:prstGeom prst="rect">
              <a:avLst/>
            </a:prstGeom>
            <a:blipFill rotWithShape="1">
              <a:blip r:embed="rId4"/>
              <a:stretch>
                <a:fillRect l="-7143" t="-6452"/>
              </a:stretch>
            </a:blipFill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noFill/>
                  <a:latin typeface="Arial" charset="0"/>
                  <a:ea typeface="ＭＳ Ｐゴシック" charset="0"/>
                  <a:cs typeface="ＭＳ Ｐゴシック" charset="0"/>
                </a:rPr>
                <a:t> </a:t>
              </a:r>
            </a:p>
          </p:txBody>
        </p:sp>
      </p:grpSp>
      <p:sp>
        <p:nvSpPr>
          <p:cNvPr id="25628" name="文字方塊 41"/>
          <p:cNvSpPr txBox="1">
            <a:spLocks noChangeArrowheads="1"/>
          </p:cNvSpPr>
          <p:nvPr/>
        </p:nvSpPr>
        <p:spPr bwMode="auto">
          <a:xfrm>
            <a:off x="6488113" y="3103563"/>
            <a:ext cx="706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1-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25629" name="群組 42"/>
          <p:cNvGrpSpPr>
            <a:grpSpLocks/>
          </p:cNvGrpSpPr>
          <p:nvPr/>
        </p:nvGrpSpPr>
        <p:grpSpPr bwMode="auto">
          <a:xfrm>
            <a:off x="7161213" y="2265363"/>
            <a:ext cx="438150" cy="438150"/>
            <a:chOff x="6656524" y="2699227"/>
            <a:chExt cx="438150" cy="438150"/>
          </a:xfrm>
        </p:grpSpPr>
        <p:sp>
          <p:nvSpPr>
            <p:cNvPr id="45" name="橢圓 43"/>
            <p:cNvSpPr>
              <a:spLocks noChangeArrowheads="1"/>
            </p:cNvSpPr>
            <p:nvPr/>
          </p:nvSpPr>
          <p:spPr bwMode="auto">
            <a:xfrm>
              <a:off x="6656524" y="2699227"/>
              <a:ext cx="438150" cy="438150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46" name="文字方塊 44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66595" y="2808578"/>
              <a:ext cx="283732" cy="276999"/>
            </a:xfrm>
            <a:prstGeom prst="rect">
              <a:avLst/>
            </a:prstGeom>
            <a:blipFill rotWithShape="1">
              <a:blip r:embed="rId5"/>
              <a:stretch>
                <a:fillRect l="-8333" t="-8696" b="-6522"/>
              </a:stretch>
            </a:blipFill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noFill/>
                  <a:latin typeface="Arial" charset="0"/>
                  <a:ea typeface="ＭＳ Ｐゴシック" charset="0"/>
                  <a:cs typeface="ＭＳ Ｐゴシック" charset="0"/>
                </a:rPr>
                <a:t> </a:t>
              </a:r>
            </a:p>
          </p:txBody>
        </p:sp>
      </p:grpSp>
      <p:cxnSp>
        <p:nvCxnSpPr>
          <p:cNvPr id="47" name="直線單箭頭接點 45"/>
          <p:cNvCxnSpPr>
            <a:cxnSpLocks/>
            <a:stCxn id="25663" idx="1"/>
          </p:cNvCxnSpPr>
          <p:nvPr/>
        </p:nvCxnSpPr>
        <p:spPr>
          <a:xfrm flipH="1">
            <a:off x="6216650" y="6053138"/>
            <a:ext cx="776288" cy="4762"/>
          </a:xfrm>
          <a:prstGeom prst="straightConnector1">
            <a:avLst/>
          </a:prstGeom>
          <a:ln w="571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向下箭號 165"/>
          <p:cNvSpPr/>
          <p:nvPr/>
        </p:nvSpPr>
        <p:spPr>
          <a:xfrm rot="2321610" flipV="1">
            <a:off x="5568950" y="5010150"/>
            <a:ext cx="438150" cy="820738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cxnSp>
        <p:nvCxnSpPr>
          <p:cNvPr id="49" name="直線單箭頭接點 47"/>
          <p:cNvCxnSpPr>
            <a:cxnSpLocks/>
          </p:cNvCxnSpPr>
          <p:nvPr/>
        </p:nvCxnSpPr>
        <p:spPr>
          <a:xfrm>
            <a:off x="6286500" y="2486025"/>
            <a:ext cx="84613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8"/>
          <p:cNvCxnSpPr>
            <a:cxnSpLocks/>
          </p:cNvCxnSpPr>
          <p:nvPr/>
        </p:nvCxnSpPr>
        <p:spPr>
          <a:xfrm flipV="1">
            <a:off x="7366000" y="2717800"/>
            <a:ext cx="0" cy="60166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34" name="群組 49"/>
          <p:cNvGrpSpPr>
            <a:grpSpLocks/>
          </p:cNvGrpSpPr>
          <p:nvPr/>
        </p:nvGrpSpPr>
        <p:grpSpPr bwMode="auto">
          <a:xfrm>
            <a:off x="7643813" y="2241550"/>
            <a:ext cx="1366837" cy="461963"/>
            <a:chOff x="7775957" y="2350291"/>
            <a:chExt cx="1368043" cy="461665"/>
          </a:xfrm>
        </p:grpSpPr>
        <p:grpSp>
          <p:nvGrpSpPr>
            <p:cNvPr id="25652" name="群組 50"/>
            <p:cNvGrpSpPr>
              <a:grpSpLocks/>
            </p:cNvGrpSpPr>
            <p:nvPr/>
          </p:nvGrpSpPr>
          <p:grpSpPr bwMode="auto">
            <a:xfrm>
              <a:off x="8236428" y="2350291"/>
              <a:ext cx="907572" cy="461665"/>
              <a:chOff x="4440136" y="3005198"/>
              <a:chExt cx="907572" cy="461665"/>
            </a:xfrm>
          </p:grpSpPr>
          <p:sp>
            <p:nvSpPr>
              <p:cNvPr id="54" name="矩形 52"/>
              <p:cNvSpPr/>
              <p:nvPr/>
            </p:nvSpPr>
            <p:spPr>
              <a:xfrm>
                <a:off x="4488113" y="3051206"/>
                <a:ext cx="719771" cy="369648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/>
              </a:p>
            </p:txBody>
          </p:sp>
          <p:sp>
            <p:nvSpPr>
              <p:cNvPr id="55" name="文字方塊 53"/>
              <p:cNvSpPr txBox="1">
                <a:spLocks noChangeArrowheads="1"/>
              </p:cNvSpPr>
              <p:nvPr/>
            </p:nvSpPr>
            <p:spPr bwMode="auto">
              <a:xfrm>
                <a:off x="4440446" y="3005198"/>
                <a:ext cx="907262" cy="46166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TW" smtClean="0">
                    <a:solidFill>
                      <a:srgbClr val="000000"/>
                    </a:solidFill>
                  </a:rPr>
                  <a:t>h</a:t>
                </a:r>
                <a:r>
                  <a:rPr lang="en-US" altLang="zh-TW" baseline="30000" smtClean="0">
                    <a:solidFill>
                      <a:srgbClr val="000000"/>
                    </a:solidFill>
                  </a:rPr>
                  <a:t>t</a:t>
                </a:r>
                <a:endParaRPr lang="zh-TW" altLang="en-US" baseline="30000" smtClean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53" name="直線單箭頭接點 51"/>
            <p:cNvCxnSpPr>
              <a:cxnSpLocks/>
            </p:cNvCxnSpPr>
            <p:nvPr/>
          </p:nvCxnSpPr>
          <p:spPr>
            <a:xfrm>
              <a:off x="7775957" y="2607300"/>
              <a:ext cx="513214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矩形 54"/>
          <p:cNvSpPr>
            <a:spLocks noChangeArrowheads="1"/>
          </p:cNvSpPr>
          <p:nvPr/>
        </p:nvSpPr>
        <p:spPr bwMode="auto">
          <a:xfrm>
            <a:off x="3968750" y="4171950"/>
            <a:ext cx="755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reset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5636" name="矩形 55"/>
          <p:cNvSpPr>
            <a:spLocks noChangeArrowheads="1"/>
          </p:cNvSpPr>
          <p:nvPr/>
        </p:nvSpPr>
        <p:spPr bwMode="auto">
          <a:xfrm>
            <a:off x="5051425" y="4248150"/>
            <a:ext cx="968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update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8" name="文字方塊 111"/>
          <p:cNvSpPr txBox="1">
            <a:spLocks noChangeArrowheads="1"/>
          </p:cNvSpPr>
          <p:nvPr/>
        </p:nvSpPr>
        <p:spPr bwMode="auto">
          <a:xfrm>
            <a:off x="544513" y="1981200"/>
            <a:ext cx="259556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No input x</a:t>
            </a:r>
            <a:r>
              <a:rPr lang="en-US" altLang="zh-TW" sz="2400" baseline="30000">
                <a:latin typeface="Arial" panose="020B0604020202020204" pitchFamily="34" charset="0"/>
                <a:ea typeface="MS PGothic" panose="020B0600070205080204" pitchFamily="34" charset="-128"/>
              </a:rPr>
              <a:t>t </a:t>
            </a:r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at each step</a:t>
            </a:r>
            <a:endParaRPr lang="zh-TW" altLang="en-US" sz="2400" baseline="30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9" name="文字方塊 112"/>
          <p:cNvSpPr txBox="1">
            <a:spLocks noChangeArrowheads="1"/>
          </p:cNvSpPr>
          <p:nvPr/>
        </p:nvSpPr>
        <p:spPr bwMode="auto">
          <a:xfrm>
            <a:off x="539750" y="3654425"/>
            <a:ext cx="2597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zh-TW" sz="2000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r>
              <a:rPr lang="en-US" altLang="zh-TW" sz="2000">
                <a:latin typeface="Arial" panose="020B0604020202020204" pitchFamily="34" charset="0"/>
                <a:ea typeface="MS PGothic" panose="020B0600070205080204" pitchFamily="34" charset="-128"/>
              </a:rPr>
              <a:t> is the output of the (t-1)-th layer</a:t>
            </a:r>
            <a:endParaRPr lang="zh-TW" altLang="en-US" sz="2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0" name="文字方塊 113"/>
          <p:cNvSpPr txBox="1">
            <a:spLocks noChangeArrowheads="1"/>
          </p:cNvSpPr>
          <p:nvPr/>
        </p:nvSpPr>
        <p:spPr bwMode="auto">
          <a:xfrm>
            <a:off x="539750" y="4537075"/>
            <a:ext cx="25971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zh-TW" sz="2400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 is the output of the t-th layer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1" name="文字方塊 114"/>
          <p:cNvSpPr txBox="1">
            <a:spLocks noChangeArrowheads="1"/>
          </p:cNvSpPr>
          <p:nvPr/>
        </p:nvSpPr>
        <p:spPr bwMode="auto">
          <a:xfrm>
            <a:off x="525463" y="2776538"/>
            <a:ext cx="25955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No output y</a:t>
            </a:r>
            <a:r>
              <a:rPr lang="en-US" altLang="zh-TW" sz="2400" baseline="30000">
                <a:latin typeface="Arial" panose="020B0604020202020204" pitchFamily="34" charset="0"/>
                <a:ea typeface="MS PGothic" panose="020B0600070205080204" pitchFamily="34" charset="-128"/>
              </a:rPr>
              <a:t>t </a:t>
            </a:r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at each step</a:t>
            </a:r>
            <a:endParaRPr lang="zh-TW" altLang="en-US" sz="2400" baseline="30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2" name="文字方塊 115"/>
          <p:cNvSpPr txBox="1">
            <a:spLocks noChangeArrowheads="1"/>
          </p:cNvSpPr>
          <p:nvPr/>
        </p:nvSpPr>
        <p:spPr bwMode="auto">
          <a:xfrm>
            <a:off x="547688" y="5416550"/>
            <a:ext cx="2597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No reset gate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63" name="群組 2"/>
          <p:cNvGrpSpPr>
            <a:grpSpLocks/>
          </p:cNvGrpSpPr>
          <p:nvPr/>
        </p:nvGrpSpPr>
        <p:grpSpPr bwMode="auto">
          <a:xfrm>
            <a:off x="3429000" y="2209800"/>
            <a:ext cx="908050" cy="461963"/>
            <a:chOff x="3193163" y="950325"/>
            <a:chExt cx="907572" cy="461665"/>
          </a:xfrm>
        </p:grpSpPr>
        <p:sp>
          <p:nvSpPr>
            <p:cNvPr id="64" name="矩形 60"/>
            <p:cNvSpPr/>
            <p:nvPr/>
          </p:nvSpPr>
          <p:spPr>
            <a:xfrm>
              <a:off x="3269323" y="1026476"/>
              <a:ext cx="720346" cy="368062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65" name="文字方塊 61"/>
            <p:cNvSpPr txBox="1">
              <a:spLocks noChangeArrowheads="1"/>
            </p:cNvSpPr>
            <p:nvPr/>
          </p:nvSpPr>
          <p:spPr bwMode="auto">
            <a:xfrm>
              <a:off x="3193163" y="950325"/>
              <a:ext cx="907572" cy="461665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>
                  <a:solidFill>
                    <a:srgbClr val="000000"/>
                  </a:solidFill>
                </a:rPr>
                <a:t>a</a:t>
              </a:r>
              <a:r>
                <a:rPr lang="en-US" altLang="zh-TW" baseline="30000" smtClean="0">
                  <a:solidFill>
                    <a:srgbClr val="000000"/>
                  </a:solidFill>
                </a:rPr>
                <a:t>t-1</a:t>
              </a:r>
              <a:endParaRPr lang="zh-TW" altLang="en-US" baseline="30000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66" name="群組 16"/>
          <p:cNvGrpSpPr>
            <a:grpSpLocks/>
          </p:cNvGrpSpPr>
          <p:nvPr/>
        </p:nvGrpSpPr>
        <p:grpSpPr bwMode="auto">
          <a:xfrm>
            <a:off x="8077200" y="2209800"/>
            <a:ext cx="908050" cy="461963"/>
            <a:chOff x="8035071" y="2729680"/>
            <a:chExt cx="907572" cy="461665"/>
          </a:xfrm>
        </p:grpSpPr>
        <p:sp>
          <p:nvSpPr>
            <p:cNvPr id="67" name="矩形 62"/>
            <p:cNvSpPr/>
            <p:nvPr/>
          </p:nvSpPr>
          <p:spPr>
            <a:xfrm>
              <a:off x="8111231" y="2805831"/>
              <a:ext cx="720346" cy="368062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68" name="文字方塊 63"/>
            <p:cNvSpPr txBox="1">
              <a:spLocks noChangeArrowheads="1"/>
            </p:cNvSpPr>
            <p:nvPr/>
          </p:nvSpPr>
          <p:spPr bwMode="auto">
            <a:xfrm>
              <a:off x="8035071" y="2729680"/>
              <a:ext cx="907572" cy="461665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>
                  <a:solidFill>
                    <a:srgbClr val="000000"/>
                  </a:solidFill>
                </a:rPr>
                <a:t>a</a:t>
              </a:r>
              <a:r>
                <a:rPr lang="en-US" altLang="zh-TW" baseline="30000" smtClean="0">
                  <a:solidFill>
                    <a:srgbClr val="000000"/>
                  </a:solidFill>
                </a:rPr>
                <a:t>t</a:t>
              </a:r>
              <a:endParaRPr lang="zh-TW" altLang="en-US" baseline="30000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69" name="群組 66"/>
          <p:cNvGrpSpPr>
            <a:grpSpLocks/>
          </p:cNvGrpSpPr>
          <p:nvPr/>
        </p:nvGrpSpPr>
        <p:grpSpPr bwMode="auto">
          <a:xfrm>
            <a:off x="4648200" y="5791200"/>
            <a:ext cx="908050" cy="461963"/>
            <a:chOff x="3635004" y="1568003"/>
            <a:chExt cx="907572" cy="461665"/>
          </a:xfrm>
        </p:grpSpPr>
        <p:sp>
          <p:nvSpPr>
            <p:cNvPr id="70" name="矩形 67"/>
            <p:cNvSpPr/>
            <p:nvPr/>
          </p:nvSpPr>
          <p:spPr>
            <a:xfrm>
              <a:off x="3711164" y="1644154"/>
              <a:ext cx="720346" cy="368062"/>
            </a:xfrm>
            <a:prstGeom prst="rect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71" name="文字方塊 68"/>
            <p:cNvSpPr txBox="1">
              <a:spLocks noChangeArrowheads="1"/>
            </p:cNvSpPr>
            <p:nvPr/>
          </p:nvSpPr>
          <p:spPr bwMode="auto">
            <a:xfrm>
              <a:off x="3635004" y="1568003"/>
              <a:ext cx="907572" cy="461665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>
                  <a:solidFill>
                    <a:srgbClr val="000000"/>
                  </a:solidFill>
                </a:rPr>
                <a:t>a</a:t>
              </a:r>
              <a:r>
                <a:rPr lang="en-US" altLang="zh-TW" baseline="30000" smtClean="0">
                  <a:solidFill>
                    <a:srgbClr val="000000"/>
                  </a:solidFill>
                </a:rPr>
                <a:t>t-1</a:t>
              </a:r>
              <a:endParaRPr lang="zh-TW" altLang="en-US" baseline="30000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72" name="向下箭號 162"/>
          <p:cNvSpPr/>
          <p:nvPr/>
        </p:nvSpPr>
        <p:spPr>
          <a:xfrm rot="7262412" flipV="1">
            <a:off x="5604670" y="1910556"/>
            <a:ext cx="284162" cy="3311525"/>
          </a:xfrm>
          <a:prstGeom prst="downArrow">
            <a:avLst>
              <a:gd name="adj1" fmla="val 77328"/>
              <a:gd name="adj2" fmla="val 50000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735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8" grpId="0"/>
      <p:bldP spid="59" grpId="0"/>
      <p:bldP spid="60" grpId="0"/>
      <p:bldP spid="61" grpId="0"/>
      <p:bldP spid="6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標題 1"/>
          <p:cNvSpPr>
            <a:spLocks noGrp="1"/>
          </p:cNvSpPr>
          <p:nvPr/>
        </p:nvSpPr>
        <p:spPr bwMode="auto">
          <a:xfrm>
            <a:off x="595313" y="360363"/>
            <a:ext cx="78867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TW" sz="4400">
                <a:latin typeface="Arial" panose="020B0604020202020204" pitchFamily="34" charset="0"/>
                <a:ea typeface="MS PGothic" panose="020B0600070205080204" pitchFamily="34" charset="-128"/>
              </a:rPr>
              <a:t>Highway Network</a:t>
            </a:r>
            <a:endParaRPr lang="zh-TW" altLang="en-US" sz="4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27" name="內容版面配置區 2"/>
          <p:cNvSpPr>
            <a:spLocks noGrp="1"/>
          </p:cNvSpPr>
          <p:nvPr/>
        </p:nvSpPr>
        <p:spPr bwMode="auto">
          <a:xfrm>
            <a:off x="4894263" y="1706563"/>
            <a:ext cx="3886200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Residual Network</a:t>
            </a:r>
            <a:endParaRPr lang="zh-TW" altLang="en-US" sz="2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28" name="內容版面配置區 3"/>
          <p:cNvSpPr>
            <a:spLocks noGrp="1"/>
          </p:cNvSpPr>
          <p:nvPr/>
        </p:nvSpPr>
        <p:spPr bwMode="auto">
          <a:xfrm>
            <a:off x="576263" y="1706563"/>
            <a:ext cx="3886200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TW" sz="2800" b="1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Highway Network</a:t>
            </a:r>
            <a:endParaRPr lang="zh-TW" altLang="en-US" sz="2800">
              <a:latin typeface="Arial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TW" altLang="en-US" sz="28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29" name="矩形 4"/>
          <p:cNvSpPr>
            <a:spLocks noChangeArrowheads="1"/>
          </p:cNvSpPr>
          <p:nvPr/>
        </p:nvSpPr>
        <p:spPr bwMode="auto">
          <a:xfrm>
            <a:off x="4879975" y="5681663"/>
            <a:ext cx="41354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Deep Residual Learning for Image Recognition</a:t>
            </a:r>
          </a:p>
          <a:p>
            <a:pPr eaLnBrk="1" hangingPunct="1"/>
            <a:r>
              <a:rPr lang="en-US" altLang="zh-TW" b="1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http://arxiv.org/abs/1512.03385</a:t>
            </a:r>
          </a:p>
        </p:txBody>
      </p:sp>
      <p:sp>
        <p:nvSpPr>
          <p:cNvPr id="26630" name="矩形 5"/>
          <p:cNvSpPr>
            <a:spLocks noChangeArrowheads="1"/>
          </p:cNvSpPr>
          <p:nvPr/>
        </p:nvSpPr>
        <p:spPr bwMode="auto">
          <a:xfrm>
            <a:off x="847725" y="5689600"/>
            <a:ext cx="376237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Training Very Deep Networks</a:t>
            </a:r>
          </a:p>
          <a:p>
            <a:pPr eaLnBrk="1" hangingPunct="1"/>
            <a:r>
              <a:rPr lang="en-US" altLang="zh-TW" b="1">
                <a:solidFill>
                  <a:srgbClr val="000000"/>
                </a:solidFill>
                <a:latin typeface="Lucida Grande" charset="0"/>
                <a:ea typeface="MS PGothic" panose="020B0600070205080204" pitchFamily="34" charset="-128"/>
              </a:rPr>
              <a:t>https://arxiv.org/pdf/1507.06228v2.pdf</a:t>
            </a:r>
          </a:p>
        </p:txBody>
      </p:sp>
      <p:sp>
        <p:nvSpPr>
          <p:cNvPr id="9" name="矩形 6"/>
          <p:cNvSpPr/>
          <p:nvPr/>
        </p:nvSpPr>
        <p:spPr>
          <a:xfrm>
            <a:off x="5503863" y="3421063"/>
            <a:ext cx="1568450" cy="319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0" name="矩形 7"/>
          <p:cNvSpPr/>
          <p:nvPr/>
        </p:nvSpPr>
        <p:spPr>
          <a:xfrm>
            <a:off x="5503863" y="4273550"/>
            <a:ext cx="1568450" cy="319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cxnSp>
        <p:nvCxnSpPr>
          <p:cNvPr id="11" name="直線單箭頭接點 11"/>
          <p:cNvCxnSpPr/>
          <p:nvPr/>
        </p:nvCxnSpPr>
        <p:spPr>
          <a:xfrm flipV="1">
            <a:off x="6267450" y="3740150"/>
            <a:ext cx="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3"/>
          <p:cNvCxnSpPr/>
          <p:nvPr/>
        </p:nvCxnSpPr>
        <p:spPr>
          <a:xfrm flipV="1">
            <a:off x="6267450" y="4592638"/>
            <a:ext cx="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4"/>
          <p:cNvCxnSpPr/>
          <p:nvPr/>
        </p:nvCxnSpPr>
        <p:spPr>
          <a:xfrm flipV="1">
            <a:off x="6267450" y="2887663"/>
            <a:ext cx="0" cy="5334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5"/>
          <p:cNvCxnSpPr/>
          <p:nvPr/>
        </p:nvCxnSpPr>
        <p:spPr>
          <a:xfrm flipV="1">
            <a:off x="6267450" y="5137150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8"/>
          <p:cNvCxnSpPr/>
          <p:nvPr/>
        </p:nvCxnSpPr>
        <p:spPr>
          <a:xfrm flipV="1">
            <a:off x="6267450" y="2290763"/>
            <a:ext cx="0" cy="53340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橢圓 19"/>
          <p:cNvSpPr/>
          <p:nvPr/>
        </p:nvSpPr>
        <p:spPr>
          <a:xfrm>
            <a:off x="5580063" y="3490913"/>
            <a:ext cx="179387" cy="179387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17" name="橢圓 21"/>
          <p:cNvSpPr/>
          <p:nvPr/>
        </p:nvSpPr>
        <p:spPr>
          <a:xfrm>
            <a:off x="5826125" y="3489325"/>
            <a:ext cx="180975" cy="1809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18" name="橢圓 22"/>
          <p:cNvSpPr/>
          <p:nvPr/>
        </p:nvSpPr>
        <p:spPr>
          <a:xfrm>
            <a:off x="6081713" y="3489325"/>
            <a:ext cx="180975" cy="1809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19" name="橢圓 23"/>
          <p:cNvSpPr/>
          <p:nvPr/>
        </p:nvSpPr>
        <p:spPr>
          <a:xfrm>
            <a:off x="6321425" y="3492500"/>
            <a:ext cx="180975" cy="17938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20" name="橢圓 24"/>
          <p:cNvSpPr/>
          <p:nvPr/>
        </p:nvSpPr>
        <p:spPr>
          <a:xfrm>
            <a:off x="6564313" y="3489325"/>
            <a:ext cx="179387" cy="1809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21" name="橢圓 25"/>
          <p:cNvSpPr/>
          <p:nvPr/>
        </p:nvSpPr>
        <p:spPr>
          <a:xfrm>
            <a:off x="6824663" y="3489325"/>
            <a:ext cx="179387" cy="17938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22" name="橢圓 26"/>
          <p:cNvSpPr/>
          <p:nvPr/>
        </p:nvSpPr>
        <p:spPr>
          <a:xfrm>
            <a:off x="5580063" y="4289425"/>
            <a:ext cx="179387" cy="17938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23" name="橢圓 27"/>
          <p:cNvSpPr/>
          <p:nvPr/>
        </p:nvSpPr>
        <p:spPr>
          <a:xfrm>
            <a:off x="5826125" y="4287838"/>
            <a:ext cx="180975" cy="1809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24" name="橢圓 28"/>
          <p:cNvSpPr/>
          <p:nvPr/>
        </p:nvSpPr>
        <p:spPr>
          <a:xfrm>
            <a:off x="6081713" y="4287838"/>
            <a:ext cx="180975" cy="1809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25" name="橢圓 29"/>
          <p:cNvSpPr/>
          <p:nvPr/>
        </p:nvSpPr>
        <p:spPr>
          <a:xfrm>
            <a:off x="6321425" y="4291013"/>
            <a:ext cx="180975" cy="1809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26" name="橢圓 30"/>
          <p:cNvSpPr/>
          <p:nvPr/>
        </p:nvSpPr>
        <p:spPr>
          <a:xfrm>
            <a:off x="6564313" y="4287838"/>
            <a:ext cx="179387" cy="1809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27" name="橢圓 31"/>
          <p:cNvSpPr/>
          <p:nvPr/>
        </p:nvSpPr>
        <p:spPr>
          <a:xfrm>
            <a:off x="6824663" y="4287838"/>
            <a:ext cx="179387" cy="18097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28" name="橢圓 32"/>
          <p:cNvSpPr/>
          <p:nvPr/>
        </p:nvSpPr>
        <p:spPr>
          <a:xfrm>
            <a:off x="6081713" y="2557463"/>
            <a:ext cx="377825" cy="37623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+</a:t>
            </a:r>
            <a:endParaRPr lang="zh-TW" altLang="en-US" sz="2400" dirty="0"/>
          </a:p>
        </p:txBody>
      </p:sp>
      <p:cxnSp>
        <p:nvCxnSpPr>
          <p:cNvPr id="29" name="直線接點 34"/>
          <p:cNvCxnSpPr/>
          <p:nvPr/>
        </p:nvCxnSpPr>
        <p:spPr>
          <a:xfrm>
            <a:off x="6288088" y="4984750"/>
            <a:ext cx="12541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35"/>
          <p:cNvCxnSpPr/>
          <p:nvPr/>
        </p:nvCxnSpPr>
        <p:spPr>
          <a:xfrm flipV="1">
            <a:off x="7542213" y="2746375"/>
            <a:ext cx="0" cy="22383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8"/>
          <p:cNvCxnSpPr/>
          <p:nvPr/>
        </p:nvCxnSpPr>
        <p:spPr>
          <a:xfrm flipH="1">
            <a:off x="6502400" y="2746375"/>
            <a:ext cx="1039813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654" name="群組 47"/>
          <p:cNvGrpSpPr>
            <a:grpSpLocks/>
          </p:cNvGrpSpPr>
          <p:nvPr/>
        </p:nvGrpSpPr>
        <p:grpSpPr bwMode="auto">
          <a:xfrm>
            <a:off x="2054225" y="4000500"/>
            <a:ext cx="1566863" cy="319088"/>
            <a:chOff x="5754347" y="3836831"/>
            <a:chExt cx="1567543" cy="319314"/>
          </a:xfrm>
        </p:grpSpPr>
        <p:sp>
          <p:nvSpPr>
            <p:cNvPr id="58" name="矩形 40"/>
            <p:cNvSpPr/>
            <p:nvPr/>
          </p:nvSpPr>
          <p:spPr>
            <a:xfrm>
              <a:off x="5754347" y="3836831"/>
              <a:ext cx="1567543" cy="319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59" name="橢圓 41"/>
            <p:cNvSpPr/>
            <p:nvPr/>
          </p:nvSpPr>
          <p:spPr>
            <a:xfrm>
              <a:off x="5828992" y="3906730"/>
              <a:ext cx="181054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60" name="橢圓 42"/>
            <p:cNvSpPr/>
            <p:nvPr/>
          </p:nvSpPr>
          <p:spPr>
            <a:xfrm>
              <a:off x="6076750" y="3906730"/>
              <a:ext cx="179465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61" name="橢圓 43"/>
            <p:cNvSpPr/>
            <p:nvPr/>
          </p:nvSpPr>
          <p:spPr>
            <a:xfrm>
              <a:off x="6332448" y="3906730"/>
              <a:ext cx="179466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62" name="橢圓 44"/>
            <p:cNvSpPr/>
            <p:nvPr/>
          </p:nvSpPr>
          <p:spPr>
            <a:xfrm>
              <a:off x="6572265" y="3908320"/>
              <a:ext cx="179465" cy="18110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63" name="橢圓 45"/>
            <p:cNvSpPr/>
            <p:nvPr/>
          </p:nvSpPr>
          <p:spPr>
            <a:xfrm>
              <a:off x="6813670" y="3906730"/>
              <a:ext cx="181054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64" name="橢圓 46"/>
            <p:cNvSpPr/>
            <p:nvPr/>
          </p:nvSpPr>
          <p:spPr>
            <a:xfrm>
              <a:off x="7074133" y="3905142"/>
              <a:ext cx="179465" cy="18110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</p:grpSp>
      <p:cxnSp>
        <p:nvCxnSpPr>
          <p:cNvPr id="33" name="直線單箭頭接點 48"/>
          <p:cNvCxnSpPr/>
          <p:nvPr/>
        </p:nvCxnSpPr>
        <p:spPr>
          <a:xfrm flipH="1" flipV="1">
            <a:off x="2833688" y="2892425"/>
            <a:ext cx="368300" cy="381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49"/>
          <p:cNvCxnSpPr/>
          <p:nvPr/>
        </p:nvCxnSpPr>
        <p:spPr>
          <a:xfrm flipV="1">
            <a:off x="2819400" y="2354263"/>
            <a:ext cx="0" cy="53340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51"/>
          <p:cNvCxnSpPr/>
          <p:nvPr/>
        </p:nvCxnSpPr>
        <p:spPr>
          <a:xfrm flipH="1">
            <a:off x="3373438" y="2933700"/>
            <a:ext cx="723900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52"/>
          <p:cNvCxnSpPr/>
          <p:nvPr/>
        </p:nvCxnSpPr>
        <p:spPr>
          <a:xfrm flipV="1">
            <a:off x="4097338" y="2887663"/>
            <a:ext cx="0" cy="1963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53"/>
          <p:cNvCxnSpPr>
            <a:endCxn id="58" idx="2"/>
          </p:cNvCxnSpPr>
          <p:nvPr/>
        </p:nvCxnSpPr>
        <p:spPr>
          <a:xfrm flipV="1">
            <a:off x="2808288" y="4319588"/>
            <a:ext cx="0" cy="9413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54"/>
          <p:cNvCxnSpPr/>
          <p:nvPr/>
        </p:nvCxnSpPr>
        <p:spPr>
          <a:xfrm flipV="1">
            <a:off x="2808288" y="5272088"/>
            <a:ext cx="0" cy="304800"/>
          </a:xfrm>
          <a:prstGeom prst="straightConnector1">
            <a:avLst/>
          </a:prstGeom>
          <a:ln w="3810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57"/>
          <p:cNvCxnSpPr/>
          <p:nvPr/>
        </p:nvCxnSpPr>
        <p:spPr>
          <a:xfrm>
            <a:off x="2832100" y="4851400"/>
            <a:ext cx="12525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60"/>
          <p:cNvCxnSpPr/>
          <p:nvPr/>
        </p:nvCxnSpPr>
        <p:spPr>
          <a:xfrm>
            <a:off x="1538288" y="4851400"/>
            <a:ext cx="1252537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61"/>
          <p:cNvCxnSpPr/>
          <p:nvPr/>
        </p:nvCxnSpPr>
        <p:spPr>
          <a:xfrm flipV="1">
            <a:off x="1538288" y="3122613"/>
            <a:ext cx="0" cy="1728787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63"/>
          <p:cNvCxnSpPr/>
          <p:nvPr/>
        </p:nvCxnSpPr>
        <p:spPr>
          <a:xfrm>
            <a:off x="1538288" y="3122613"/>
            <a:ext cx="1512887" cy="0"/>
          </a:xfrm>
          <a:prstGeom prst="line">
            <a:avLst/>
          </a:prstGeom>
          <a:ln w="3810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65" name="文字方塊 65"/>
          <p:cNvSpPr txBox="1">
            <a:spLocks noChangeArrowheads="1"/>
          </p:cNvSpPr>
          <p:nvPr/>
        </p:nvSpPr>
        <p:spPr bwMode="auto">
          <a:xfrm>
            <a:off x="7454900" y="3621088"/>
            <a:ext cx="933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copy</a:t>
            </a:r>
            <a:endParaRPr lang="zh-TW" altLang="en-US" sz="240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66" name="文字方塊 66"/>
          <p:cNvSpPr txBox="1">
            <a:spLocks noChangeArrowheads="1"/>
          </p:cNvSpPr>
          <p:nvPr/>
        </p:nvSpPr>
        <p:spPr bwMode="auto">
          <a:xfrm>
            <a:off x="3997325" y="3787775"/>
            <a:ext cx="931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copy</a:t>
            </a:r>
            <a:endParaRPr lang="zh-TW" altLang="en-US" sz="240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67" name="文字方塊 67"/>
          <p:cNvSpPr txBox="1">
            <a:spLocks noChangeArrowheads="1"/>
          </p:cNvSpPr>
          <p:nvPr/>
        </p:nvSpPr>
        <p:spPr bwMode="auto">
          <a:xfrm>
            <a:off x="128588" y="3546475"/>
            <a:ext cx="14382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solidFill>
                  <a:srgbClr val="0000FF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Gate controller</a:t>
            </a:r>
            <a:endParaRPr lang="zh-TW" altLang="en-US" sz="2400">
              <a:solidFill>
                <a:srgbClr val="0000FF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46" name="直線單箭頭接點 62"/>
          <p:cNvCxnSpPr/>
          <p:nvPr/>
        </p:nvCxnSpPr>
        <p:spPr>
          <a:xfrm flipV="1">
            <a:off x="2800350" y="3421063"/>
            <a:ext cx="0" cy="5794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69" name="TextBox 64"/>
          <p:cNvSpPr txBox="1">
            <a:spLocks noChangeArrowheads="1"/>
          </p:cNvSpPr>
          <p:nvPr/>
        </p:nvSpPr>
        <p:spPr bwMode="auto">
          <a:xfrm>
            <a:off x="2895600" y="4953000"/>
            <a:ext cx="49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70" name="TextBox 65"/>
          <p:cNvSpPr txBox="1">
            <a:spLocks noChangeArrowheads="1"/>
          </p:cNvSpPr>
          <p:nvPr/>
        </p:nvSpPr>
        <p:spPr bwMode="auto">
          <a:xfrm>
            <a:off x="6324600" y="5029200"/>
            <a:ext cx="49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71" name="TextBox 66"/>
          <p:cNvSpPr txBox="1">
            <a:spLocks noChangeArrowheads="1"/>
          </p:cNvSpPr>
          <p:nvPr/>
        </p:nvSpPr>
        <p:spPr bwMode="auto">
          <a:xfrm>
            <a:off x="2895600" y="2133600"/>
            <a:ext cx="355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72" name="TextBox 67"/>
          <p:cNvSpPr txBox="1">
            <a:spLocks noChangeArrowheads="1"/>
          </p:cNvSpPr>
          <p:nvPr/>
        </p:nvSpPr>
        <p:spPr bwMode="auto">
          <a:xfrm>
            <a:off x="6324600" y="2133600"/>
            <a:ext cx="355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73" name="TextBox 68"/>
          <p:cNvSpPr txBox="1">
            <a:spLocks noChangeArrowheads="1"/>
          </p:cNvSpPr>
          <p:nvPr/>
        </p:nvSpPr>
        <p:spPr bwMode="auto">
          <a:xfrm>
            <a:off x="7620000" y="2667000"/>
            <a:ext cx="492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6674" name="TextBox 69"/>
          <p:cNvSpPr txBox="1">
            <a:spLocks noChangeArrowheads="1"/>
          </p:cNvSpPr>
          <p:nvPr/>
        </p:nvSpPr>
        <p:spPr bwMode="auto">
          <a:xfrm>
            <a:off x="5892800" y="2971800"/>
            <a:ext cx="355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h’</a:t>
            </a:r>
          </a:p>
        </p:txBody>
      </p:sp>
      <p:sp>
        <p:nvSpPr>
          <p:cNvPr id="26675" name="TextBox 70"/>
          <p:cNvSpPr txBox="1">
            <a:spLocks noChangeArrowheads="1"/>
          </p:cNvSpPr>
          <p:nvPr/>
        </p:nvSpPr>
        <p:spPr bwMode="auto">
          <a:xfrm>
            <a:off x="2362200" y="3363913"/>
            <a:ext cx="355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h’</a:t>
            </a:r>
          </a:p>
        </p:txBody>
      </p:sp>
      <p:sp>
        <p:nvSpPr>
          <p:cNvPr id="26676" name="TextBox 71"/>
          <p:cNvSpPr txBox="1">
            <a:spLocks noChangeArrowheads="1"/>
          </p:cNvSpPr>
          <p:nvPr/>
        </p:nvSpPr>
        <p:spPr bwMode="auto">
          <a:xfrm>
            <a:off x="609600" y="2743200"/>
            <a:ext cx="2224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z controls red arrow</a:t>
            </a:r>
          </a:p>
        </p:txBody>
      </p:sp>
      <p:sp>
        <p:nvSpPr>
          <p:cNvPr id="26677" name="TextBox 72"/>
          <p:cNvSpPr txBox="1">
            <a:spLocks noChangeArrowheads="1"/>
          </p:cNvSpPr>
          <p:nvPr/>
        </p:nvSpPr>
        <p:spPr bwMode="auto">
          <a:xfrm>
            <a:off x="5240338" y="152400"/>
            <a:ext cx="13128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h’=σ(Wa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26678" name="TextBox 73"/>
          <p:cNvSpPr txBox="1">
            <a:spLocks noChangeArrowheads="1"/>
          </p:cNvSpPr>
          <p:nvPr/>
        </p:nvSpPr>
        <p:spPr bwMode="auto">
          <a:xfrm>
            <a:off x="5257800" y="533400"/>
            <a:ext cx="1308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z=σ(W’a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t-1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)</a:t>
            </a:r>
          </a:p>
        </p:txBody>
      </p:sp>
      <p:sp>
        <p:nvSpPr>
          <p:cNvPr id="26679" name="TextBox 74"/>
          <p:cNvSpPr txBox="1">
            <a:spLocks noChangeArrowheads="1"/>
          </p:cNvSpPr>
          <p:nvPr/>
        </p:nvSpPr>
        <p:spPr bwMode="auto">
          <a:xfrm>
            <a:off x="5257800" y="914400"/>
            <a:ext cx="2576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</a:rPr>
              <a:t>t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 = z </a:t>
            </a:r>
            <a:r>
              <a:rPr lang="en-US" altLang="en-US">
                <a:latin typeface="Wingdings" panose="05000000000000000000" pitchFamily="2" charset="2"/>
                <a:ea typeface="MS PGothic" panose="020B0600070205080204" pitchFamily="34" charset="-128"/>
                <a:sym typeface="Wingdings" panose="05000000000000000000" pitchFamily="2" charset="2"/>
              </a:rPr>
              <a:t>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  <a:sym typeface="Wingdings" panose="05000000000000000000" pitchFamily="2" charset="2"/>
              </a:rPr>
              <a:t> a</a:t>
            </a:r>
            <a:r>
              <a:rPr lang="en-US" altLang="en-US" baseline="30000">
                <a:latin typeface="Arial" panose="020B0604020202020204" pitchFamily="34" charset="0"/>
                <a:ea typeface="MS PGothic" panose="020B0600070205080204" pitchFamily="34" charset="-128"/>
                <a:sym typeface="Wingdings" panose="05000000000000000000" pitchFamily="2" charset="2"/>
              </a:rPr>
              <a:t>t-1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  <a:sym typeface="Wingdings" panose="05000000000000000000" pitchFamily="2" charset="2"/>
              </a:rPr>
              <a:t> + (1-z) </a:t>
            </a:r>
            <a:r>
              <a:rPr lang="en-US" altLang="en-US">
                <a:latin typeface="Wingdings" panose="05000000000000000000" pitchFamily="2" charset="2"/>
                <a:ea typeface="MS PGothic" panose="020B0600070205080204" pitchFamily="34" charset="-128"/>
                <a:sym typeface="Wingdings" panose="05000000000000000000" pitchFamily="2" charset="2"/>
              </a:rPr>
              <a:t>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  <a:sym typeface="Wingdings" panose="05000000000000000000" pitchFamily="2" charset="2"/>
              </a:rPr>
              <a:t> h</a:t>
            </a:r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841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線單箭頭接點 24"/>
          <p:cNvCxnSpPr/>
          <p:nvPr/>
        </p:nvCxnSpPr>
        <p:spPr>
          <a:xfrm flipV="1">
            <a:off x="1382713" y="782638"/>
            <a:ext cx="0" cy="4095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51" name="群組 69"/>
          <p:cNvGrpSpPr>
            <a:grpSpLocks/>
          </p:cNvGrpSpPr>
          <p:nvPr/>
        </p:nvGrpSpPr>
        <p:grpSpPr bwMode="auto">
          <a:xfrm>
            <a:off x="649288" y="4310063"/>
            <a:ext cx="1820862" cy="1847850"/>
            <a:chOff x="6090366" y="3664535"/>
            <a:chExt cx="1821328" cy="1848542"/>
          </a:xfrm>
        </p:grpSpPr>
        <p:grpSp>
          <p:nvGrpSpPr>
            <p:cNvPr id="27778" name="群組 3"/>
            <p:cNvGrpSpPr>
              <a:grpSpLocks/>
            </p:cNvGrpSpPr>
            <p:nvPr/>
          </p:nvGrpSpPr>
          <p:grpSpPr bwMode="auto">
            <a:xfrm>
              <a:off x="6090366" y="4390392"/>
              <a:ext cx="1567543" cy="319314"/>
              <a:chOff x="5754347" y="3836831"/>
              <a:chExt cx="1567543" cy="319314"/>
            </a:xfrm>
          </p:grpSpPr>
          <p:sp>
            <p:nvSpPr>
              <p:cNvPr id="13" name="矩形 4"/>
              <p:cNvSpPr/>
              <p:nvPr/>
            </p:nvSpPr>
            <p:spPr>
              <a:xfrm>
                <a:off x="5754347" y="3836733"/>
                <a:ext cx="1567263" cy="3192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/>
              </a:p>
            </p:txBody>
          </p:sp>
          <p:sp>
            <p:nvSpPr>
              <p:cNvPr id="14" name="橢圓 5"/>
              <p:cNvSpPr/>
              <p:nvPr/>
            </p:nvSpPr>
            <p:spPr>
              <a:xfrm>
                <a:off x="5828978" y="3906609"/>
                <a:ext cx="181021" cy="179455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15" name="橢圓 6"/>
              <p:cNvSpPr/>
              <p:nvPr/>
            </p:nvSpPr>
            <p:spPr>
              <a:xfrm>
                <a:off x="6076691" y="3906609"/>
                <a:ext cx="179434" cy="179455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16" name="橢圓 7"/>
              <p:cNvSpPr/>
              <p:nvPr/>
            </p:nvSpPr>
            <p:spPr>
              <a:xfrm>
                <a:off x="6332345" y="3906609"/>
                <a:ext cx="179433" cy="179455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17" name="橢圓 8"/>
              <p:cNvSpPr/>
              <p:nvPr/>
            </p:nvSpPr>
            <p:spPr>
              <a:xfrm>
                <a:off x="6572118" y="3908198"/>
                <a:ext cx="179434" cy="181043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18" name="橢圓 9"/>
              <p:cNvSpPr/>
              <p:nvPr/>
            </p:nvSpPr>
            <p:spPr>
              <a:xfrm>
                <a:off x="6813480" y="3906609"/>
                <a:ext cx="181021" cy="179455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19" name="橢圓 10"/>
              <p:cNvSpPr/>
              <p:nvPr/>
            </p:nvSpPr>
            <p:spPr>
              <a:xfrm>
                <a:off x="7073897" y="3905022"/>
                <a:ext cx="179434" cy="181043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</p:grpSp>
        <p:cxnSp>
          <p:nvCxnSpPr>
            <p:cNvPr id="7" name="直線單箭頭接點 11"/>
            <p:cNvCxnSpPr/>
            <p:nvPr/>
          </p:nvCxnSpPr>
          <p:spPr>
            <a:xfrm flipH="1" flipV="1">
              <a:off x="6843034" y="3683592"/>
              <a:ext cx="303290" cy="31126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14"/>
            <p:cNvCxnSpPr/>
            <p:nvPr/>
          </p:nvCxnSpPr>
          <p:spPr>
            <a:xfrm flipH="1">
              <a:off x="7187609" y="3683592"/>
              <a:ext cx="724085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15"/>
            <p:cNvCxnSpPr/>
            <p:nvPr/>
          </p:nvCxnSpPr>
          <p:spPr>
            <a:xfrm flipV="1">
              <a:off x="7911694" y="3664535"/>
              <a:ext cx="0" cy="13768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16"/>
            <p:cNvCxnSpPr/>
            <p:nvPr/>
          </p:nvCxnSpPr>
          <p:spPr>
            <a:xfrm flipV="1">
              <a:off x="6860500" y="4733322"/>
              <a:ext cx="0" cy="77975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8"/>
            <p:cNvCxnSpPr/>
            <p:nvPr/>
          </p:nvCxnSpPr>
          <p:spPr>
            <a:xfrm>
              <a:off x="6874792" y="5041412"/>
              <a:ext cx="10369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48"/>
            <p:cNvCxnSpPr/>
            <p:nvPr/>
          </p:nvCxnSpPr>
          <p:spPr>
            <a:xfrm flipV="1">
              <a:off x="6843034" y="4001211"/>
              <a:ext cx="0" cy="3668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52" name="群組 70"/>
          <p:cNvGrpSpPr>
            <a:grpSpLocks/>
          </p:cNvGrpSpPr>
          <p:nvPr/>
        </p:nvGrpSpPr>
        <p:grpSpPr bwMode="auto">
          <a:xfrm>
            <a:off x="635000" y="2747963"/>
            <a:ext cx="1822450" cy="1566862"/>
            <a:chOff x="6090366" y="3664535"/>
            <a:chExt cx="1821328" cy="1567865"/>
          </a:xfrm>
        </p:grpSpPr>
        <p:grpSp>
          <p:nvGrpSpPr>
            <p:cNvPr id="27764" name="群組 71"/>
            <p:cNvGrpSpPr>
              <a:grpSpLocks/>
            </p:cNvGrpSpPr>
            <p:nvPr/>
          </p:nvGrpSpPr>
          <p:grpSpPr bwMode="auto">
            <a:xfrm>
              <a:off x="6090366" y="4390392"/>
              <a:ext cx="1567543" cy="319314"/>
              <a:chOff x="5754347" y="3836831"/>
              <a:chExt cx="1567543" cy="319314"/>
            </a:xfrm>
          </p:grpSpPr>
          <p:sp>
            <p:nvSpPr>
              <p:cNvPr id="28" name="矩形 78"/>
              <p:cNvSpPr/>
              <p:nvPr/>
            </p:nvSpPr>
            <p:spPr>
              <a:xfrm>
                <a:off x="5754347" y="3836925"/>
                <a:ext cx="1567484" cy="31929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/>
              </a:p>
            </p:txBody>
          </p:sp>
          <p:sp>
            <p:nvSpPr>
              <p:cNvPr id="29" name="橢圓 79"/>
              <p:cNvSpPr/>
              <p:nvPr/>
            </p:nvSpPr>
            <p:spPr>
              <a:xfrm>
                <a:off x="5828914" y="3906820"/>
                <a:ext cx="180864" cy="179503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30" name="橢圓 80"/>
              <p:cNvSpPr/>
              <p:nvPr/>
            </p:nvSpPr>
            <p:spPr>
              <a:xfrm>
                <a:off x="6076412" y="3906820"/>
                <a:ext cx="180864" cy="179503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31" name="橢圓 81"/>
              <p:cNvSpPr/>
              <p:nvPr/>
            </p:nvSpPr>
            <p:spPr>
              <a:xfrm>
                <a:off x="6331841" y="3906820"/>
                <a:ext cx="180864" cy="179503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32" name="橢圓 82"/>
              <p:cNvSpPr/>
              <p:nvPr/>
            </p:nvSpPr>
            <p:spPr>
              <a:xfrm>
                <a:off x="6571406" y="3908409"/>
                <a:ext cx="180864" cy="181091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33" name="橢圓 83"/>
              <p:cNvSpPr/>
              <p:nvPr/>
            </p:nvSpPr>
            <p:spPr>
              <a:xfrm>
                <a:off x="6814144" y="3906820"/>
                <a:ext cx="180864" cy="179503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34" name="橢圓 84"/>
              <p:cNvSpPr/>
              <p:nvPr/>
            </p:nvSpPr>
            <p:spPr>
              <a:xfrm>
                <a:off x="7074334" y="3905232"/>
                <a:ext cx="179278" cy="181091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</p:grpSp>
        <p:cxnSp>
          <p:nvCxnSpPr>
            <p:cNvPr id="22" name="直線單箭頭接點 72"/>
            <p:cNvCxnSpPr/>
            <p:nvPr/>
          </p:nvCxnSpPr>
          <p:spPr>
            <a:xfrm flipH="1" flipV="1">
              <a:off x="6843965" y="3683597"/>
              <a:ext cx="301439" cy="31134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73"/>
            <p:cNvCxnSpPr/>
            <p:nvPr/>
          </p:nvCxnSpPr>
          <p:spPr>
            <a:xfrm flipH="1">
              <a:off x="7186654" y="3683597"/>
              <a:ext cx="72504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74"/>
            <p:cNvCxnSpPr/>
            <p:nvPr/>
          </p:nvCxnSpPr>
          <p:spPr>
            <a:xfrm flipV="1">
              <a:off x="7911694" y="3664535"/>
              <a:ext cx="0" cy="13772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75"/>
            <p:cNvCxnSpPr/>
            <p:nvPr/>
          </p:nvCxnSpPr>
          <p:spPr>
            <a:xfrm flipV="1">
              <a:off x="6859830" y="4732018"/>
              <a:ext cx="0" cy="50038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76"/>
            <p:cNvCxnSpPr/>
            <p:nvPr/>
          </p:nvCxnSpPr>
          <p:spPr>
            <a:xfrm>
              <a:off x="6874108" y="5041778"/>
              <a:ext cx="103758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77"/>
            <p:cNvCxnSpPr/>
            <p:nvPr/>
          </p:nvCxnSpPr>
          <p:spPr>
            <a:xfrm flipV="1">
              <a:off x="6843965" y="4001300"/>
              <a:ext cx="0" cy="36694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53" name="群組 85"/>
          <p:cNvGrpSpPr>
            <a:grpSpLocks/>
          </p:cNvGrpSpPr>
          <p:nvPr/>
        </p:nvGrpSpPr>
        <p:grpSpPr bwMode="auto">
          <a:xfrm>
            <a:off x="628650" y="1173163"/>
            <a:ext cx="1822450" cy="1568450"/>
            <a:chOff x="6090366" y="3664535"/>
            <a:chExt cx="1821328" cy="1567865"/>
          </a:xfrm>
        </p:grpSpPr>
        <p:grpSp>
          <p:nvGrpSpPr>
            <p:cNvPr id="27750" name="群組 86"/>
            <p:cNvGrpSpPr>
              <a:grpSpLocks/>
            </p:cNvGrpSpPr>
            <p:nvPr/>
          </p:nvGrpSpPr>
          <p:grpSpPr bwMode="auto">
            <a:xfrm>
              <a:off x="6090366" y="4390392"/>
              <a:ext cx="1567543" cy="319314"/>
              <a:chOff x="5754347" y="3836831"/>
              <a:chExt cx="1567543" cy="319314"/>
            </a:xfrm>
          </p:grpSpPr>
          <p:sp>
            <p:nvSpPr>
              <p:cNvPr id="43" name="矩形 93"/>
              <p:cNvSpPr/>
              <p:nvPr/>
            </p:nvSpPr>
            <p:spPr>
              <a:xfrm>
                <a:off x="5754347" y="3836190"/>
                <a:ext cx="1567484" cy="3205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/>
              </a:p>
            </p:txBody>
          </p:sp>
          <p:sp>
            <p:nvSpPr>
              <p:cNvPr id="44" name="橢圓 94"/>
              <p:cNvSpPr/>
              <p:nvPr/>
            </p:nvSpPr>
            <p:spPr>
              <a:xfrm>
                <a:off x="5828914" y="3906014"/>
                <a:ext cx="180864" cy="180908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45" name="橢圓 95"/>
              <p:cNvSpPr/>
              <p:nvPr/>
            </p:nvSpPr>
            <p:spPr>
              <a:xfrm>
                <a:off x="6076412" y="3906014"/>
                <a:ext cx="180864" cy="180908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46" name="橢圓 96"/>
              <p:cNvSpPr/>
              <p:nvPr/>
            </p:nvSpPr>
            <p:spPr>
              <a:xfrm>
                <a:off x="6331841" y="3906014"/>
                <a:ext cx="180864" cy="180908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47" name="橢圓 97"/>
              <p:cNvSpPr/>
              <p:nvPr/>
            </p:nvSpPr>
            <p:spPr>
              <a:xfrm>
                <a:off x="6571406" y="3909188"/>
                <a:ext cx="180864" cy="180908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48" name="橢圓 98"/>
              <p:cNvSpPr/>
              <p:nvPr/>
            </p:nvSpPr>
            <p:spPr>
              <a:xfrm>
                <a:off x="6814144" y="3906014"/>
                <a:ext cx="180864" cy="180908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  <p:sp>
            <p:nvSpPr>
              <p:cNvPr id="49" name="橢圓 99"/>
              <p:cNvSpPr/>
              <p:nvPr/>
            </p:nvSpPr>
            <p:spPr>
              <a:xfrm>
                <a:off x="7074334" y="3906014"/>
                <a:ext cx="179278" cy="180908"/>
              </a:xfrm>
              <a:prstGeom prst="ellipse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dirty="0"/>
              </a:p>
            </p:txBody>
          </p:sp>
        </p:grpSp>
        <p:cxnSp>
          <p:nvCxnSpPr>
            <p:cNvPr id="37" name="直線單箭頭接點 87"/>
            <p:cNvCxnSpPr/>
            <p:nvPr/>
          </p:nvCxnSpPr>
          <p:spPr>
            <a:xfrm flipH="1" flipV="1">
              <a:off x="6843965" y="3683578"/>
              <a:ext cx="301439" cy="311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88"/>
            <p:cNvCxnSpPr/>
            <p:nvPr/>
          </p:nvCxnSpPr>
          <p:spPr>
            <a:xfrm flipH="1">
              <a:off x="7186654" y="3683578"/>
              <a:ext cx="725040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89"/>
            <p:cNvCxnSpPr/>
            <p:nvPr/>
          </p:nvCxnSpPr>
          <p:spPr>
            <a:xfrm flipV="1">
              <a:off x="7911694" y="3664535"/>
              <a:ext cx="0" cy="137743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90"/>
            <p:cNvCxnSpPr/>
            <p:nvPr/>
          </p:nvCxnSpPr>
          <p:spPr>
            <a:xfrm flipV="1">
              <a:off x="6859830" y="4732524"/>
              <a:ext cx="0" cy="4998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91"/>
            <p:cNvCxnSpPr/>
            <p:nvPr/>
          </p:nvCxnSpPr>
          <p:spPr>
            <a:xfrm>
              <a:off x="6874108" y="5041971"/>
              <a:ext cx="103758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92"/>
            <p:cNvCxnSpPr/>
            <p:nvPr/>
          </p:nvCxnSpPr>
          <p:spPr>
            <a:xfrm flipV="1">
              <a:off x="6843965" y="4000959"/>
              <a:ext cx="0" cy="36816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文字方塊 102"/>
          <p:cNvSpPr txBox="1"/>
          <p:nvPr/>
        </p:nvSpPr>
        <p:spPr>
          <a:xfrm>
            <a:off x="617538" y="6180138"/>
            <a:ext cx="1657350" cy="46196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Input layer</a:t>
            </a:r>
            <a:endParaRPr lang="zh-TW" altLang="en-US" sz="2400" dirty="0"/>
          </a:p>
        </p:txBody>
      </p:sp>
      <p:sp>
        <p:nvSpPr>
          <p:cNvPr id="51" name="文字方塊 103"/>
          <p:cNvSpPr txBox="1"/>
          <p:nvPr/>
        </p:nvSpPr>
        <p:spPr>
          <a:xfrm>
            <a:off x="525463" y="241300"/>
            <a:ext cx="1814512" cy="4603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output layer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cxnSp>
        <p:nvCxnSpPr>
          <p:cNvPr id="52" name="直線單箭頭接點 106"/>
          <p:cNvCxnSpPr/>
          <p:nvPr/>
        </p:nvCxnSpPr>
        <p:spPr>
          <a:xfrm flipV="1">
            <a:off x="4621213" y="782638"/>
            <a:ext cx="0" cy="4095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群組 108"/>
          <p:cNvGrpSpPr>
            <a:grpSpLocks/>
          </p:cNvGrpSpPr>
          <p:nvPr/>
        </p:nvGrpSpPr>
        <p:grpSpPr bwMode="auto">
          <a:xfrm>
            <a:off x="3887788" y="5035550"/>
            <a:ext cx="1568450" cy="319088"/>
            <a:chOff x="5754347" y="3836831"/>
            <a:chExt cx="1567543" cy="319314"/>
          </a:xfrm>
        </p:grpSpPr>
        <p:sp>
          <p:nvSpPr>
            <p:cNvPr id="54" name="矩形 115"/>
            <p:cNvSpPr/>
            <p:nvPr/>
          </p:nvSpPr>
          <p:spPr>
            <a:xfrm>
              <a:off x="5754347" y="3836831"/>
              <a:ext cx="1567543" cy="319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55" name="橢圓 116"/>
            <p:cNvSpPr/>
            <p:nvPr/>
          </p:nvSpPr>
          <p:spPr>
            <a:xfrm>
              <a:off x="5828916" y="3906730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56" name="橢圓 117"/>
            <p:cNvSpPr/>
            <p:nvPr/>
          </p:nvSpPr>
          <p:spPr>
            <a:xfrm>
              <a:off x="6076423" y="3906730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57" name="橢圓 118"/>
            <p:cNvSpPr/>
            <p:nvPr/>
          </p:nvSpPr>
          <p:spPr>
            <a:xfrm>
              <a:off x="6331863" y="3906730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58" name="橢圓 119"/>
            <p:cNvSpPr/>
            <p:nvPr/>
          </p:nvSpPr>
          <p:spPr>
            <a:xfrm>
              <a:off x="6571436" y="3908320"/>
              <a:ext cx="180870" cy="18110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59" name="橢圓 120"/>
            <p:cNvSpPr/>
            <p:nvPr/>
          </p:nvSpPr>
          <p:spPr>
            <a:xfrm>
              <a:off x="6814184" y="3906730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60" name="橢圓 121"/>
            <p:cNvSpPr/>
            <p:nvPr/>
          </p:nvSpPr>
          <p:spPr>
            <a:xfrm>
              <a:off x="7074383" y="3905142"/>
              <a:ext cx="179283" cy="18110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</p:grpSp>
      <p:cxnSp>
        <p:nvCxnSpPr>
          <p:cNvPr id="61" name="直線單箭頭接點 109"/>
          <p:cNvCxnSpPr/>
          <p:nvPr/>
        </p:nvCxnSpPr>
        <p:spPr>
          <a:xfrm flipH="1" flipV="1">
            <a:off x="4641850" y="4327525"/>
            <a:ext cx="398463" cy="238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110"/>
          <p:cNvCxnSpPr/>
          <p:nvPr/>
        </p:nvCxnSpPr>
        <p:spPr>
          <a:xfrm flipH="1">
            <a:off x="4984750" y="4327525"/>
            <a:ext cx="725488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111"/>
          <p:cNvCxnSpPr/>
          <p:nvPr/>
        </p:nvCxnSpPr>
        <p:spPr>
          <a:xfrm flipV="1">
            <a:off x="5710238" y="4310063"/>
            <a:ext cx="0" cy="13763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112"/>
          <p:cNvCxnSpPr/>
          <p:nvPr/>
        </p:nvCxnSpPr>
        <p:spPr>
          <a:xfrm flipV="1">
            <a:off x="4657725" y="5376863"/>
            <a:ext cx="0" cy="3095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113"/>
          <p:cNvCxnSpPr/>
          <p:nvPr/>
        </p:nvCxnSpPr>
        <p:spPr>
          <a:xfrm>
            <a:off x="4672013" y="5686425"/>
            <a:ext cx="10382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114"/>
          <p:cNvCxnSpPr/>
          <p:nvPr/>
        </p:nvCxnSpPr>
        <p:spPr>
          <a:xfrm flipV="1">
            <a:off x="4641850" y="4646613"/>
            <a:ext cx="0" cy="3667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群組 123"/>
          <p:cNvGrpSpPr>
            <a:grpSpLocks/>
          </p:cNvGrpSpPr>
          <p:nvPr/>
        </p:nvGrpSpPr>
        <p:grpSpPr bwMode="auto">
          <a:xfrm>
            <a:off x="3875088" y="3473450"/>
            <a:ext cx="1566862" cy="319088"/>
            <a:chOff x="5754347" y="3836831"/>
            <a:chExt cx="1567543" cy="319314"/>
          </a:xfrm>
        </p:grpSpPr>
        <p:sp>
          <p:nvSpPr>
            <p:cNvPr id="68" name="矩形 130"/>
            <p:cNvSpPr/>
            <p:nvPr/>
          </p:nvSpPr>
          <p:spPr>
            <a:xfrm>
              <a:off x="5754347" y="3836831"/>
              <a:ext cx="1567543" cy="319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69" name="橢圓 131"/>
            <p:cNvSpPr/>
            <p:nvPr/>
          </p:nvSpPr>
          <p:spPr>
            <a:xfrm>
              <a:off x="5828991" y="3906730"/>
              <a:ext cx="181054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70" name="橢圓 132"/>
            <p:cNvSpPr/>
            <p:nvPr/>
          </p:nvSpPr>
          <p:spPr>
            <a:xfrm>
              <a:off x="6076749" y="3906730"/>
              <a:ext cx="179466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71" name="橢圓 133"/>
            <p:cNvSpPr/>
            <p:nvPr/>
          </p:nvSpPr>
          <p:spPr>
            <a:xfrm>
              <a:off x="6332448" y="3906730"/>
              <a:ext cx="179465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72" name="橢圓 134"/>
            <p:cNvSpPr/>
            <p:nvPr/>
          </p:nvSpPr>
          <p:spPr>
            <a:xfrm>
              <a:off x="6572264" y="3908320"/>
              <a:ext cx="179466" cy="18110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73" name="橢圓 135"/>
            <p:cNvSpPr/>
            <p:nvPr/>
          </p:nvSpPr>
          <p:spPr>
            <a:xfrm>
              <a:off x="6813669" y="3906730"/>
              <a:ext cx="181054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74" name="橢圓 136"/>
            <p:cNvSpPr/>
            <p:nvPr/>
          </p:nvSpPr>
          <p:spPr>
            <a:xfrm>
              <a:off x="7074132" y="3905142"/>
              <a:ext cx="179466" cy="18110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</p:grpSp>
      <p:cxnSp>
        <p:nvCxnSpPr>
          <p:cNvPr id="75" name="直線單箭頭接點 124"/>
          <p:cNvCxnSpPr/>
          <p:nvPr/>
        </p:nvCxnSpPr>
        <p:spPr>
          <a:xfrm flipH="1" flipV="1">
            <a:off x="4638675" y="2689225"/>
            <a:ext cx="14288" cy="4206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125"/>
          <p:cNvCxnSpPr/>
          <p:nvPr/>
        </p:nvCxnSpPr>
        <p:spPr>
          <a:xfrm flipH="1">
            <a:off x="4972050" y="2765425"/>
            <a:ext cx="723900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126"/>
          <p:cNvCxnSpPr/>
          <p:nvPr/>
        </p:nvCxnSpPr>
        <p:spPr>
          <a:xfrm flipV="1">
            <a:off x="5695950" y="2747963"/>
            <a:ext cx="0" cy="13763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單箭頭接點 127"/>
          <p:cNvCxnSpPr/>
          <p:nvPr/>
        </p:nvCxnSpPr>
        <p:spPr>
          <a:xfrm flipV="1">
            <a:off x="4645025" y="3814763"/>
            <a:ext cx="0" cy="5000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128"/>
          <p:cNvCxnSpPr/>
          <p:nvPr/>
        </p:nvCxnSpPr>
        <p:spPr>
          <a:xfrm>
            <a:off x="4657725" y="4124325"/>
            <a:ext cx="10382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單箭頭接點 129"/>
          <p:cNvCxnSpPr/>
          <p:nvPr/>
        </p:nvCxnSpPr>
        <p:spPr>
          <a:xfrm flipV="1">
            <a:off x="4627563" y="3084513"/>
            <a:ext cx="0" cy="3667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群組 138"/>
          <p:cNvGrpSpPr>
            <a:grpSpLocks/>
          </p:cNvGrpSpPr>
          <p:nvPr/>
        </p:nvGrpSpPr>
        <p:grpSpPr bwMode="auto">
          <a:xfrm>
            <a:off x="3868738" y="1898650"/>
            <a:ext cx="1566862" cy="319088"/>
            <a:chOff x="5754347" y="3836831"/>
            <a:chExt cx="1567543" cy="319314"/>
          </a:xfrm>
        </p:grpSpPr>
        <p:sp>
          <p:nvSpPr>
            <p:cNvPr id="82" name="矩形 145"/>
            <p:cNvSpPr/>
            <p:nvPr/>
          </p:nvSpPr>
          <p:spPr>
            <a:xfrm>
              <a:off x="5754347" y="3836831"/>
              <a:ext cx="1567543" cy="319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83" name="橢圓 146"/>
            <p:cNvSpPr/>
            <p:nvPr/>
          </p:nvSpPr>
          <p:spPr>
            <a:xfrm>
              <a:off x="5828991" y="3906730"/>
              <a:ext cx="181054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84" name="橢圓 147"/>
            <p:cNvSpPr/>
            <p:nvPr/>
          </p:nvSpPr>
          <p:spPr>
            <a:xfrm>
              <a:off x="6076749" y="3906730"/>
              <a:ext cx="179466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85" name="橢圓 148"/>
            <p:cNvSpPr/>
            <p:nvPr/>
          </p:nvSpPr>
          <p:spPr>
            <a:xfrm>
              <a:off x="6332448" y="3906730"/>
              <a:ext cx="179465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86" name="橢圓 149"/>
            <p:cNvSpPr/>
            <p:nvPr/>
          </p:nvSpPr>
          <p:spPr>
            <a:xfrm>
              <a:off x="6572264" y="3908320"/>
              <a:ext cx="179466" cy="18110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87" name="橢圓 150"/>
            <p:cNvSpPr/>
            <p:nvPr/>
          </p:nvSpPr>
          <p:spPr>
            <a:xfrm>
              <a:off x="6813669" y="3906730"/>
              <a:ext cx="181054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88" name="橢圓 151"/>
            <p:cNvSpPr/>
            <p:nvPr/>
          </p:nvSpPr>
          <p:spPr>
            <a:xfrm>
              <a:off x="7074132" y="3905142"/>
              <a:ext cx="179466" cy="181103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</p:grpSp>
      <p:cxnSp>
        <p:nvCxnSpPr>
          <p:cNvPr id="89" name="直線單箭頭接點 139"/>
          <p:cNvCxnSpPr/>
          <p:nvPr/>
        </p:nvCxnSpPr>
        <p:spPr>
          <a:xfrm flipH="1" flipV="1">
            <a:off x="4621213" y="1192213"/>
            <a:ext cx="363537" cy="285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140"/>
          <p:cNvCxnSpPr/>
          <p:nvPr/>
        </p:nvCxnSpPr>
        <p:spPr>
          <a:xfrm flipH="1">
            <a:off x="4965700" y="1192213"/>
            <a:ext cx="723900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141"/>
          <p:cNvCxnSpPr/>
          <p:nvPr/>
        </p:nvCxnSpPr>
        <p:spPr>
          <a:xfrm flipV="1">
            <a:off x="5689600" y="1173163"/>
            <a:ext cx="0" cy="13763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142"/>
          <p:cNvCxnSpPr/>
          <p:nvPr/>
        </p:nvCxnSpPr>
        <p:spPr>
          <a:xfrm flipV="1">
            <a:off x="4638675" y="2241550"/>
            <a:ext cx="0" cy="3079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143"/>
          <p:cNvCxnSpPr/>
          <p:nvPr/>
        </p:nvCxnSpPr>
        <p:spPr>
          <a:xfrm>
            <a:off x="4651375" y="2549525"/>
            <a:ext cx="10382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144"/>
          <p:cNvCxnSpPr/>
          <p:nvPr/>
        </p:nvCxnSpPr>
        <p:spPr>
          <a:xfrm flipV="1">
            <a:off x="4621213" y="1509713"/>
            <a:ext cx="0" cy="3683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字方塊 152"/>
          <p:cNvSpPr txBox="1"/>
          <p:nvPr/>
        </p:nvSpPr>
        <p:spPr>
          <a:xfrm>
            <a:off x="3856038" y="6180138"/>
            <a:ext cx="1658937" cy="46196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Input layer</a:t>
            </a:r>
            <a:endParaRPr lang="zh-TW" altLang="en-US" sz="2400" dirty="0"/>
          </a:p>
        </p:txBody>
      </p:sp>
      <p:sp>
        <p:nvSpPr>
          <p:cNvPr id="96" name="文字方塊 153"/>
          <p:cNvSpPr txBox="1"/>
          <p:nvPr/>
        </p:nvSpPr>
        <p:spPr>
          <a:xfrm>
            <a:off x="3765550" y="241300"/>
            <a:ext cx="1812925" cy="4603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output layer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cxnSp>
        <p:nvCxnSpPr>
          <p:cNvPr id="97" name="直線單箭頭接點 154"/>
          <p:cNvCxnSpPr/>
          <p:nvPr/>
        </p:nvCxnSpPr>
        <p:spPr>
          <a:xfrm flipV="1">
            <a:off x="7529513" y="749300"/>
            <a:ext cx="0" cy="4095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群組 156"/>
          <p:cNvGrpSpPr>
            <a:grpSpLocks/>
          </p:cNvGrpSpPr>
          <p:nvPr/>
        </p:nvGrpSpPr>
        <p:grpSpPr bwMode="auto">
          <a:xfrm>
            <a:off x="6796088" y="5002213"/>
            <a:ext cx="1568450" cy="319087"/>
            <a:chOff x="5754347" y="3836831"/>
            <a:chExt cx="1567543" cy="319314"/>
          </a:xfrm>
        </p:grpSpPr>
        <p:sp>
          <p:nvSpPr>
            <p:cNvPr id="99" name="矩形 163"/>
            <p:cNvSpPr/>
            <p:nvPr/>
          </p:nvSpPr>
          <p:spPr>
            <a:xfrm>
              <a:off x="5754347" y="3836831"/>
              <a:ext cx="1567543" cy="319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00" name="橢圓 164"/>
            <p:cNvSpPr/>
            <p:nvPr/>
          </p:nvSpPr>
          <p:spPr>
            <a:xfrm>
              <a:off x="5828916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01" name="橢圓 165"/>
            <p:cNvSpPr/>
            <p:nvPr/>
          </p:nvSpPr>
          <p:spPr>
            <a:xfrm>
              <a:off x="6076423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02" name="橢圓 166"/>
            <p:cNvSpPr/>
            <p:nvPr/>
          </p:nvSpPr>
          <p:spPr>
            <a:xfrm>
              <a:off x="6331863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03" name="橢圓 167"/>
            <p:cNvSpPr/>
            <p:nvPr/>
          </p:nvSpPr>
          <p:spPr>
            <a:xfrm>
              <a:off x="6571436" y="3908319"/>
              <a:ext cx="180870" cy="18110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04" name="橢圓 168"/>
            <p:cNvSpPr/>
            <p:nvPr/>
          </p:nvSpPr>
          <p:spPr>
            <a:xfrm>
              <a:off x="6814184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05" name="橢圓 169"/>
            <p:cNvSpPr/>
            <p:nvPr/>
          </p:nvSpPr>
          <p:spPr>
            <a:xfrm>
              <a:off x="7074383" y="3905142"/>
              <a:ext cx="179283" cy="18110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</p:grpSp>
      <p:cxnSp>
        <p:nvCxnSpPr>
          <p:cNvPr id="106" name="直線單箭頭接點 157"/>
          <p:cNvCxnSpPr/>
          <p:nvPr/>
        </p:nvCxnSpPr>
        <p:spPr>
          <a:xfrm flipH="1" flipV="1">
            <a:off x="7550150" y="4294188"/>
            <a:ext cx="9525" cy="3190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接點 158"/>
          <p:cNvCxnSpPr/>
          <p:nvPr/>
        </p:nvCxnSpPr>
        <p:spPr>
          <a:xfrm flipH="1">
            <a:off x="7893050" y="4294188"/>
            <a:ext cx="723900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接點 159"/>
          <p:cNvCxnSpPr/>
          <p:nvPr/>
        </p:nvCxnSpPr>
        <p:spPr>
          <a:xfrm flipV="1">
            <a:off x="8616950" y="4275138"/>
            <a:ext cx="0" cy="13779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單箭頭接點 160"/>
          <p:cNvCxnSpPr/>
          <p:nvPr/>
        </p:nvCxnSpPr>
        <p:spPr>
          <a:xfrm flipV="1">
            <a:off x="7566025" y="5343525"/>
            <a:ext cx="0" cy="7810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接點 161"/>
          <p:cNvCxnSpPr/>
          <p:nvPr/>
        </p:nvCxnSpPr>
        <p:spPr>
          <a:xfrm>
            <a:off x="7580313" y="5653088"/>
            <a:ext cx="10366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62"/>
          <p:cNvCxnSpPr/>
          <p:nvPr/>
        </p:nvCxnSpPr>
        <p:spPr>
          <a:xfrm flipV="1">
            <a:off x="7550150" y="4613275"/>
            <a:ext cx="0" cy="3667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群組 171"/>
          <p:cNvGrpSpPr>
            <a:grpSpLocks/>
          </p:cNvGrpSpPr>
          <p:nvPr/>
        </p:nvGrpSpPr>
        <p:grpSpPr bwMode="auto">
          <a:xfrm>
            <a:off x="6781800" y="3440113"/>
            <a:ext cx="1568450" cy="319087"/>
            <a:chOff x="5754347" y="3836831"/>
            <a:chExt cx="1567543" cy="319314"/>
          </a:xfrm>
        </p:grpSpPr>
        <p:sp>
          <p:nvSpPr>
            <p:cNvPr id="113" name="矩形 178"/>
            <p:cNvSpPr/>
            <p:nvPr/>
          </p:nvSpPr>
          <p:spPr>
            <a:xfrm>
              <a:off x="5754347" y="3836831"/>
              <a:ext cx="1567543" cy="319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14" name="橢圓 179"/>
            <p:cNvSpPr/>
            <p:nvPr/>
          </p:nvSpPr>
          <p:spPr>
            <a:xfrm>
              <a:off x="5828917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15" name="橢圓 180"/>
            <p:cNvSpPr/>
            <p:nvPr/>
          </p:nvSpPr>
          <p:spPr>
            <a:xfrm>
              <a:off x="6076424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16" name="橢圓 181"/>
            <p:cNvSpPr/>
            <p:nvPr/>
          </p:nvSpPr>
          <p:spPr>
            <a:xfrm>
              <a:off x="6331863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17" name="橢圓 182"/>
            <p:cNvSpPr/>
            <p:nvPr/>
          </p:nvSpPr>
          <p:spPr>
            <a:xfrm>
              <a:off x="6571437" y="3908319"/>
              <a:ext cx="180870" cy="18110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18" name="橢圓 183"/>
            <p:cNvSpPr/>
            <p:nvPr/>
          </p:nvSpPr>
          <p:spPr>
            <a:xfrm>
              <a:off x="6814184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19" name="橢圓 184"/>
            <p:cNvSpPr/>
            <p:nvPr/>
          </p:nvSpPr>
          <p:spPr>
            <a:xfrm>
              <a:off x="7074383" y="3905142"/>
              <a:ext cx="179284" cy="18110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</p:grpSp>
      <p:cxnSp>
        <p:nvCxnSpPr>
          <p:cNvPr id="120" name="直線單箭頭接點 172"/>
          <p:cNvCxnSpPr/>
          <p:nvPr/>
        </p:nvCxnSpPr>
        <p:spPr>
          <a:xfrm flipH="1" flipV="1">
            <a:off x="7535863" y="2732088"/>
            <a:ext cx="398462" cy="142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接點 173"/>
          <p:cNvCxnSpPr/>
          <p:nvPr/>
        </p:nvCxnSpPr>
        <p:spPr>
          <a:xfrm flipH="1">
            <a:off x="7878763" y="2732088"/>
            <a:ext cx="725487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74"/>
          <p:cNvCxnSpPr/>
          <p:nvPr/>
        </p:nvCxnSpPr>
        <p:spPr>
          <a:xfrm flipV="1">
            <a:off x="8604250" y="2714625"/>
            <a:ext cx="0" cy="13763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75"/>
          <p:cNvCxnSpPr/>
          <p:nvPr/>
        </p:nvCxnSpPr>
        <p:spPr>
          <a:xfrm flipV="1">
            <a:off x="7551738" y="3781425"/>
            <a:ext cx="0" cy="3095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接點 176"/>
          <p:cNvCxnSpPr/>
          <p:nvPr/>
        </p:nvCxnSpPr>
        <p:spPr>
          <a:xfrm>
            <a:off x="7566025" y="4090988"/>
            <a:ext cx="10382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77"/>
          <p:cNvCxnSpPr/>
          <p:nvPr/>
        </p:nvCxnSpPr>
        <p:spPr>
          <a:xfrm flipV="1">
            <a:off x="7535863" y="3051175"/>
            <a:ext cx="0" cy="3667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群組 186"/>
          <p:cNvGrpSpPr>
            <a:grpSpLocks/>
          </p:cNvGrpSpPr>
          <p:nvPr/>
        </p:nvGrpSpPr>
        <p:grpSpPr bwMode="auto">
          <a:xfrm>
            <a:off x="6775450" y="1865313"/>
            <a:ext cx="1568450" cy="319087"/>
            <a:chOff x="5754347" y="3836831"/>
            <a:chExt cx="1567543" cy="319314"/>
          </a:xfrm>
        </p:grpSpPr>
        <p:sp>
          <p:nvSpPr>
            <p:cNvPr id="127" name="矩形 193"/>
            <p:cNvSpPr/>
            <p:nvPr/>
          </p:nvSpPr>
          <p:spPr>
            <a:xfrm>
              <a:off x="5754347" y="3836831"/>
              <a:ext cx="1567543" cy="319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28" name="橢圓 194"/>
            <p:cNvSpPr/>
            <p:nvPr/>
          </p:nvSpPr>
          <p:spPr>
            <a:xfrm>
              <a:off x="5828917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29" name="橢圓 195"/>
            <p:cNvSpPr/>
            <p:nvPr/>
          </p:nvSpPr>
          <p:spPr>
            <a:xfrm>
              <a:off x="6076424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30" name="橢圓 196"/>
            <p:cNvSpPr/>
            <p:nvPr/>
          </p:nvSpPr>
          <p:spPr>
            <a:xfrm>
              <a:off x="6331863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31" name="橢圓 197"/>
            <p:cNvSpPr/>
            <p:nvPr/>
          </p:nvSpPr>
          <p:spPr>
            <a:xfrm>
              <a:off x="6571437" y="3908319"/>
              <a:ext cx="180870" cy="18110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32" name="橢圓 198"/>
            <p:cNvSpPr/>
            <p:nvPr/>
          </p:nvSpPr>
          <p:spPr>
            <a:xfrm>
              <a:off x="6814184" y="3906731"/>
              <a:ext cx="180870" cy="179515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  <p:sp>
          <p:nvSpPr>
            <p:cNvPr id="133" name="橢圓 199"/>
            <p:cNvSpPr/>
            <p:nvPr/>
          </p:nvSpPr>
          <p:spPr>
            <a:xfrm>
              <a:off x="7074383" y="3905142"/>
              <a:ext cx="179284" cy="181104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dirty="0"/>
            </a:p>
          </p:txBody>
        </p:sp>
      </p:grpSp>
      <p:cxnSp>
        <p:nvCxnSpPr>
          <p:cNvPr id="134" name="直線單箭頭接點 187"/>
          <p:cNvCxnSpPr/>
          <p:nvPr/>
        </p:nvCxnSpPr>
        <p:spPr>
          <a:xfrm flipH="1" flipV="1">
            <a:off x="7529513" y="1158875"/>
            <a:ext cx="11112" cy="381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接點 188"/>
          <p:cNvCxnSpPr/>
          <p:nvPr/>
        </p:nvCxnSpPr>
        <p:spPr>
          <a:xfrm flipH="1">
            <a:off x="7872413" y="1158875"/>
            <a:ext cx="725487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接點 189"/>
          <p:cNvCxnSpPr/>
          <p:nvPr/>
        </p:nvCxnSpPr>
        <p:spPr>
          <a:xfrm flipV="1">
            <a:off x="8597900" y="1139825"/>
            <a:ext cx="0" cy="13763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線單箭頭接點 190"/>
          <p:cNvCxnSpPr/>
          <p:nvPr/>
        </p:nvCxnSpPr>
        <p:spPr>
          <a:xfrm flipV="1">
            <a:off x="7545388" y="2208213"/>
            <a:ext cx="0" cy="5000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接點 191"/>
          <p:cNvCxnSpPr/>
          <p:nvPr/>
        </p:nvCxnSpPr>
        <p:spPr>
          <a:xfrm>
            <a:off x="7559675" y="2516188"/>
            <a:ext cx="10382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單箭頭接點 192"/>
          <p:cNvCxnSpPr/>
          <p:nvPr/>
        </p:nvCxnSpPr>
        <p:spPr>
          <a:xfrm flipV="1">
            <a:off x="7529513" y="1476375"/>
            <a:ext cx="0" cy="3683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文字方塊 200"/>
          <p:cNvSpPr txBox="1"/>
          <p:nvPr/>
        </p:nvSpPr>
        <p:spPr>
          <a:xfrm>
            <a:off x="6764338" y="6146800"/>
            <a:ext cx="1658937" cy="461963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/>
              <a:t>Input layer</a:t>
            </a:r>
            <a:endParaRPr lang="zh-TW" altLang="en-US" sz="2400" dirty="0"/>
          </a:p>
        </p:txBody>
      </p:sp>
      <p:sp>
        <p:nvSpPr>
          <p:cNvPr id="141" name="文字方塊 201"/>
          <p:cNvSpPr txBox="1"/>
          <p:nvPr/>
        </p:nvSpPr>
        <p:spPr>
          <a:xfrm>
            <a:off x="6672263" y="207963"/>
            <a:ext cx="1814512" cy="4603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output layer</a:t>
            </a:r>
            <a:endParaRPr lang="zh-TW" altLang="en-US" sz="2400" dirty="0">
              <a:solidFill>
                <a:srgbClr val="000000"/>
              </a:solidFill>
            </a:endParaRPr>
          </a:p>
        </p:txBody>
      </p:sp>
      <p:cxnSp>
        <p:nvCxnSpPr>
          <p:cNvPr id="142" name="直線單箭頭接點 209"/>
          <p:cNvCxnSpPr/>
          <p:nvPr/>
        </p:nvCxnSpPr>
        <p:spPr>
          <a:xfrm flipV="1">
            <a:off x="4638675" y="2525713"/>
            <a:ext cx="0" cy="18256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單箭頭接點 212"/>
          <p:cNvCxnSpPr/>
          <p:nvPr/>
        </p:nvCxnSpPr>
        <p:spPr>
          <a:xfrm flipH="1" flipV="1">
            <a:off x="4660900" y="5686425"/>
            <a:ext cx="0" cy="484188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單箭頭接點 217"/>
          <p:cNvCxnSpPr/>
          <p:nvPr/>
        </p:nvCxnSpPr>
        <p:spPr>
          <a:xfrm flipV="1">
            <a:off x="7559675" y="4090988"/>
            <a:ext cx="0" cy="182562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矩形 105"/>
          <p:cNvSpPr/>
          <p:nvPr/>
        </p:nvSpPr>
        <p:spPr>
          <a:xfrm>
            <a:off x="1752600" y="5105400"/>
            <a:ext cx="6083300" cy="95408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Highway Network automatically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000000"/>
                </a:solidFill>
              </a:rPr>
              <a:t>determines the layers needed!</a:t>
            </a:r>
            <a:endParaRPr lang="zh-TW" alt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744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1"/>
          <p:cNvSpPr txBox="1">
            <a:spLocks/>
          </p:cNvSpPr>
          <p:nvPr/>
        </p:nvSpPr>
        <p:spPr bwMode="auto">
          <a:xfrm>
            <a:off x="152400" y="228600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zh-TW" sz="3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Highway Network Experiments</a:t>
            </a:r>
            <a:endParaRPr lang="zh-TW" altLang="en-US" sz="3800">
              <a:solidFill>
                <a:schemeClr val="tx2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pic>
        <p:nvPicPr>
          <p:cNvPr id="28675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" y="2108200"/>
            <a:ext cx="914400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142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Grid LSTM</a:t>
            </a:r>
            <a:endParaRPr lang="zh-TW" altLang="en-US" smtClean="0"/>
          </a:p>
        </p:txBody>
      </p:sp>
      <p:grpSp>
        <p:nvGrpSpPr>
          <p:cNvPr id="29699" name="群組 43"/>
          <p:cNvGrpSpPr>
            <a:grpSpLocks/>
          </p:cNvGrpSpPr>
          <p:nvPr/>
        </p:nvGrpSpPr>
        <p:grpSpPr bwMode="auto">
          <a:xfrm>
            <a:off x="558800" y="1887538"/>
            <a:ext cx="2981325" cy="3808412"/>
            <a:chOff x="672522" y="2089959"/>
            <a:chExt cx="2981764" cy="3808847"/>
          </a:xfrm>
        </p:grpSpPr>
        <p:sp>
          <p:nvSpPr>
            <p:cNvPr id="6" name="矩形 28"/>
            <p:cNvSpPr/>
            <p:nvPr/>
          </p:nvSpPr>
          <p:spPr>
            <a:xfrm>
              <a:off x="1591820" y="2986998"/>
              <a:ext cx="1135229" cy="19988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dirty="0">
                  <a:solidFill>
                    <a:srgbClr val="000000"/>
                  </a:solidFill>
                </a:rPr>
                <a:t>LSTM</a:t>
              </a:r>
              <a:endParaRPr lang="zh-TW" altLang="en-US" sz="2800" dirty="0">
                <a:solidFill>
                  <a:srgbClr val="000000"/>
                </a:solidFill>
              </a:endParaRPr>
            </a:p>
          </p:txBody>
        </p:sp>
        <p:sp>
          <p:nvSpPr>
            <p:cNvPr id="7" name="矩形 29"/>
            <p:cNvSpPr>
              <a:spLocks noChangeArrowheads="1"/>
            </p:cNvSpPr>
            <p:nvPr/>
          </p:nvSpPr>
          <p:spPr bwMode="auto">
            <a:xfrm>
              <a:off x="672522" y="2986998"/>
              <a:ext cx="508075" cy="931969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2800" baseline="30000" smtClean="0">
                <a:solidFill>
                  <a:srgbClr val="000000"/>
                </a:solidFill>
              </a:endParaRPr>
            </a:p>
          </p:txBody>
        </p:sp>
        <p:sp>
          <p:nvSpPr>
            <p:cNvPr id="8" name="矩形 30"/>
            <p:cNvSpPr/>
            <p:nvPr/>
          </p:nvSpPr>
          <p:spPr>
            <a:xfrm>
              <a:off x="1679145" y="2089959"/>
              <a:ext cx="930412" cy="46519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dirty="0">
                  <a:solidFill>
                    <a:srgbClr val="000000"/>
                  </a:solidFill>
                </a:rPr>
                <a:t>y</a:t>
              </a:r>
              <a:endParaRPr lang="zh-TW" altLang="en-US" sz="2800" baseline="30000" dirty="0">
                <a:solidFill>
                  <a:srgbClr val="000000"/>
                </a:solidFill>
              </a:endParaRPr>
            </a:p>
          </p:txBody>
        </p:sp>
        <p:sp>
          <p:nvSpPr>
            <p:cNvPr id="9" name="矩形 31"/>
            <p:cNvSpPr/>
            <p:nvPr/>
          </p:nvSpPr>
          <p:spPr>
            <a:xfrm>
              <a:off x="1715664" y="5433616"/>
              <a:ext cx="931999" cy="46519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dirty="0">
                  <a:solidFill>
                    <a:schemeClr val="bg1"/>
                  </a:solidFill>
                </a:rPr>
                <a:t>x</a:t>
              </a:r>
              <a:endParaRPr lang="zh-TW" altLang="en-US" sz="2800" baseline="30000" dirty="0">
                <a:solidFill>
                  <a:schemeClr val="bg1"/>
                </a:solidFill>
              </a:endParaRPr>
            </a:p>
          </p:txBody>
        </p:sp>
        <p:cxnSp>
          <p:nvCxnSpPr>
            <p:cNvPr id="10" name="直線單箭頭接點 32"/>
            <p:cNvCxnSpPr>
              <a:cxnSpLocks/>
            </p:cNvCxnSpPr>
            <p:nvPr/>
          </p:nvCxnSpPr>
          <p:spPr>
            <a:xfrm>
              <a:off x="1180597" y="3485530"/>
              <a:ext cx="38899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33"/>
            <p:cNvCxnSpPr>
              <a:cxnSpLocks/>
            </p:cNvCxnSpPr>
            <p:nvPr/>
          </p:nvCxnSpPr>
          <p:spPr>
            <a:xfrm rot="16200000">
              <a:off x="1967325" y="2767105"/>
              <a:ext cx="38898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34"/>
            <p:cNvCxnSpPr>
              <a:cxnSpLocks/>
            </p:cNvCxnSpPr>
            <p:nvPr/>
          </p:nvCxnSpPr>
          <p:spPr>
            <a:xfrm rot="16200000">
              <a:off x="2003843" y="5237537"/>
              <a:ext cx="38898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35"/>
            <p:cNvSpPr/>
            <p:nvPr/>
          </p:nvSpPr>
          <p:spPr>
            <a:xfrm>
              <a:off x="680461" y="4053920"/>
              <a:ext cx="508075" cy="931969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2800" baseline="30000" dirty="0"/>
            </a:p>
          </p:txBody>
        </p:sp>
        <p:cxnSp>
          <p:nvCxnSpPr>
            <p:cNvPr id="14" name="直線單箭頭接點 36"/>
            <p:cNvCxnSpPr>
              <a:cxnSpLocks/>
            </p:cNvCxnSpPr>
            <p:nvPr/>
          </p:nvCxnSpPr>
          <p:spPr>
            <a:xfrm>
              <a:off x="1188536" y="4576268"/>
              <a:ext cx="39058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單箭頭接點 37"/>
            <p:cNvCxnSpPr>
              <a:cxnSpLocks/>
            </p:cNvCxnSpPr>
            <p:nvPr/>
          </p:nvCxnSpPr>
          <p:spPr>
            <a:xfrm>
              <a:off x="2717523" y="3485530"/>
              <a:ext cx="39058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38"/>
            <p:cNvCxnSpPr>
              <a:cxnSpLocks/>
            </p:cNvCxnSpPr>
            <p:nvPr/>
          </p:nvCxnSpPr>
          <p:spPr>
            <a:xfrm>
              <a:off x="2727049" y="4576268"/>
              <a:ext cx="38899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39"/>
            <p:cNvSpPr>
              <a:spLocks noChangeArrowheads="1"/>
            </p:cNvSpPr>
            <p:nvPr/>
          </p:nvSpPr>
          <p:spPr bwMode="auto">
            <a:xfrm>
              <a:off x="3138273" y="3012401"/>
              <a:ext cx="508075" cy="931969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smtClean="0">
                  <a:solidFill>
                    <a:srgbClr val="000000"/>
                  </a:solidFill>
                </a:rPr>
                <a:t>c</a:t>
              </a:r>
              <a:r>
                <a:rPr lang="en-US" altLang="zh-TW" sz="2800" baseline="30000" smtClean="0">
                  <a:solidFill>
                    <a:srgbClr val="000000"/>
                  </a:solidFill>
                </a:rPr>
                <a:t>’</a:t>
              </a:r>
              <a:endParaRPr lang="zh-TW" altLang="en-US" sz="2800" baseline="30000" smtClean="0">
                <a:solidFill>
                  <a:srgbClr val="000000"/>
                </a:solidFill>
              </a:endParaRPr>
            </a:p>
          </p:txBody>
        </p:sp>
        <p:sp>
          <p:nvSpPr>
            <p:cNvPr id="18" name="矩形 40"/>
            <p:cNvSpPr/>
            <p:nvPr/>
          </p:nvSpPr>
          <p:spPr>
            <a:xfrm>
              <a:off x="3146211" y="4079323"/>
              <a:ext cx="508075" cy="930381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smtClean="0">
                  <a:solidFill>
                    <a:srgbClr val="000000"/>
                  </a:solidFill>
                </a:rPr>
                <a:t>h</a:t>
              </a:r>
              <a:r>
                <a:rPr lang="en-US" altLang="zh-TW" sz="2800" baseline="30000" smtClean="0">
                  <a:solidFill>
                    <a:srgbClr val="000000"/>
                  </a:solidFill>
                </a:rPr>
                <a:t>’</a:t>
              </a:r>
              <a:endParaRPr lang="zh-TW" altLang="en-US" sz="2800" baseline="30000" smtClean="0">
                <a:solidFill>
                  <a:srgbClr val="000000"/>
                </a:solidFill>
              </a:endParaRPr>
            </a:p>
          </p:txBody>
        </p:sp>
        <p:sp>
          <p:nvSpPr>
            <p:cNvPr id="29742" name="矩形 41"/>
            <p:cNvSpPr>
              <a:spLocks noChangeArrowheads="1"/>
            </p:cNvSpPr>
            <p:nvPr/>
          </p:nvSpPr>
          <p:spPr bwMode="auto">
            <a:xfrm>
              <a:off x="778824" y="4282847"/>
              <a:ext cx="38436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endParaRPr lang="zh-TW" altLang="en-US" sz="28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9743" name="矩形 42"/>
            <p:cNvSpPr>
              <a:spLocks noChangeArrowheads="1"/>
            </p:cNvSpPr>
            <p:nvPr/>
          </p:nvSpPr>
          <p:spPr bwMode="auto">
            <a:xfrm>
              <a:off x="766507" y="3216578"/>
              <a:ext cx="33695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800">
                  <a:latin typeface="Arial" panose="020B0604020202020204" pitchFamily="34" charset="0"/>
                  <a:ea typeface="MS PGothic" panose="020B0600070205080204" pitchFamily="34" charset="-128"/>
                </a:rPr>
                <a:t>c</a:t>
              </a:r>
              <a:endParaRPr lang="zh-TW" altLang="en-US" sz="2800" baseline="30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21" name="矩形 45"/>
          <p:cNvSpPr/>
          <p:nvPr/>
        </p:nvSpPr>
        <p:spPr>
          <a:xfrm>
            <a:off x="5518150" y="2822575"/>
            <a:ext cx="2132013" cy="19970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FF0000"/>
                </a:solidFill>
              </a:rPr>
              <a:t>Grid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dirty="0">
                <a:solidFill>
                  <a:srgbClr val="FF0000"/>
                </a:solidFill>
              </a:rPr>
              <a:t>LSTM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22" name="矩形 46"/>
          <p:cNvSpPr>
            <a:spLocks noChangeArrowheads="1"/>
          </p:cNvSpPr>
          <p:nvPr/>
        </p:nvSpPr>
        <p:spPr bwMode="auto">
          <a:xfrm>
            <a:off x="4597400" y="2822575"/>
            <a:ext cx="508000" cy="930275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2800" baseline="30000" smtClean="0">
              <a:solidFill>
                <a:srgbClr val="000000"/>
              </a:solidFill>
            </a:endParaRPr>
          </a:p>
        </p:txBody>
      </p:sp>
      <p:cxnSp>
        <p:nvCxnSpPr>
          <p:cNvPr id="23" name="直線單箭頭接點 49"/>
          <p:cNvCxnSpPr>
            <a:cxnSpLocks/>
          </p:cNvCxnSpPr>
          <p:nvPr/>
        </p:nvCxnSpPr>
        <p:spPr>
          <a:xfrm>
            <a:off x="5105400" y="3319463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52"/>
          <p:cNvSpPr/>
          <p:nvPr/>
        </p:nvSpPr>
        <p:spPr>
          <a:xfrm>
            <a:off x="4606925" y="3887788"/>
            <a:ext cx="508000" cy="93186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2800" baseline="30000" dirty="0"/>
          </a:p>
        </p:txBody>
      </p:sp>
      <p:cxnSp>
        <p:nvCxnSpPr>
          <p:cNvPr id="25" name="直線單箭頭接點 53"/>
          <p:cNvCxnSpPr>
            <a:cxnSpLocks/>
          </p:cNvCxnSpPr>
          <p:nvPr/>
        </p:nvCxnSpPr>
        <p:spPr>
          <a:xfrm>
            <a:off x="5114925" y="4411663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54"/>
          <p:cNvCxnSpPr>
            <a:cxnSpLocks/>
          </p:cNvCxnSpPr>
          <p:nvPr/>
        </p:nvCxnSpPr>
        <p:spPr>
          <a:xfrm>
            <a:off x="7661275" y="3282950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55"/>
          <p:cNvCxnSpPr>
            <a:cxnSpLocks/>
          </p:cNvCxnSpPr>
          <p:nvPr/>
        </p:nvCxnSpPr>
        <p:spPr>
          <a:xfrm>
            <a:off x="7670800" y="4373563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56"/>
          <p:cNvSpPr>
            <a:spLocks noChangeArrowheads="1"/>
          </p:cNvSpPr>
          <p:nvPr/>
        </p:nvSpPr>
        <p:spPr bwMode="auto">
          <a:xfrm>
            <a:off x="8081963" y="2809875"/>
            <a:ext cx="508000" cy="930275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smtClean="0">
                <a:solidFill>
                  <a:srgbClr val="000000"/>
                </a:solidFill>
              </a:rPr>
              <a:t>c</a:t>
            </a:r>
            <a:r>
              <a:rPr lang="en-US" altLang="zh-TW" sz="2800" baseline="30000" smtClean="0">
                <a:solidFill>
                  <a:srgbClr val="000000"/>
                </a:solidFill>
              </a:rPr>
              <a:t>’</a:t>
            </a:r>
            <a:endParaRPr lang="zh-TW" altLang="en-US" sz="2800" baseline="30000" smtClean="0">
              <a:solidFill>
                <a:srgbClr val="000000"/>
              </a:solidFill>
            </a:endParaRPr>
          </a:p>
        </p:txBody>
      </p:sp>
      <p:sp>
        <p:nvSpPr>
          <p:cNvPr id="29" name="矩形 57"/>
          <p:cNvSpPr/>
          <p:nvPr/>
        </p:nvSpPr>
        <p:spPr>
          <a:xfrm>
            <a:off x="8089900" y="3875088"/>
            <a:ext cx="508000" cy="93186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800" smtClean="0">
                <a:solidFill>
                  <a:srgbClr val="000000"/>
                </a:solidFill>
              </a:rPr>
              <a:t>h</a:t>
            </a:r>
            <a:r>
              <a:rPr lang="en-US" altLang="zh-TW" sz="2800" baseline="30000" smtClean="0">
                <a:solidFill>
                  <a:srgbClr val="000000"/>
                </a:solidFill>
              </a:rPr>
              <a:t>’</a:t>
            </a:r>
            <a:endParaRPr lang="zh-TW" altLang="en-US" sz="2800" baseline="30000" smtClean="0">
              <a:solidFill>
                <a:srgbClr val="000000"/>
              </a:solidFill>
            </a:endParaRPr>
          </a:p>
        </p:txBody>
      </p:sp>
      <p:sp>
        <p:nvSpPr>
          <p:cNvPr id="30" name="矩形 58"/>
          <p:cNvSpPr>
            <a:spLocks noChangeArrowheads="1"/>
          </p:cNvSpPr>
          <p:nvPr/>
        </p:nvSpPr>
        <p:spPr bwMode="auto">
          <a:xfrm>
            <a:off x="4703763" y="4117975"/>
            <a:ext cx="3857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h</a:t>
            </a:r>
            <a:endParaRPr lang="zh-TW" altLang="en-US" sz="2800" baseline="30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1" name="矩形 59"/>
          <p:cNvSpPr>
            <a:spLocks noChangeArrowheads="1"/>
          </p:cNvSpPr>
          <p:nvPr/>
        </p:nvSpPr>
        <p:spPr bwMode="auto">
          <a:xfrm>
            <a:off x="4692650" y="3051175"/>
            <a:ext cx="3365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c</a:t>
            </a:r>
            <a:endParaRPr lang="zh-TW" altLang="en-US" sz="2800" baseline="30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2" name="文字方塊 60"/>
          <p:cNvSpPr txBox="1">
            <a:spLocks noChangeArrowheads="1"/>
          </p:cNvSpPr>
          <p:nvPr/>
        </p:nvSpPr>
        <p:spPr bwMode="auto">
          <a:xfrm>
            <a:off x="5521325" y="887413"/>
            <a:ext cx="26892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Memory for both </a:t>
            </a:r>
            <a:r>
              <a:rPr lang="en-US" altLang="zh-TW" sz="2400" b="1" i="1" u="sng">
                <a:latin typeface="Arial" panose="020B0604020202020204" pitchFamily="34" charset="0"/>
                <a:ea typeface="MS PGothic" panose="020B0600070205080204" pitchFamily="34" charset="-128"/>
              </a:rPr>
              <a:t>time</a:t>
            </a:r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 and </a:t>
            </a:r>
            <a:r>
              <a:rPr lang="en-US" altLang="zh-TW" sz="2400" b="1" i="1" u="sng">
                <a:latin typeface="Arial" panose="020B0604020202020204" pitchFamily="34" charset="0"/>
                <a:ea typeface="MS PGothic" panose="020B0600070205080204" pitchFamily="34" charset="-128"/>
              </a:rPr>
              <a:t>depth</a:t>
            </a:r>
            <a:endParaRPr lang="zh-TW" altLang="en-US" sz="2400" b="1" i="1" u="sng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3" name="矩形 61"/>
          <p:cNvSpPr>
            <a:spLocks noChangeArrowheads="1"/>
          </p:cNvSpPr>
          <p:nvPr/>
        </p:nvSpPr>
        <p:spPr bwMode="auto">
          <a:xfrm rot="-5400000">
            <a:off x="5815807" y="5025231"/>
            <a:ext cx="508000" cy="931863"/>
          </a:xfrm>
          <a:prstGeom prst="rect">
            <a:avLst/>
          </a:prstGeom>
          <a:gradFill rotWithShape="1">
            <a:gsLst>
              <a:gs pos="0">
                <a:srgbClr val="F7F6FF"/>
              </a:gs>
              <a:gs pos="64999">
                <a:srgbClr val="ECEBFF"/>
              </a:gs>
              <a:gs pos="100000">
                <a:srgbClr val="E5E3FF"/>
              </a:gs>
            </a:gsLst>
            <a:lin ang="5400000" scaled="1"/>
          </a:gradFill>
          <a:ln w="9525">
            <a:solidFill>
              <a:srgbClr val="D4D3E7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2800" baseline="30000" smtClean="0">
              <a:solidFill>
                <a:srgbClr val="000000"/>
              </a:solidFill>
            </a:endParaRPr>
          </a:p>
        </p:txBody>
      </p:sp>
      <p:cxnSp>
        <p:nvCxnSpPr>
          <p:cNvPr id="34" name="直線單箭頭接點 62"/>
          <p:cNvCxnSpPr>
            <a:cxnSpLocks/>
          </p:cNvCxnSpPr>
          <p:nvPr/>
        </p:nvCxnSpPr>
        <p:spPr>
          <a:xfrm rot="16200000">
            <a:off x="5907881" y="5042694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63"/>
          <p:cNvSpPr/>
          <p:nvPr/>
        </p:nvSpPr>
        <p:spPr>
          <a:xfrm rot="16200000">
            <a:off x="6882607" y="5017293"/>
            <a:ext cx="508000" cy="93186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sz="2800" baseline="30000" dirty="0"/>
          </a:p>
        </p:txBody>
      </p:sp>
      <p:cxnSp>
        <p:nvCxnSpPr>
          <p:cNvPr id="36" name="直線單箭頭接點 64"/>
          <p:cNvCxnSpPr>
            <a:cxnSpLocks/>
          </p:cNvCxnSpPr>
          <p:nvPr/>
        </p:nvCxnSpPr>
        <p:spPr>
          <a:xfrm rot="16200000">
            <a:off x="6956425" y="5033963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65"/>
          <p:cNvSpPr>
            <a:spLocks noChangeArrowheads="1"/>
          </p:cNvSpPr>
          <p:nvPr/>
        </p:nvSpPr>
        <p:spPr bwMode="auto">
          <a:xfrm>
            <a:off x="6969125" y="5227638"/>
            <a:ext cx="384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8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rPr>
              <a:t>b</a:t>
            </a:r>
            <a:endParaRPr lang="zh-TW" altLang="en-US" sz="2800" baseline="3000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38" name="矩形 66"/>
          <p:cNvSpPr>
            <a:spLocks noChangeArrowheads="1"/>
          </p:cNvSpPr>
          <p:nvPr/>
        </p:nvSpPr>
        <p:spPr bwMode="auto">
          <a:xfrm>
            <a:off x="5916613" y="5221288"/>
            <a:ext cx="3571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800">
                <a:latin typeface="Arial" panose="020B0604020202020204" pitchFamily="34" charset="0"/>
                <a:ea typeface="MS PGothic" panose="020B0600070205080204" pitchFamily="34" charset="-128"/>
              </a:rPr>
              <a:t>a</a:t>
            </a:r>
            <a:endParaRPr lang="zh-TW" altLang="en-US" sz="2800" baseline="300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pSp>
        <p:nvGrpSpPr>
          <p:cNvPr id="39" name="群組 73"/>
          <p:cNvGrpSpPr>
            <a:grpSpLocks/>
          </p:cNvGrpSpPr>
          <p:nvPr/>
        </p:nvGrpSpPr>
        <p:grpSpPr bwMode="auto">
          <a:xfrm>
            <a:off x="5584825" y="1860550"/>
            <a:ext cx="1998663" cy="530225"/>
            <a:chOff x="5481230" y="5576606"/>
            <a:chExt cx="1997602" cy="530061"/>
          </a:xfrm>
        </p:grpSpPr>
        <p:sp>
          <p:nvSpPr>
            <p:cNvPr id="40" name="矩形 69"/>
            <p:cNvSpPr>
              <a:spLocks noChangeArrowheads="1"/>
            </p:cNvSpPr>
            <p:nvPr/>
          </p:nvSpPr>
          <p:spPr bwMode="auto">
            <a:xfrm rot="-5400000">
              <a:off x="5692993" y="5380713"/>
              <a:ext cx="507843" cy="931368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2800" baseline="30000" smtClean="0">
                <a:solidFill>
                  <a:srgbClr val="000000"/>
                </a:solidFill>
              </a:endParaRPr>
            </a:p>
          </p:txBody>
        </p:sp>
        <p:sp>
          <p:nvSpPr>
            <p:cNvPr id="41" name="矩形 70"/>
            <p:cNvSpPr/>
            <p:nvPr/>
          </p:nvSpPr>
          <p:spPr>
            <a:xfrm rot="16200000">
              <a:off x="6759227" y="5372778"/>
              <a:ext cx="507843" cy="93136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2800" baseline="30000" dirty="0"/>
            </a:p>
          </p:txBody>
        </p:sp>
        <p:sp>
          <p:nvSpPr>
            <p:cNvPr id="29727" name="矩形 71"/>
            <p:cNvSpPr>
              <a:spLocks noChangeArrowheads="1"/>
            </p:cNvSpPr>
            <p:nvPr/>
          </p:nvSpPr>
          <p:spPr bwMode="auto">
            <a:xfrm>
              <a:off x="6806229" y="5583447"/>
              <a:ext cx="4635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b’</a:t>
              </a:r>
              <a:endParaRPr lang="zh-TW" altLang="en-US" sz="28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29728" name="矩形 72"/>
            <p:cNvSpPr>
              <a:spLocks noChangeArrowheads="1"/>
            </p:cNvSpPr>
            <p:nvPr/>
          </p:nvSpPr>
          <p:spPr bwMode="auto">
            <a:xfrm>
              <a:off x="5748777" y="5576606"/>
              <a:ext cx="44595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800">
                  <a:latin typeface="Arial" panose="020B0604020202020204" pitchFamily="34" charset="0"/>
                  <a:ea typeface="MS PGothic" panose="020B0600070205080204" pitchFamily="34" charset="-128"/>
                </a:rPr>
                <a:t>a’</a:t>
              </a:r>
              <a:endParaRPr lang="zh-TW" altLang="en-US" sz="2800" baseline="30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cxnSp>
        <p:nvCxnSpPr>
          <p:cNvPr id="44" name="直線單箭頭接點 74"/>
          <p:cNvCxnSpPr>
            <a:cxnSpLocks/>
          </p:cNvCxnSpPr>
          <p:nvPr/>
        </p:nvCxnSpPr>
        <p:spPr>
          <a:xfrm rot="16200000">
            <a:off x="5873750" y="2593976"/>
            <a:ext cx="39052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75"/>
          <p:cNvCxnSpPr>
            <a:cxnSpLocks/>
          </p:cNvCxnSpPr>
          <p:nvPr/>
        </p:nvCxnSpPr>
        <p:spPr>
          <a:xfrm rot="16200000">
            <a:off x="6922294" y="2585244"/>
            <a:ext cx="38893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3"/>
          <p:cNvCxnSpPr>
            <a:cxnSpLocks/>
          </p:cNvCxnSpPr>
          <p:nvPr/>
        </p:nvCxnSpPr>
        <p:spPr>
          <a:xfrm>
            <a:off x="4194175" y="6008688"/>
            <a:ext cx="4403725" cy="0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7"/>
          <p:cNvCxnSpPr>
            <a:cxnSpLocks/>
          </p:cNvCxnSpPr>
          <p:nvPr/>
        </p:nvCxnSpPr>
        <p:spPr>
          <a:xfrm flipH="1" flipV="1">
            <a:off x="4213225" y="1905000"/>
            <a:ext cx="0" cy="4103688"/>
          </a:xfrm>
          <a:prstGeom prst="straightConnector1">
            <a:avLst/>
          </a:prstGeom>
          <a:ln w="571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6"/>
          <p:cNvSpPr txBox="1">
            <a:spLocks noChangeArrowheads="1"/>
          </p:cNvSpPr>
          <p:nvPr/>
        </p:nvSpPr>
        <p:spPr bwMode="auto">
          <a:xfrm>
            <a:off x="7116763" y="6008688"/>
            <a:ext cx="1679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time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9" name="文字方塊 50"/>
          <p:cNvSpPr txBox="1">
            <a:spLocks noChangeArrowheads="1"/>
          </p:cNvSpPr>
          <p:nvPr/>
        </p:nvSpPr>
        <p:spPr bwMode="auto">
          <a:xfrm>
            <a:off x="3686175" y="1443038"/>
            <a:ext cx="1054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depth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590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4" grpId="0" animBg="1"/>
      <p:bldP spid="28" grpId="0" animBg="1"/>
      <p:bldP spid="29" grpId="0" animBg="1"/>
      <p:bldP spid="30" grpId="0"/>
      <p:bldP spid="31" grpId="0"/>
      <p:bldP spid="32" grpId="0"/>
      <p:bldP spid="33" grpId="0" animBg="1"/>
      <p:bldP spid="35" grpId="0" animBg="1"/>
      <p:bldP spid="37" grpId="0"/>
      <p:bldP spid="38" grpId="0"/>
      <p:bldP spid="48" grpId="0"/>
      <p:bldP spid="4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819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Grid LSTM</a:t>
            </a:r>
          </a:p>
        </p:txBody>
      </p:sp>
      <p:grpSp>
        <p:nvGrpSpPr>
          <p:cNvPr id="30723" name="群組 2"/>
          <p:cNvGrpSpPr>
            <a:grpSpLocks/>
          </p:cNvGrpSpPr>
          <p:nvPr/>
        </p:nvGrpSpPr>
        <p:grpSpPr bwMode="auto">
          <a:xfrm>
            <a:off x="12700" y="2014538"/>
            <a:ext cx="4000500" cy="3889375"/>
            <a:chOff x="336175" y="1949786"/>
            <a:chExt cx="3999776" cy="3890181"/>
          </a:xfrm>
        </p:grpSpPr>
        <p:sp>
          <p:nvSpPr>
            <p:cNvPr id="6" name="矩形 3"/>
            <p:cNvSpPr/>
            <p:nvPr/>
          </p:nvSpPr>
          <p:spPr>
            <a:xfrm>
              <a:off x="1255172" y="2910422"/>
              <a:ext cx="2133214" cy="19974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dirty="0">
                  <a:solidFill>
                    <a:srgbClr val="000000"/>
                  </a:solidFill>
                </a:rPr>
                <a:t>Grid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dirty="0">
                  <a:solidFill>
                    <a:srgbClr val="000000"/>
                  </a:solidFill>
                </a:rPr>
                <a:t>LSTM</a:t>
              </a:r>
              <a:endParaRPr lang="zh-TW" altLang="en-US" sz="2800" dirty="0">
                <a:solidFill>
                  <a:srgbClr val="000000"/>
                </a:solidFill>
              </a:endParaRPr>
            </a:p>
          </p:txBody>
        </p:sp>
        <p:sp>
          <p:nvSpPr>
            <p:cNvPr id="7" name="矩形 4"/>
            <p:cNvSpPr>
              <a:spLocks noChangeArrowheads="1"/>
            </p:cNvSpPr>
            <p:nvPr/>
          </p:nvSpPr>
          <p:spPr bwMode="auto">
            <a:xfrm>
              <a:off x="336175" y="2910422"/>
              <a:ext cx="507908" cy="932056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2800" baseline="30000" smtClean="0">
                <a:solidFill>
                  <a:srgbClr val="000000"/>
                </a:solidFill>
              </a:endParaRPr>
            </a:p>
          </p:txBody>
        </p:sp>
        <p:cxnSp>
          <p:nvCxnSpPr>
            <p:cNvPr id="8" name="直線單箭頭接點 5"/>
            <p:cNvCxnSpPr>
              <a:cxnSpLocks/>
            </p:cNvCxnSpPr>
            <p:nvPr/>
          </p:nvCxnSpPr>
          <p:spPr>
            <a:xfrm>
              <a:off x="844083" y="3409000"/>
              <a:ext cx="38886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6"/>
            <p:cNvSpPr/>
            <p:nvPr/>
          </p:nvSpPr>
          <p:spPr>
            <a:xfrm>
              <a:off x="344112" y="3977443"/>
              <a:ext cx="507908" cy="93046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2800" baseline="30000" dirty="0"/>
            </a:p>
          </p:txBody>
        </p:sp>
        <p:cxnSp>
          <p:nvCxnSpPr>
            <p:cNvPr id="10" name="直線單箭頭接點 7"/>
            <p:cNvCxnSpPr>
              <a:cxnSpLocks/>
            </p:cNvCxnSpPr>
            <p:nvPr/>
          </p:nvCxnSpPr>
          <p:spPr>
            <a:xfrm>
              <a:off x="852020" y="4499839"/>
              <a:ext cx="39045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單箭頭接點 8"/>
            <p:cNvCxnSpPr>
              <a:cxnSpLocks/>
            </p:cNvCxnSpPr>
            <p:nvPr/>
          </p:nvCxnSpPr>
          <p:spPr>
            <a:xfrm>
              <a:off x="3399496" y="3370892"/>
              <a:ext cx="38886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9"/>
            <p:cNvCxnSpPr>
              <a:cxnSpLocks/>
            </p:cNvCxnSpPr>
            <p:nvPr/>
          </p:nvCxnSpPr>
          <p:spPr>
            <a:xfrm>
              <a:off x="3407432" y="4463319"/>
              <a:ext cx="39045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0"/>
            <p:cNvSpPr>
              <a:spLocks noChangeArrowheads="1"/>
            </p:cNvSpPr>
            <p:nvPr/>
          </p:nvSpPr>
          <p:spPr bwMode="auto">
            <a:xfrm>
              <a:off x="3820107" y="2897719"/>
              <a:ext cx="507908" cy="932056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smtClean="0">
                  <a:solidFill>
                    <a:srgbClr val="000000"/>
                  </a:solidFill>
                </a:rPr>
                <a:t>c</a:t>
              </a:r>
              <a:r>
                <a:rPr lang="en-US" altLang="zh-TW" sz="2800" baseline="30000" smtClean="0">
                  <a:solidFill>
                    <a:srgbClr val="000000"/>
                  </a:solidFill>
                </a:rPr>
                <a:t>’</a:t>
              </a:r>
              <a:endParaRPr lang="zh-TW" altLang="en-US" sz="2800" baseline="30000" smtClean="0">
                <a:solidFill>
                  <a:srgbClr val="000000"/>
                </a:solidFill>
              </a:endParaRPr>
            </a:p>
          </p:txBody>
        </p:sp>
        <p:sp>
          <p:nvSpPr>
            <p:cNvPr id="14" name="矩形 11"/>
            <p:cNvSpPr/>
            <p:nvPr/>
          </p:nvSpPr>
          <p:spPr>
            <a:xfrm>
              <a:off x="3828043" y="3964740"/>
              <a:ext cx="507908" cy="930468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z="2800" smtClean="0">
                  <a:solidFill>
                    <a:srgbClr val="000000"/>
                  </a:solidFill>
                </a:rPr>
                <a:t>h</a:t>
              </a:r>
              <a:r>
                <a:rPr lang="en-US" altLang="zh-TW" sz="2800" baseline="30000" smtClean="0">
                  <a:solidFill>
                    <a:srgbClr val="000000"/>
                  </a:solidFill>
                </a:rPr>
                <a:t>’</a:t>
              </a:r>
              <a:endParaRPr lang="zh-TW" altLang="en-US" sz="2800" baseline="30000" smtClean="0">
                <a:solidFill>
                  <a:srgbClr val="000000"/>
                </a:solidFill>
              </a:endParaRPr>
            </a:p>
          </p:txBody>
        </p:sp>
        <p:sp>
          <p:nvSpPr>
            <p:cNvPr id="30786" name="矩形 12"/>
            <p:cNvSpPr>
              <a:spLocks noChangeArrowheads="1"/>
            </p:cNvSpPr>
            <p:nvPr/>
          </p:nvSpPr>
          <p:spPr bwMode="auto">
            <a:xfrm>
              <a:off x="442477" y="4206105"/>
              <a:ext cx="38436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endParaRPr lang="zh-TW" altLang="en-US" sz="28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0787" name="矩形 13"/>
            <p:cNvSpPr>
              <a:spLocks noChangeArrowheads="1"/>
            </p:cNvSpPr>
            <p:nvPr/>
          </p:nvSpPr>
          <p:spPr bwMode="auto">
            <a:xfrm>
              <a:off x="430160" y="3139836"/>
              <a:ext cx="33695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800">
                  <a:latin typeface="Arial" panose="020B0604020202020204" pitchFamily="34" charset="0"/>
                  <a:ea typeface="MS PGothic" panose="020B0600070205080204" pitchFamily="34" charset="-128"/>
                </a:rPr>
                <a:t>c</a:t>
              </a:r>
              <a:endParaRPr lang="zh-TW" altLang="en-US" sz="2800" baseline="30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17" name="矩形 14"/>
            <p:cNvSpPr>
              <a:spLocks noChangeArrowheads="1"/>
            </p:cNvSpPr>
            <p:nvPr/>
          </p:nvSpPr>
          <p:spPr bwMode="auto">
            <a:xfrm rot="-5400000">
              <a:off x="1554263" y="5113715"/>
              <a:ext cx="508105" cy="931694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2800" baseline="30000" smtClean="0">
                <a:solidFill>
                  <a:srgbClr val="000000"/>
                </a:solidFill>
              </a:endParaRPr>
            </a:p>
          </p:txBody>
        </p:sp>
        <p:cxnSp>
          <p:nvCxnSpPr>
            <p:cNvPr id="18" name="直線單箭頭接點 15"/>
            <p:cNvCxnSpPr>
              <a:cxnSpLocks/>
            </p:cNvCxnSpPr>
            <p:nvPr/>
          </p:nvCxnSpPr>
          <p:spPr>
            <a:xfrm rot="16200000">
              <a:off x="1646343" y="5131001"/>
              <a:ext cx="38901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6"/>
            <p:cNvSpPr/>
            <p:nvPr/>
          </p:nvSpPr>
          <p:spPr>
            <a:xfrm rot="16200000">
              <a:off x="2620870" y="5105776"/>
              <a:ext cx="508105" cy="931694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2800" baseline="30000" dirty="0"/>
            </a:p>
          </p:txBody>
        </p:sp>
        <p:cxnSp>
          <p:nvCxnSpPr>
            <p:cNvPr id="20" name="直線單箭頭接點 17"/>
            <p:cNvCxnSpPr>
              <a:cxnSpLocks/>
            </p:cNvCxnSpPr>
            <p:nvPr/>
          </p:nvCxnSpPr>
          <p:spPr>
            <a:xfrm rot="16200000">
              <a:off x="2693904" y="5123062"/>
              <a:ext cx="38901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792" name="矩形 18"/>
            <p:cNvSpPr>
              <a:spLocks noChangeArrowheads="1"/>
            </p:cNvSpPr>
            <p:nvPr/>
          </p:nvSpPr>
          <p:spPr bwMode="auto">
            <a:xfrm>
              <a:off x="2707228" y="5316747"/>
              <a:ext cx="384365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8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b</a:t>
              </a:r>
              <a:endParaRPr lang="zh-TW" altLang="en-US" sz="28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30793" name="矩形 19"/>
            <p:cNvSpPr>
              <a:spLocks noChangeArrowheads="1"/>
            </p:cNvSpPr>
            <p:nvPr/>
          </p:nvSpPr>
          <p:spPr bwMode="auto">
            <a:xfrm>
              <a:off x="1655047" y="5309906"/>
              <a:ext cx="35618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800">
                  <a:latin typeface="Arial" panose="020B0604020202020204" pitchFamily="34" charset="0"/>
                  <a:ea typeface="MS PGothic" panose="020B0600070205080204" pitchFamily="34" charset="-128"/>
                </a:rPr>
                <a:t>a</a:t>
              </a:r>
              <a:endParaRPr lang="zh-TW" altLang="en-US" sz="2800" baseline="30000"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  <p:grpSp>
          <p:nvGrpSpPr>
            <p:cNvPr id="30794" name="群組 20"/>
            <p:cNvGrpSpPr>
              <a:grpSpLocks/>
            </p:cNvGrpSpPr>
            <p:nvPr/>
          </p:nvGrpSpPr>
          <p:grpSpPr bwMode="auto">
            <a:xfrm>
              <a:off x="1323254" y="1949786"/>
              <a:ext cx="1997602" cy="530061"/>
              <a:chOff x="5481230" y="5576606"/>
              <a:chExt cx="1997602" cy="530061"/>
            </a:xfrm>
          </p:grpSpPr>
          <p:sp>
            <p:nvSpPr>
              <p:cNvPr id="26" name="矩形 21"/>
              <p:cNvSpPr>
                <a:spLocks noChangeArrowheads="1"/>
              </p:cNvSpPr>
              <p:nvPr/>
            </p:nvSpPr>
            <p:spPr bwMode="auto">
              <a:xfrm rot="-5400000">
                <a:off x="5693192" y="5380689"/>
                <a:ext cx="508105" cy="931694"/>
              </a:xfrm>
              <a:prstGeom prst="rect">
                <a:avLst/>
              </a:prstGeom>
              <a:gradFill rotWithShape="1">
                <a:gsLst>
                  <a:gs pos="0">
                    <a:srgbClr val="F7F6FF"/>
                  </a:gs>
                  <a:gs pos="64999">
                    <a:srgbClr val="ECEBFF"/>
                  </a:gs>
                  <a:gs pos="100000">
                    <a:srgbClr val="E5E3FF"/>
                  </a:gs>
                </a:gsLst>
                <a:lin ang="5400000" scaled="1"/>
              </a:gradFill>
              <a:ln w="9525">
                <a:solidFill>
                  <a:srgbClr val="D4D3E7"/>
                </a:solidFill>
                <a:miter lim="800000"/>
                <a:headEnd/>
                <a:tailEnd/>
              </a:ln>
              <a:effectLst>
                <a:outerShdw blurRad="40000" dist="20000" dir="5400000" rotWithShape="0">
                  <a:srgbClr val="808080">
                    <a:alpha val="37999"/>
                  </a:srgbClr>
                </a:outerShdw>
              </a:effectLst>
            </p:spPr>
            <p:txBody>
              <a:bodyPr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sz="2800" baseline="300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矩形 22"/>
              <p:cNvSpPr/>
              <p:nvPr/>
            </p:nvSpPr>
            <p:spPr>
              <a:xfrm rot="16200000">
                <a:off x="6758211" y="5372751"/>
                <a:ext cx="508105" cy="931693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TW" altLang="en-US" sz="2800" baseline="30000" dirty="0"/>
              </a:p>
            </p:txBody>
          </p:sp>
          <p:sp>
            <p:nvSpPr>
              <p:cNvPr id="30799" name="矩形 23"/>
              <p:cNvSpPr>
                <a:spLocks noChangeArrowheads="1"/>
              </p:cNvSpPr>
              <p:nvPr/>
            </p:nvSpPr>
            <p:spPr bwMode="auto">
              <a:xfrm>
                <a:off x="6806229" y="5583447"/>
                <a:ext cx="46358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TW" sz="2800">
                    <a:solidFill>
                      <a:srgbClr val="000000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rPr>
                  <a:t>b’</a:t>
                </a:r>
                <a:endParaRPr lang="zh-TW" altLang="en-US" sz="2800" baseline="300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30800" name="矩形 24"/>
              <p:cNvSpPr>
                <a:spLocks noChangeArrowheads="1"/>
              </p:cNvSpPr>
              <p:nvPr/>
            </p:nvSpPr>
            <p:spPr bwMode="auto">
              <a:xfrm>
                <a:off x="5748777" y="5576606"/>
                <a:ext cx="44595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/>
                <a:r>
                  <a:rPr lang="en-US" altLang="zh-TW" sz="2800">
                    <a:latin typeface="Arial" panose="020B0604020202020204" pitchFamily="34" charset="0"/>
                    <a:ea typeface="MS PGothic" panose="020B0600070205080204" pitchFamily="34" charset="-128"/>
                  </a:rPr>
                  <a:t>a’</a:t>
                </a:r>
                <a:endParaRPr lang="zh-TW" altLang="en-US" sz="2800" baseline="30000">
                  <a:latin typeface="Arial" panose="020B0604020202020204" pitchFamily="34" charset="0"/>
                  <a:ea typeface="MS PGothic" panose="020B0600070205080204" pitchFamily="34" charset="-128"/>
                </a:endParaRPr>
              </a:p>
            </p:txBody>
          </p:sp>
        </p:grpSp>
        <p:cxnSp>
          <p:nvCxnSpPr>
            <p:cNvPr id="24" name="直線單箭頭接點 25"/>
            <p:cNvCxnSpPr>
              <a:cxnSpLocks/>
            </p:cNvCxnSpPr>
            <p:nvPr/>
          </p:nvCxnSpPr>
          <p:spPr>
            <a:xfrm rot="16200000">
              <a:off x="1611425" y="2682569"/>
              <a:ext cx="38901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單箭頭接點 26"/>
            <p:cNvCxnSpPr>
              <a:cxnSpLocks/>
            </p:cNvCxnSpPr>
            <p:nvPr/>
          </p:nvCxnSpPr>
          <p:spPr>
            <a:xfrm rot="16200000">
              <a:off x="2660573" y="2674630"/>
              <a:ext cx="38901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724" name="群組 281"/>
          <p:cNvGrpSpPr>
            <a:grpSpLocks/>
          </p:cNvGrpSpPr>
          <p:nvPr/>
        </p:nvGrpSpPr>
        <p:grpSpPr bwMode="auto">
          <a:xfrm>
            <a:off x="6905625" y="1020763"/>
            <a:ext cx="908050" cy="461962"/>
            <a:chOff x="4765592" y="6396335"/>
            <a:chExt cx="907572" cy="461665"/>
          </a:xfrm>
        </p:grpSpPr>
        <p:sp>
          <p:nvSpPr>
            <p:cNvPr id="31" name="矩形 282"/>
            <p:cNvSpPr>
              <a:spLocks noChangeArrowheads="1"/>
            </p:cNvSpPr>
            <p:nvPr/>
          </p:nvSpPr>
          <p:spPr bwMode="auto">
            <a:xfrm>
              <a:off x="4822712" y="6442342"/>
              <a:ext cx="720346" cy="369650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30776" name="文字方塊 283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r>
                <a:rPr lang="en-US" altLang="zh-TW" sz="2400" baseline="300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'</a:t>
              </a:r>
              <a:endParaRPr lang="zh-TW" altLang="en-US" sz="24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33" name="矩形 288"/>
          <p:cNvSpPr>
            <a:spLocks noChangeArrowheads="1"/>
          </p:cNvSpPr>
          <p:nvPr/>
        </p:nvSpPr>
        <p:spPr bwMode="auto">
          <a:xfrm>
            <a:off x="6408738" y="4381500"/>
            <a:ext cx="719137" cy="431800"/>
          </a:xfrm>
          <a:prstGeom prst="rect">
            <a:avLst/>
          </a:prstGeom>
          <a:gradFill rotWithShape="1">
            <a:gsLst>
              <a:gs pos="0">
                <a:srgbClr val="F5F5FC"/>
              </a:gs>
              <a:gs pos="64999">
                <a:srgbClr val="E6E6F6"/>
              </a:gs>
              <a:gs pos="100000">
                <a:srgbClr val="DCDCF3"/>
              </a:gs>
            </a:gsLst>
            <a:lin ang="5400000" scaled="1"/>
          </a:gradFill>
          <a:ln w="9525">
            <a:solidFill>
              <a:srgbClr val="BFBFD2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mtClean="0">
                <a:solidFill>
                  <a:srgbClr val="000000"/>
                </a:solidFill>
              </a:rPr>
              <a:t>z</a:t>
            </a:r>
            <a:endParaRPr lang="zh-TW" altLang="en-US" smtClean="0">
              <a:solidFill>
                <a:srgbClr val="000000"/>
              </a:solidFill>
            </a:endParaRPr>
          </a:p>
        </p:txBody>
      </p:sp>
      <p:sp>
        <p:nvSpPr>
          <p:cNvPr id="34" name="矩形 289"/>
          <p:cNvSpPr/>
          <p:nvPr/>
        </p:nvSpPr>
        <p:spPr>
          <a:xfrm>
            <a:off x="5514975" y="4381500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i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35" name="橢圓 290"/>
          <p:cNvSpPr/>
          <p:nvPr/>
        </p:nvSpPr>
        <p:spPr>
          <a:xfrm>
            <a:off x="6080125" y="3527425"/>
            <a:ext cx="438150" cy="438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sp>
        <p:nvSpPr>
          <p:cNvPr id="36" name="矩形 291"/>
          <p:cNvSpPr/>
          <p:nvPr/>
        </p:nvSpPr>
        <p:spPr>
          <a:xfrm>
            <a:off x="4630738" y="4381500"/>
            <a:ext cx="720725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 err="1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 err="1">
                <a:solidFill>
                  <a:srgbClr val="000000"/>
                </a:solidFill>
              </a:rPr>
              <a:t>f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37" name="矩形 292"/>
          <p:cNvSpPr/>
          <p:nvPr/>
        </p:nvSpPr>
        <p:spPr>
          <a:xfrm>
            <a:off x="7292975" y="4386263"/>
            <a:ext cx="719138" cy="4318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400" dirty="0">
                <a:solidFill>
                  <a:srgbClr val="000000"/>
                </a:solidFill>
              </a:rPr>
              <a:t>z</a:t>
            </a:r>
            <a:r>
              <a:rPr lang="en-US" altLang="zh-TW" sz="2400" baseline="30000" dirty="0">
                <a:solidFill>
                  <a:srgbClr val="000000"/>
                </a:solidFill>
              </a:rPr>
              <a:t>o</a:t>
            </a:r>
            <a:endParaRPr lang="zh-TW" altLang="en-US" sz="2400" baseline="30000" dirty="0">
              <a:solidFill>
                <a:srgbClr val="000000"/>
              </a:solidFill>
            </a:endParaRPr>
          </a:p>
        </p:txBody>
      </p:sp>
      <p:sp>
        <p:nvSpPr>
          <p:cNvPr id="38" name="橢圓 293"/>
          <p:cNvSpPr/>
          <p:nvPr/>
        </p:nvSpPr>
        <p:spPr>
          <a:xfrm>
            <a:off x="4752975" y="2708275"/>
            <a:ext cx="438150" cy="438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grpSp>
        <p:nvGrpSpPr>
          <p:cNvPr id="30731" name="群組 294"/>
          <p:cNvGrpSpPr>
            <a:grpSpLocks/>
          </p:cNvGrpSpPr>
          <p:nvPr/>
        </p:nvGrpSpPr>
        <p:grpSpPr bwMode="auto">
          <a:xfrm>
            <a:off x="6069013" y="2681288"/>
            <a:ext cx="438150" cy="438150"/>
            <a:chOff x="6656524" y="2699227"/>
            <a:chExt cx="438150" cy="438150"/>
          </a:xfrm>
        </p:grpSpPr>
        <p:sp>
          <p:nvSpPr>
            <p:cNvPr id="40" name="橢圓 295"/>
            <p:cNvSpPr>
              <a:spLocks noChangeArrowheads="1"/>
            </p:cNvSpPr>
            <p:nvPr/>
          </p:nvSpPr>
          <p:spPr bwMode="auto">
            <a:xfrm>
              <a:off x="6656524" y="2699227"/>
              <a:ext cx="438150" cy="438150"/>
            </a:xfrm>
            <a:prstGeom prst="ellipse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41" name="文字方塊 296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6749816" y="2808362"/>
              <a:ext cx="283732" cy="276999"/>
            </a:xfrm>
            <a:prstGeom prst="rect">
              <a:avLst/>
            </a:prstGeom>
            <a:blipFill rotWithShape="1">
              <a:blip r:embed="rId2"/>
              <a:stretch>
                <a:fillRect l="-8333" t="-8511" b="-4255"/>
              </a:stretch>
            </a:blipFill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>
                  <a:noFill/>
                  <a:latin typeface="Arial" charset="0"/>
                  <a:ea typeface="ＭＳ Ｐゴシック" charset="0"/>
                  <a:cs typeface="ＭＳ Ｐゴシック" charset="0"/>
                </a:rPr>
                <a:t> </a:t>
              </a:r>
            </a:p>
          </p:txBody>
        </p:sp>
      </p:grpSp>
      <p:sp>
        <p:nvSpPr>
          <p:cNvPr id="42" name="橢圓 297"/>
          <p:cNvSpPr/>
          <p:nvPr/>
        </p:nvSpPr>
        <p:spPr>
          <a:xfrm>
            <a:off x="7429500" y="2703513"/>
            <a:ext cx="438150" cy="4381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 dirty="0"/>
          </a:p>
        </p:txBody>
      </p:sp>
      <p:cxnSp>
        <p:nvCxnSpPr>
          <p:cNvPr id="43" name="直線單箭頭接點 300"/>
          <p:cNvCxnSpPr>
            <a:cxnSpLocks/>
          </p:cNvCxnSpPr>
          <p:nvPr/>
        </p:nvCxnSpPr>
        <p:spPr>
          <a:xfrm flipH="1" flipV="1">
            <a:off x="4991100" y="3175000"/>
            <a:ext cx="0" cy="12303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301"/>
          <p:cNvCxnSpPr>
            <a:cxnSpLocks/>
          </p:cNvCxnSpPr>
          <p:nvPr/>
        </p:nvCxnSpPr>
        <p:spPr>
          <a:xfrm>
            <a:off x="5197475" y="2938463"/>
            <a:ext cx="88741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單箭頭接點 302"/>
          <p:cNvCxnSpPr>
            <a:cxnSpLocks/>
            <a:endCxn id="35" idx="5"/>
          </p:cNvCxnSpPr>
          <p:nvPr/>
        </p:nvCxnSpPr>
        <p:spPr>
          <a:xfrm flipH="1" flipV="1">
            <a:off x="6454775" y="3902075"/>
            <a:ext cx="338138" cy="4937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單箭頭接點 303"/>
          <p:cNvCxnSpPr>
            <a:cxnSpLocks/>
            <a:endCxn id="35" idx="3"/>
          </p:cNvCxnSpPr>
          <p:nvPr/>
        </p:nvCxnSpPr>
        <p:spPr>
          <a:xfrm flipV="1">
            <a:off x="5875338" y="3902075"/>
            <a:ext cx="269875" cy="47942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304"/>
          <p:cNvCxnSpPr>
            <a:cxnSpLocks/>
          </p:cNvCxnSpPr>
          <p:nvPr/>
        </p:nvCxnSpPr>
        <p:spPr>
          <a:xfrm flipV="1">
            <a:off x="6296025" y="3127375"/>
            <a:ext cx="0" cy="3968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向下箭號 162"/>
          <p:cNvSpPr/>
          <p:nvPr/>
        </p:nvSpPr>
        <p:spPr>
          <a:xfrm rot="2620627" flipV="1">
            <a:off x="7186613" y="4841875"/>
            <a:ext cx="438150" cy="985838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49" name="向下箭號 163"/>
          <p:cNvSpPr/>
          <p:nvPr/>
        </p:nvSpPr>
        <p:spPr>
          <a:xfrm rot="20057551" flipV="1">
            <a:off x="5773738" y="4837113"/>
            <a:ext cx="438150" cy="908050"/>
          </a:xfrm>
          <a:prstGeom prst="down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50" name="向下箭號 165"/>
          <p:cNvSpPr/>
          <p:nvPr/>
        </p:nvSpPr>
        <p:spPr>
          <a:xfrm rot="1353372" flipV="1">
            <a:off x="6484938" y="4883150"/>
            <a:ext cx="438150" cy="860425"/>
          </a:xfrm>
          <a:prstGeom prst="down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51" name="向下箭號 166"/>
          <p:cNvSpPr/>
          <p:nvPr/>
        </p:nvSpPr>
        <p:spPr>
          <a:xfrm rot="18851723" flipV="1">
            <a:off x="5026819" y="4810919"/>
            <a:ext cx="438150" cy="1030288"/>
          </a:xfrm>
          <a:prstGeom prst="down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30742" name="群組 310"/>
          <p:cNvGrpSpPr>
            <a:grpSpLocks/>
          </p:cNvGrpSpPr>
          <p:nvPr/>
        </p:nvGrpSpPr>
        <p:grpSpPr bwMode="auto">
          <a:xfrm>
            <a:off x="5483225" y="5795963"/>
            <a:ext cx="908050" cy="461962"/>
            <a:chOff x="4765592" y="6396335"/>
            <a:chExt cx="907572" cy="461665"/>
          </a:xfrm>
        </p:grpSpPr>
        <p:sp>
          <p:nvSpPr>
            <p:cNvPr id="53" name="矩形 311"/>
            <p:cNvSpPr>
              <a:spLocks noChangeArrowheads="1"/>
            </p:cNvSpPr>
            <p:nvPr/>
          </p:nvSpPr>
          <p:spPr bwMode="auto">
            <a:xfrm>
              <a:off x="4822712" y="6442342"/>
              <a:ext cx="720346" cy="369650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30772" name="文字方塊 312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h</a:t>
              </a:r>
              <a:endParaRPr lang="zh-TW" altLang="en-US" sz="24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30743" name="群組 313"/>
          <p:cNvGrpSpPr>
            <a:grpSpLocks/>
          </p:cNvGrpSpPr>
          <p:nvPr/>
        </p:nvGrpSpPr>
        <p:grpSpPr bwMode="auto">
          <a:xfrm>
            <a:off x="3979863" y="1795463"/>
            <a:ext cx="908050" cy="719137"/>
            <a:chOff x="5091936" y="6238205"/>
            <a:chExt cx="907572" cy="720000"/>
          </a:xfrm>
        </p:grpSpPr>
        <p:sp>
          <p:nvSpPr>
            <p:cNvPr id="56" name="矩形 314"/>
            <p:cNvSpPr>
              <a:spLocks noChangeArrowheads="1"/>
            </p:cNvSpPr>
            <p:nvPr/>
          </p:nvSpPr>
          <p:spPr bwMode="auto">
            <a:xfrm rot="5400000">
              <a:off x="5157162" y="6414152"/>
              <a:ext cx="720000" cy="368106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57" name="文字方塊 315"/>
            <p:cNvSpPr txBox="1">
              <a:spLocks noChangeArrowheads="1"/>
            </p:cNvSpPr>
            <p:nvPr/>
          </p:nvSpPr>
          <p:spPr bwMode="auto">
            <a:xfrm>
              <a:off x="5091936" y="6366946"/>
              <a:ext cx="907572" cy="462517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/>
                <a:t>c</a:t>
              </a:r>
              <a:endParaRPr lang="zh-TW" altLang="en-US" baseline="30000" smtClean="0"/>
            </a:p>
          </p:txBody>
        </p:sp>
      </p:grpSp>
      <p:sp>
        <p:nvSpPr>
          <p:cNvPr id="58" name="手繪多邊形 2"/>
          <p:cNvSpPr/>
          <p:nvPr/>
        </p:nvSpPr>
        <p:spPr>
          <a:xfrm>
            <a:off x="6408738" y="2292350"/>
            <a:ext cx="1625600" cy="377825"/>
          </a:xfrm>
          <a:custGeom>
            <a:avLst/>
            <a:gdLst>
              <a:gd name="connsiteX0" fmla="*/ 0 w 1625600"/>
              <a:gd name="connsiteY0" fmla="*/ 378228 h 378228"/>
              <a:gd name="connsiteX1" fmla="*/ 508000 w 1625600"/>
              <a:gd name="connsiteY1" fmla="*/ 73428 h 378228"/>
              <a:gd name="connsiteX2" fmla="*/ 1625600 w 1625600"/>
              <a:gd name="connsiteY2" fmla="*/ 857 h 378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5600" h="378228">
                <a:moveTo>
                  <a:pt x="0" y="378228"/>
                </a:moveTo>
                <a:cubicBezTo>
                  <a:pt x="118533" y="257275"/>
                  <a:pt x="237067" y="136323"/>
                  <a:pt x="508000" y="73428"/>
                </a:cubicBezTo>
                <a:cubicBezTo>
                  <a:pt x="778933" y="10533"/>
                  <a:pt x="1395791" y="-3981"/>
                  <a:pt x="1625600" y="857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59" name="手繪多邊形 4"/>
          <p:cNvSpPr/>
          <p:nvPr/>
        </p:nvSpPr>
        <p:spPr>
          <a:xfrm>
            <a:off x="4630738" y="2320925"/>
            <a:ext cx="311150" cy="379413"/>
          </a:xfrm>
          <a:custGeom>
            <a:avLst/>
            <a:gdLst>
              <a:gd name="connsiteX0" fmla="*/ 0 w 435428"/>
              <a:gd name="connsiteY0" fmla="*/ 931 h 378302"/>
              <a:gd name="connsiteX1" fmla="*/ 290286 w 435428"/>
              <a:gd name="connsiteY1" fmla="*/ 58988 h 378302"/>
              <a:gd name="connsiteX2" fmla="*/ 435428 w 435428"/>
              <a:gd name="connsiteY2" fmla="*/ 378302 h 378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5428" h="378302">
                <a:moveTo>
                  <a:pt x="0" y="931"/>
                </a:moveTo>
                <a:cubicBezTo>
                  <a:pt x="108857" y="-1488"/>
                  <a:pt x="217715" y="-3907"/>
                  <a:pt x="290286" y="58988"/>
                </a:cubicBezTo>
                <a:cubicBezTo>
                  <a:pt x="362857" y="121883"/>
                  <a:pt x="399142" y="250092"/>
                  <a:pt x="435428" y="378302"/>
                </a:cubicBezTo>
              </a:path>
            </a:pathLst>
          </a:custGeom>
          <a:noFill/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cxnSp>
        <p:nvCxnSpPr>
          <p:cNvPr id="60" name="直線單箭頭接點 321"/>
          <p:cNvCxnSpPr>
            <a:cxnSpLocks/>
          </p:cNvCxnSpPr>
          <p:nvPr/>
        </p:nvCxnSpPr>
        <p:spPr>
          <a:xfrm>
            <a:off x="6542088" y="2938463"/>
            <a:ext cx="88741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322"/>
          <p:cNvCxnSpPr>
            <a:cxnSpLocks/>
          </p:cNvCxnSpPr>
          <p:nvPr/>
        </p:nvCxnSpPr>
        <p:spPr>
          <a:xfrm flipH="1" flipV="1">
            <a:off x="7662863" y="3141663"/>
            <a:ext cx="0" cy="123031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32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43670" y="3504779"/>
            <a:ext cx="521297" cy="461665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63" name="矩形 32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711563" y="2698324"/>
            <a:ext cx="521297" cy="46166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64" name="矩形 32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387632" y="2679933"/>
            <a:ext cx="521297" cy="461665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noFill/>
                <a:latin typeface="Arial" charset="0"/>
                <a:ea typeface="ＭＳ Ｐゴシック" charset="0"/>
                <a:cs typeface="ＭＳ Ｐゴシック" charset="0"/>
              </a:rPr>
              <a:t> </a:t>
            </a:r>
          </a:p>
        </p:txBody>
      </p:sp>
      <p:sp>
        <p:nvSpPr>
          <p:cNvPr id="30751" name="文字方塊 326"/>
          <p:cNvSpPr txBox="1">
            <a:spLocks noChangeArrowheads="1"/>
          </p:cNvSpPr>
          <p:nvPr/>
        </p:nvSpPr>
        <p:spPr bwMode="auto">
          <a:xfrm>
            <a:off x="6242050" y="2867025"/>
            <a:ext cx="1428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zh-TW" sz="2400">
                <a:latin typeface="Arial" panose="020B0604020202020204" pitchFamily="34" charset="0"/>
                <a:ea typeface="MS PGothic" panose="020B0600070205080204" pitchFamily="34" charset="-128"/>
              </a:rPr>
              <a:t>tanh</a:t>
            </a:r>
            <a:endParaRPr lang="zh-TW" altLang="en-US" sz="240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66" name="直線單箭頭接點 327"/>
          <p:cNvCxnSpPr>
            <a:cxnSpLocks/>
          </p:cNvCxnSpPr>
          <p:nvPr/>
        </p:nvCxnSpPr>
        <p:spPr>
          <a:xfrm flipH="1" flipV="1">
            <a:off x="7662863" y="1449388"/>
            <a:ext cx="0" cy="123031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53" name="群組 329"/>
          <p:cNvGrpSpPr>
            <a:grpSpLocks/>
          </p:cNvGrpSpPr>
          <p:nvPr/>
        </p:nvGrpSpPr>
        <p:grpSpPr bwMode="auto">
          <a:xfrm>
            <a:off x="7775575" y="1806575"/>
            <a:ext cx="908050" cy="720725"/>
            <a:chOff x="5063216" y="6238205"/>
            <a:chExt cx="907572" cy="720000"/>
          </a:xfrm>
        </p:grpSpPr>
        <p:sp>
          <p:nvSpPr>
            <p:cNvPr id="68" name="矩形 330"/>
            <p:cNvSpPr>
              <a:spLocks noChangeArrowheads="1"/>
            </p:cNvSpPr>
            <p:nvPr/>
          </p:nvSpPr>
          <p:spPr bwMode="auto">
            <a:xfrm rot="5400000">
              <a:off x="5157002" y="6414152"/>
              <a:ext cx="720000" cy="368106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69" name="文字方塊 331"/>
            <p:cNvSpPr txBox="1">
              <a:spLocks noChangeArrowheads="1"/>
            </p:cNvSpPr>
            <p:nvPr/>
          </p:nvSpPr>
          <p:spPr bwMode="auto">
            <a:xfrm>
              <a:off x="5063216" y="6385694"/>
              <a:ext cx="907572" cy="461497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/>
                <a:t>c'</a:t>
              </a:r>
              <a:endParaRPr lang="zh-TW" altLang="en-US" baseline="30000" smtClean="0"/>
            </a:p>
          </p:txBody>
        </p:sp>
      </p:grpSp>
      <p:grpSp>
        <p:nvGrpSpPr>
          <p:cNvPr id="70" name="群組 332"/>
          <p:cNvGrpSpPr>
            <a:grpSpLocks/>
          </p:cNvGrpSpPr>
          <p:nvPr/>
        </p:nvGrpSpPr>
        <p:grpSpPr bwMode="auto">
          <a:xfrm>
            <a:off x="3986213" y="2595563"/>
            <a:ext cx="908050" cy="719137"/>
            <a:chOff x="5091936" y="6238205"/>
            <a:chExt cx="907572" cy="720000"/>
          </a:xfrm>
        </p:grpSpPr>
        <p:sp>
          <p:nvSpPr>
            <p:cNvPr id="71" name="矩形 333"/>
            <p:cNvSpPr>
              <a:spLocks noChangeArrowheads="1"/>
            </p:cNvSpPr>
            <p:nvPr/>
          </p:nvSpPr>
          <p:spPr bwMode="auto">
            <a:xfrm rot="5400000">
              <a:off x="5157162" y="6414152"/>
              <a:ext cx="720000" cy="368106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72" name="文字方塊 334"/>
            <p:cNvSpPr txBox="1">
              <a:spLocks noChangeArrowheads="1"/>
            </p:cNvSpPr>
            <p:nvPr/>
          </p:nvSpPr>
          <p:spPr bwMode="auto">
            <a:xfrm>
              <a:off x="5091936" y="6366946"/>
              <a:ext cx="907572" cy="462517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/>
                <a:t>a</a:t>
              </a:r>
              <a:endParaRPr lang="zh-TW" altLang="en-US" baseline="30000" smtClean="0"/>
            </a:p>
          </p:txBody>
        </p:sp>
      </p:grpSp>
      <p:grpSp>
        <p:nvGrpSpPr>
          <p:cNvPr id="73" name="群組 335"/>
          <p:cNvGrpSpPr>
            <a:grpSpLocks/>
          </p:cNvGrpSpPr>
          <p:nvPr/>
        </p:nvGrpSpPr>
        <p:grpSpPr bwMode="auto">
          <a:xfrm>
            <a:off x="6359525" y="5810250"/>
            <a:ext cx="906463" cy="461963"/>
            <a:chOff x="4765592" y="6396335"/>
            <a:chExt cx="907572" cy="461665"/>
          </a:xfrm>
        </p:grpSpPr>
        <p:sp>
          <p:nvSpPr>
            <p:cNvPr id="74" name="矩形 336"/>
            <p:cNvSpPr>
              <a:spLocks noChangeArrowheads="1"/>
            </p:cNvSpPr>
            <p:nvPr/>
          </p:nvSpPr>
          <p:spPr bwMode="auto">
            <a:xfrm>
              <a:off x="4822812" y="6442343"/>
              <a:ext cx="720018" cy="369648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30764" name="文字方塊 337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b</a:t>
              </a:r>
              <a:endParaRPr lang="zh-TW" altLang="en-US" sz="24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76" name="群組 338"/>
          <p:cNvGrpSpPr>
            <a:grpSpLocks/>
          </p:cNvGrpSpPr>
          <p:nvPr/>
        </p:nvGrpSpPr>
        <p:grpSpPr bwMode="auto">
          <a:xfrm>
            <a:off x="7810500" y="2571750"/>
            <a:ext cx="908050" cy="719138"/>
            <a:chOff x="5091936" y="6238205"/>
            <a:chExt cx="907572" cy="720000"/>
          </a:xfrm>
        </p:grpSpPr>
        <p:sp>
          <p:nvSpPr>
            <p:cNvPr id="77" name="矩形 339"/>
            <p:cNvSpPr>
              <a:spLocks noChangeArrowheads="1"/>
            </p:cNvSpPr>
            <p:nvPr/>
          </p:nvSpPr>
          <p:spPr bwMode="auto">
            <a:xfrm rot="5400000">
              <a:off x="5157162" y="6414152"/>
              <a:ext cx="720000" cy="368106"/>
            </a:xfrm>
            <a:prstGeom prst="rect">
              <a:avLst/>
            </a:prstGeom>
            <a:gradFill rotWithShape="1">
              <a:gsLst>
                <a:gs pos="0">
                  <a:srgbClr val="F7F6FF"/>
                </a:gs>
                <a:gs pos="64999">
                  <a:srgbClr val="ECEBFF"/>
                </a:gs>
                <a:gs pos="100000">
                  <a:srgbClr val="E5E3FF"/>
                </a:gs>
              </a:gsLst>
              <a:lin ang="5400000" scaled="1"/>
            </a:gradFill>
            <a:ln w="9525">
              <a:solidFill>
                <a:srgbClr val="D4D3E7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000000"/>
                </a:solidFill>
              </a:endParaRPr>
            </a:p>
          </p:txBody>
        </p:sp>
        <p:sp>
          <p:nvSpPr>
            <p:cNvPr id="78" name="文字方塊 340"/>
            <p:cNvSpPr txBox="1">
              <a:spLocks noChangeArrowheads="1"/>
            </p:cNvSpPr>
            <p:nvPr/>
          </p:nvSpPr>
          <p:spPr bwMode="auto">
            <a:xfrm>
              <a:off x="5091936" y="6366947"/>
              <a:ext cx="907572" cy="462516"/>
            </a:xfrm>
            <a:prstGeom prst="rect">
              <a:avLst/>
            </a:prstGeom>
            <a:noFill/>
            <a:ln>
              <a:noFill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TW" smtClean="0"/>
                <a:t>a'</a:t>
              </a:r>
              <a:endParaRPr lang="zh-TW" altLang="en-US" baseline="30000" smtClean="0"/>
            </a:p>
          </p:txBody>
        </p:sp>
      </p:grpSp>
      <p:grpSp>
        <p:nvGrpSpPr>
          <p:cNvPr id="79" name="群組 341"/>
          <p:cNvGrpSpPr>
            <a:grpSpLocks/>
          </p:cNvGrpSpPr>
          <p:nvPr/>
        </p:nvGrpSpPr>
        <p:grpSpPr bwMode="auto">
          <a:xfrm>
            <a:off x="7645400" y="1020763"/>
            <a:ext cx="908050" cy="461962"/>
            <a:chOff x="4765592" y="6396335"/>
            <a:chExt cx="907572" cy="461665"/>
          </a:xfrm>
        </p:grpSpPr>
        <p:sp>
          <p:nvSpPr>
            <p:cNvPr id="80" name="矩形 342"/>
            <p:cNvSpPr>
              <a:spLocks noChangeArrowheads="1"/>
            </p:cNvSpPr>
            <p:nvPr/>
          </p:nvSpPr>
          <p:spPr bwMode="auto">
            <a:xfrm>
              <a:off x="4822712" y="6442342"/>
              <a:ext cx="720346" cy="369650"/>
            </a:xfrm>
            <a:prstGeom prst="rect">
              <a:avLst/>
            </a:prstGeom>
            <a:solidFill>
              <a:srgbClr val="E2E2FF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 sz="1800" smtClean="0">
                <a:solidFill>
                  <a:srgbClr val="FFFFFF"/>
                </a:solidFill>
              </a:endParaRPr>
            </a:p>
          </p:txBody>
        </p:sp>
        <p:sp>
          <p:nvSpPr>
            <p:cNvPr id="30760" name="文字方塊 343"/>
            <p:cNvSpPr txBox="1">
              <a:spLocks noChangeArrowheads="1"/>
            </p:cNvSpPr>
            <p:nvPr/>
          </p:nvSpPr>
          <p:spPr bwMode="auto">
            <a:xfrm>
              <a:off x="4765592" y="6396335"/>
              <a:ext cx="9075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zh-TW" sz="2400">
                  <a:solidFill>
                    <a:srgbClr val="000000"/>
                  </a:solidFill>
                  <a:latin typeface="Arial" panose="020B0604020202020204" pitchFamily="34" charset="0"/>
                  <a:ea typeface="MS PGothic" panose="020B0600070205080204" pitchFamily="34" charset="-128"/>
                </a:rPr>
                <a:t>b'</a:t>
              </a:r>
              <a:endParaRPr lang="zh-TW" altLang="en-US" sz="2400" baseline="3000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30758" name="TextBox 81"/>
          <p:cNvSpPr txBox="1">
            <a:spLocks noChangeArrowheads="1"/>
          </p:cNvSpPr>
          <p:nvPr/>
        </p:nvSpPr>
        <p:spPr bwMode="auto">
          <a:xfrm>
            <a:off x="0" y="6396038"/>
            <a:ext cx="5711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Arial" panose="020B0604020202020204" pitchFamily="34" charset="0"/>
                <a:ea typeface="MS PGothic" panose="020B0600070205080204" pitchFamily="34" charset="-128"/>
              </a:rPr>
              <a:t>You can generalize this to 3D, and more</a:t>
            </a: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442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28046</TotalTime>
  <Words>1346</Words>
  <Application>Microsoft Office PowerPoint</Application>
  <PresentationFormat>On-screen Show (4:3)</PresentationFormat>
  <Paragraphs>544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Calibri</vt:lpstr>
      <vt:lpstr>Arial</vt:lpstr>
      <vt:lpstr>Calibri Light</vt:lpstr>
      <vt:lpstr>MS PGothic</vt:lpstr>
      <vt:lpstr>PMingLiU</vt:lpstr>
      <vt:lpstr>Times New Roman</vt:lpstr>
      <vt:lpstr>Wingdings</vt:lpstr>
      <vt:lpstr>Lucida Grande</vt:lpstr>
      <vt:lpstr>Office Theme</vt:lpstr>
      <vt:lpstr>Introduction to LSTM</vt:lpstr>
      <vt:lpstr>Fully Connected Network</vt:lpstr>
      <vt:lpstr>Recurrent Neural Network</vt:lpstr>
      <vt:lpstr>How does RNN reduce complexity?</vt:lpstr>
      <vt:lpstr>PowerPoint Presentation</vt:lpstr>
      <vt:lpstr>PowerPoint Presentation</vt:lpstr>
      <vt:lpstr>PowerPoint Presentation</vt:lpstr>
      <vt:lpstr>Naïve RNN</vt:lpstr>
      <vt:lpstr>Problems with naive RNN</vt:lpstr>
      <vt:lpstr>PowerPoint Presentation</vt:lpstr>
      <vt:lpstr>LSTM</vt:lpstr>
      <vt:lpstr>PowerPoint Presentation</vt:lpstr>
      <vt:lpstr>RNN vs LSTM</vt:lpstr>
      <vt:lpstr>Peephole LSTM</vt:lpstr>
      <vt:lpstr>Naïve RNN vs LSTM</vt:lpstr>
      <vt:lpstr>PowerPoint Presentation</vt:lpstr>
      <vt:lpstr>PowerPoint Presentation</vt:lpstr>
      <vt:lpstr>PowerPoint Presentation</vt:lpstr>
      <vt:lpstr>LSTM information flow</vt:lpstr>
      <vt:lpstr>GRU – gated recurrent unit  (more compression)</vt:lpstr>
      <vt:lpstr>PowerPoint Presentation</vt:lpstr>
      <vt:lpstr>PowerPoint Presentation</vt:lpstr>
      <vt:lpstr>Applications of LSTM / RNN</vt:lpstr>
      <vt:lpstr>Neural machine translation</vt:lpstr>
      <vt:lpstr>Sequence to sequence chat model</vt:lpstr>
      <vt:lpstr>Chat with context</vt:lpstr>
      <vt:lpstr>Baidu’s speech recognition using RNN</vt:lpstr>
      <vt:lpstr>Attention</vt:lpstr>
      <vt:lpstr>Image caption generation using attention (From CY Lee lecture)</vt:lpstr>
      <vt:lpstr>Image Caption Generation</vt:lpstr>
      <vt:lpstr>Image Caption Generation</vt:lpstr>
      <vt:lpstr>Image Caption Generation</vt:lpstr>
      <vt:lpstr>Image Caption Generation</vt:lpstr>
      <vt:lpstr>PowerPoint Presentation</vt:lpstr>
      <vt:lpstr>Other Variations of LSTM</vt:lpstr>
      <vt:lpstr> </vt:lpstr>
      <vt:lpstr>PowerPoint Presentation</vt:lpstr>
      <vt:lpstr>PowerPoint Presentation</vt:lpstr>
      <vt:lpstr>PowerPoint Presentation</vt:lpstr>
      <vt:lpstr>Grid LSTM</vt:lpstr>
      <vt:lpstr>Grid LSTM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xhuang</dc:creator>
  <cp:lastModifiedBy>Xinming Huang</cp:lastModifiedBy>
  <cp:revision>333</cp:revision>
  <dcterms:created xsi:type="dcterms:W3CDTF">2017-04-15T17:01:01Z</dcterms:created>
  <dcterms:modified xsi:type="dcterms:W3CDTF">2020-11-04T22:46:11Z</dcterms:modified>
</cp:coreProperties>
</file>