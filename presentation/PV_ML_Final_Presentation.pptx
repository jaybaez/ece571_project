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Hi, I'm [your name], and this is my ECE571 project — predicting solar power output using five different machine learning approaches on the same dataset. Rather than five separate assignments, I tried to tell one coherent story about what actually helps when forecasting photovoltaic power, and just as importantly, what doesn't.
IMPORTANT POINT: Frame this immediately as ONE investigation, not five disconnected exercises — that's the whole narrative thread for the next 10 minutes.
TRANSITION: Let's start with why this problem matters in the first place.
APPROX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Solar power is different from a fossil-fuel plant because you can't just turn it up when you need more — the sun decides. That creates real problems: grid operators need to know how much power is coming so they can plan other generation, storage systems need forecasts to know when to charge or discharge, and utilities planning a brand-new site often have little or no historical data.
IMPORTANT POINT: This is called 'intermittency' — a generation source you can forecast but not control. That's the reason PV forecasting is its own research area.
TRANSITION: Let's look at the actual dataset I used.
APPROX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dataset — five cities, mostly six years of data at 30-minute intervals, 22 columns covering irradiance, weather, cloud type, and Output Power. The big number on the right — Davis's plant produces roughly three and a half times the average output of the smallest city. That's not a data quality issue, it's just different plant sizes, but it matters enormously later.
IMPORTANT POINT: 'Spatiotemporal' just means the data varies across both space — five different cities — and time — years of 30-minute readings. That combination is exactly what makes cross-city comparison and time-based forecasting possible.
TRANSITION: Now let's look at how I actually structured the experiments around this data.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 tested five ML paradigms on this dataset, each with its own fair baseline: classification, regression — the core task — dimension reduction, semi-supervised learning, and transfer learning. Two and five specifically compare same-city versus cross-city performance. And every single experiment uses chronological splitting: earliest eighty percent of a city's data trains, most recent twenty percent tests, never shuffled.
IMPORTANT POINT: Why chronological and not random? Because this is time-series data — random shuffling would let the model see the future relative to what it's being tested on, which would make every reported number meaningless.
TRANSITION: Before the results, let me quickly show the preprocessing pipeline that feeds all five problems.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All five problems share one preprocessing pipeline: clean the raw data, engineer features like the Clear-Sky Index and cyclical time encodings, one-hot encode Cloud Type, scale everything, split chronologically, then train. A few specific decisions worth mentioning: the Clear-Sky Index — GHI divided by the theoretical clear-sky maximum — is what defines Problem 1's label. Time features use sine and cosine pairs so that, say, 11pm and midnight end up close together numerically instead of far apart. And Problem 2's forecasting sub-task uses the past 12 readings, about six hours, to predict the next one.
IMPORTANT POINT: Every scaler is fit on TRAINING data only, then applied unchanged to test data — this is the core leakage-prevention rule that holds everywhere in the project.
TRANSITION: Let's get into the actual results, starting with classification.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First result: classification. Predict whether the sky is Clear, Partly Cloudy, or Overcast, from weather features. I excluded GHI and related irradiance columns, because the label itself is defined by GHI divided by clear-sky GHI — including them would just leak the answer. The best model, at 0.772 balanced accuracy, was plain logistic regression with class weighting — not a random forest or neural network. Looking at the confusion matrix, Clear is easy, but Partly Cloudy is the hardest class, because it sits on the boundary between the other two.
IMPORTANT POINT: Balanced accuracy averages each class's recall equally, so a model that always guessed 'Clear' — the majority class at 72% of the data — can't fake a good score.
TRANSITION: Now, the core task of the whole project — regression.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project's core task — predict actual Output Power in kilowatts. Gradient boosting on Davis's own data was the strongest result in the whole project: fifteen kilowatts of RMSE, an R-squared of point nine five three — it explains ninety-five percent of the variance using just weather. Applying that same Davis model directly to other cities without any adaptation failed badly — RMSE around 125 kilowatts. But that's mostly a scale problem, not a failure to learn weather patterns: rescaling the predictions by the target city's own average recovers R-squared of point five five to point eight four.
IMPORTANT POINT: RMSE penalizes big misses more heavily than MAE does, since it squares errors before averaging — that's why I report both. And nRMSE, normalized by the target's range, is what lets me compare error across cities with very different power scales.
TRANSITION: Next — did compressing the feature space help or hurt?
APPROX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Problem three asks: can I compress this feature space without hurting the tasks that depend on it? I tried PCA — the classical, linear method — and a small autoencoder — the deep, nonlinear method — at three sizes, fit with zero access to any label. The honest answer is no: raw, uncompressed features beat every reduced version, at every dimension, on both downstream tasks. That surprised me going in. I traced part of this to Cloud Type — a feature that turns out to be highly useful but doesn't compress well into a handful of continuous numbers.
IMPORTANT POINT: Explained variance tells you how much of the INPUT features' spread you kept — it says nothing about whether that spread includes the specific information needed to predict a label. That's exactly the gap this result exposes.
TRANSITION: Next — what if you barely have any labels at all?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For semi-supervised learning, I hid most of Davis's sky-condition labels — down to as few as ten percent — and tested whether pseudo-labeling, where the model labels the unlabeled data itself when confident enough, could beat just training on the small labeled set alone. The honest answer is no, especially interesting at the ten percent case — the gap is slightly negative at every label fraction. I checked why, using the hidden true labels purely as a diagnostic after training was already finished. The pseudo-labels were completely accurate — a hundred percent — but ninety-eight percent of the first batch were all the same, easy 'Clear' class.
IMPORTANT POINT: This means the method wasn't adding WRONG information — it was adding REDUNDANT information. That's a more precise, more useful finding than just 'SSL didn't work.'
TRANSITION: Now, the last paradigm, and the most interesting result in the project — what if a whole different city could help?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The last paradigm, and the most interesting result in the whole project. Can Davis, with six years of data, help Amherst, which only has three? I compared zero-shot — no Amherst training at all — few-shot — a fresh model trained only on a handful of Amherst samples — and transfer — the Davis-pretrained model fine-tuned on that same handful. Zero-shot failed badly, same scale problem as before. Transfer clearly beat training from scratch at every sample count, most at just ten samples — a twenty-one percent improvement.
IMPORTANT POINT — the real story: my very first version of this experiment made things WORSE, not better, because I used too small a learning rate during fine-tuning — actually what the assignment itself suggested. I dug into what the model was predicting, found its output was stuck near Davis's scale, and fixed it by matching the pretraining learning rate instead. One hyperparameter was the entire difference between failure and success.
TRANSITION: Let's zoom out and see all five problems side by side.
APPROX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table is the whole project in one place. Two paradigms clearly helped — supervised learning was strong throughout, and transfer learning gave a real boost when Amherst data was scarce. Two did NOT help, and I want to be upfront about that rather than bury it — dimension reduction hurt performance at every size I tried, and semi-supervised learning's gain was essentially zero.
IMPORTANT POINT: I deliberately did not combine these into one overall score — a balanced accuracy number and an RMSE in kilowatts simply aren't the same kind of quantity, so a fake combined ranking would be misleading, not helpful.
TRANSITION: Let's pull out the handful of findings that matter most.
APPROX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Four findings I'd want you to remember. First, same-city prediction was far easier than cross-city — mostly a scale problem, not a weather-learning problem. Second, a simple linear model beat every more complex model on classification — a genuinely useful, somewhat counterintuitive result. Third, semi-supervised learning didn't help even with just ten percent labels — the pseudo-labels were accurate but redundant. And fourth, transfer learning clearly helped, but only after I found and fixed a real negative-transfer bug during development.
IMPORTANT POINT: Notice these are genuinely mixed — two positive, two negative. That honesty is intentional; I didn't force every technique to look good.
TRANSITION: Let's talk about what this project doesn't cover.
APPROX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Quick, honest limitations: every reading falls in a ten-to-three daytime window, so nothing here describes nighttime behavior. Only five cities, and only one source-target pair tested for transfer learning. Plant-scale differences kept showing up as something I had to work around, not fully solve. And I kept hyperparameter searches small throughout, on purpose.
IMPORTANT POINT: The future-work items on the right are explicitly things I have NOT done — a larger search, more cities, longer horizons, real forecast inputs, better domain adaptation, uncertainty estimation. I want to be clear these are proposals, not completed work.
TRANSITION: Let's wrap up.
APPROX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So — machine learning predicts PV output very effectively within a city, but cross-city domain shift remains a major challenge — one that fine-tuning can address, but naive transfer cannot. My strongest result was Davis same-city regression, RMSE of fifteen point one seven kilowatts, R-squared of point nine five three. The most interesting finding was that single learning-rate story in Problem five. And the biggest limitation is that I kept every hyperparameter search deliberately small, so I can't say for certain there isn't more headroom out there.
IMPORTANT POINT: The real thread connecting all five problems — supervised learning and transfer learning clearly helped, dimension reduction and semi-supervised learning didn't, and understanding WHY in each case mattered as much as the numbers themselves.
TRANSITION: Thanks — happy to take questions.
APPROX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6"/>
        </a:solidFill>
      </p:bgPr>
    </p:bg>
    <p:spTree>
      <p:nvGrpSpPr>
        <p:cNvPr id="1" name=""/>
        <p:cNvGrpSpPr/>
        <p:nvPr/>
      </p:nvGrpSpPr>
      <p:grpSpPr>
        <a:xfrm>
          <a:off x="0" y="0"/>
          <a:ext cx="0" cy="0"/>
          <a:chOff x="0" y="0"/>
          <a:chExt cx="0" cy="0"/>
        </a:xfrm>
      </p:grpSpPr>
      <p:sp>
        <p:nvSpPr>
          <p:cNvPr id="2" name="Shape 0"/>
          <p:cNvSpPr/>
          <p:nvPr/>
        </p:nvSpPr>
        <p:spPr>
          <a:xfrm>
            <a:off x="9418320" y="-1188720"/>
            <a:ext cx="4206240" cy="4206240"/>
          </a:xfrm>
          <a:prstGeom prst="ellipse">
            <a:avLst/>
          </a:prstGeom>
          <a:solidFill>
            <a:srgbClr val="24466E"/>
          </a:solidFill>
          <a:ln/>
        </p:spPr>
      </p:sp>
      <p:sp>
        <p:nvSpPr>
          <p:cNvPr id="3" name="Shape 1"/>
          <p:cNvSpPr/>
          <p:nvPr/>
        </p:nvSpPr>
        <p:spPr>
          <a:xfrm>
            <a:off x="9966960" y="-640080"/>
            <a:ext cx="3108960" cy="3108960"/>
          </a:xfrm>
          <a:prstGeom prst="ellipse">
            <a:avLst/>
          </a:prstGeom>
          <a:solidFill>
            <a:srgbClr val="3A5A82"/>
          </a:solidFill>
          <a:ln/>
        </p:spPr>
      </p:sp>
      <p:sp>
        <p:nvSpPr>
          <p:cNvPr id="4" name="Shape 2"/>
          <p:cNvSpPr/>
          <p:nvPr/>
        </p:nvSpPr>
        <p:spPr>
          <a:xfrm>
            <a:off x="10515600" y="-91440"/>
            <a:ext cx="2011680" cy="2011680"/>
          </a:xfrm>
          <a:prstGeom prst="ellipse">
            <a:avLst/>
          </a:prstGeom>
          <a:solidFill>
            <a:srgbClr val="F5A623"/>
          </a:solidFill>
          <a:ln/>
        </p:spPr>
      </p:sp>
      <p:sp>
        <p:nvSpPr>
          <p:cNvPr id="5" name="Text 3"/>
          <p:cNvSpPr txBox="1"/>
          <p:nvPr/>
        </p:nvSpPr>
        <p:spPr>
          <a:xfrm>
            <a:off x="502920" y="2331720"/>
            <a:ext cx="10515600" cy="365760"/>
          </a:xfrm>
          <a:prstGeom prst="rect">
            <a:avLst/>
          </a:prstGeom>
          <a:noFill/>
          <a:ln/>
        </p:spPr>
        <p:txBody>
          <a:bodyPr wrap="square" lIns="0" tIns="0" rIns="0" bIns="0" rtlCol="0" anchor="ctr"/>
          <a:lstStyle/>
          <a:p>
            <a:pPr indent="0" marL="0">
              <a:buNone/>
            </a:pPr>
            <a:r>
              <a:rPr lang="en-US" sz="1500" b="1" spc="200" kern="0" dirty="0">
                <a:solidFill>
                  <a:srgbClr val="F5A623"/>
                </a:solidFill>
                <a:latin typeface="Calibri" pitchFamily="34" charset="0"/>
                <a:ea typeface="Calibri" pitchFamily="34" charset="-122"/>
                <a:cs typeface="Calibri" pitchFamily="34" charset="-120"/>
              </a:rPr>
              <a:t>PHOTOVOLTAIC POWER PREDICTION</a:t>
            </a:r>
            <a:endParaRPr lang="en-US" sz="1500" dirty="0"/>
          </a:p>
        </p:txBody>
      </p:sp>
      <p:sp>
        <p:nvSpPr>
          <p:cNvPr id="6" name="Text 4"/>
          <p:cNvSpPr txBox="1"/>
          <p:nvPr/>
        </p:nvSpPr>
        <p:spPr>
          <a:xfrm>
            <a:off x="502920" y="2697480"/>
            <a:ext cx="10515600" cy="164592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Photovoltaic (Solar) Power Prediction on</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Large-Scale Spatiotemporal Data</a:t>
            </a:r>
            <a:endParaRPr lang="en-US" sz="3800" dirty="0"/>
          </a:p>
        </p:txBody>
      </p:sp>
      <p:sp>
        <p:nvSpPr>
          <p:cNvPr id="7" name="Text 5"/>
          <p:cNvSpPr txBox="1"/>
          <p:nvPr/>
        </p:nvSpPr>
        <p:spPr>
          <a:xfrm>
            <a:off x="502920" y="4297680"/>
            <a:ext cx="10515600" cy="45720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Five Machine Learning Paradigms, One Dataset, One Honest Investigation</a:t>
            </a:r>
            <a:endParaRPr lang="en-US" sz="1700" dirty="0"/>
          </a:p>
        </p:txBody>
      </p:sp>
      <p:sp>
        <p:nvSpPr>
          <p:cNvPr id="8" name="Shape 6"/>
          <p:cNvSpPr/>
          <p:nvPr/>
        </p:nvSpPr>
        <p:spPr>
          <a:xfrm>
            <a:off x="502920" y="5029200"/>
            <a:ext cx="2926080" cy="0"/>
          </a:xfrm>
          <a:prstGeom prst="line">
            <a:avLst/>
          </a:prstGeom>
          <a:noFill/>
          <a:ln w="25400">
            <a:solidFill>
              <a:srgbClr val="F5A623"/>
            </a:solidFill>
            <a:prstDash val="solid"/>
          </a:ln>
        </p:spPr>
      </p:sp>
      <p:sp>
        <p:nvSpPr>
          <p:cNvPr id="9" name="Text 7"/>
          <p:cNvSpPr txBox="1"/>
          <p:nvPr/>
        </p:nvSpPr>
        <p:spPr>
          <a:xfrm>
            <a:off x="502920" y="5303520"/>
            <a:ext cx="7315200" cy="1280160"/>
          </a:xfrm>
          <a:prstGeom prst="rect">
            <a:avLst/>
          </a:prstGeom>
          <a:noFill/>
          <a:ln/>
        </p:spPr>
        <p:txBody>
          <a:bodyPr wrap="square" lIns="0" tIns="0" rIns="0" bIns="0" rtlCol="0" anchor="ctr"/>
          <a:lstStyle/>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[YOUR NAME]</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ECE571 Machine Learning</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Instructor: [PROFESSOR NAME]</a:t>
            </a:r>
            <a:endParaRPr lang="en-US" sz="1400" dirty="0"/>
          </a:p>
          <a:p>
            <a:pPr indent="0" marL="0">
              <a:lnSpc>
                <a:spcPts val="2200"/>
              </a:lnSpc>
              <a:buNone/>
            </a:pPr>
            <a:r>
              <a:rPr lang="en-US" sz="1400" dirty="0">
                <a:solidFill>
                  <a:srgbClr val="D9E2EC"/>
                </a:solidFill>
                <a:latin typeface="Calibri" pitchFamily="34" charset="0"/>
                <a:ea typeface="Calibri" pitchFamily="34" charset="-122"/>
                <a:cs typeface="Calibri" pitchFamily="34" charset="-120"/>
              </a:rPr>
              <a:t>[DATE]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MOTIVATION</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Why Solar Power Forecasting?</a:t>
            </a:r>
            <a:endParaRPr lang="en-US" sz="3000" dirty="0"/>
          </a:p>
        </p:txBody>
      </p:sp>
      <p:sp>
        <p:nvSpPr>
          <p:cNvPr id="4" name="Text 2"/>
          <p:cNvSpPr txBox="1"/>
          <p:nvPr/>
        </p:nvSpPr>
        <p:spPr>
          <a:xfrm>
            <a:off x="502920" y="1417320"/>
            <a:ext cx="5623560" cy="8229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Solar power output is not something you can turn up on demand — it is set entirely by the weather.</a:t>
            </a:r>
            <a:endParaRPr lang="en-US" sz="1600" dirty="0"/>
          </a:p>
        </p:txBody>
      </p:sp>
      <p:sp>
        <p:nvSpPr>
          <p:cNvPr id="5" name="Text 3"/>
          <p:cNvSpPr txBox="1"/>
          <p:nvPr/>
        </p:nvSpPr>
        <p:spPr>
          <a:xfrm>
            <a:off x="502920" y="2514600"/>
            <a:ext cx="5120640" cy="320040"/>
          </a:xfrm>
          <a:prstGeom prst="rect">
            <a:avLst/>
          </a:prstGeom>
          <a:noFill/>
          <a:ln/>
        </p:spPr>
        <p:txBody>
          <a:bodyPr wrap="square" lIns="0" tIns="0" rIns="0" bIns="0" rtlCol="0" anchor="ctr"/>
          <a:lstStyle/>
          <a:p>
            <a:pPr indent="0" marL="0">
              <a:buNone/>
            </a:pPr>
            <a:r>
              <a:rPr lang="en-US" sz="1400" b="1" dirty="0">
                <a:solidFill>
                  <a:srgbClr val="132A46"/>
                </a:solidFill>
                <a:latin typeface="Calibri" pitchFamily="34" charset="0"/>
                <a:ea typeface="Calibri" pitchFamily="34" charset="-122"/>
                <a:cs typeface="Calibri" pitchFamily="34" charset="-120"/>
              </a:rPr>
              <a:t>Output depends on:</a:t>
            </a:r>
            <a:endParaRPr lang="en-US" sz="1400" dirty="0"/>
          </a:p>
        </p:txBody>
      </p:sp>
      <p:sp>
        <p:nvSpPr>
          <p:cNvPr id="6" name="Text 4"/>
          <p:cNvSpPr txBox="1"/>
          <p:nvPr/>
        </p:nvSpPr>
        <p:spPr>
          <a:xfrm>
            <a:off x="502920" y="2880360"/>
            <a:ext cx="5120640" cy="219456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Irradiance (GHI / DNI / DHI)</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Cloud cover &amp; cloud type</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Temperature</a:t>
            </a:r>
            <a:endParaRPr lang="en-US" sz="1450" dirty="0"/>
          </a:p>
          <a:p>
            <a:pPr marL="228600" indent="-228600">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Time of day &amp; season</a:t>
            </a:r>
            <a:endParaRPr lang="en-US" sz="1450" dirty="0"/>
          </a:p>
        </p:txBody>
      </p:sp>
      <p:sp>
        <p:nvSpPr>
          <p:cNvPr id="7" name="Shape 5"/>
          <p:cNvSpPr/>
          <p:nvPr/>
        </p:nvSpPr>
        <p:spPr>
          <a:xfrm>
            <a:off x="6309360" y="1417320"/>
            <a:ext cx="5394960" cy="4206240"/>
          </a:xfrm>
          <a:prstGeom prst="roundRect">
            <a:avLst>
              <a:gd name="adj" fmla="val 1739"/>
            </a:avLst>
          </a:prstGeom>
          <a:solidFill>
            <a:srgbClr val="132A46"/>
          </a:solidFill>
          <a:ln/>
        </p:spPr>
      </p:sp>
      <p:sp>
        <p:nvSpPr>
          <p:cNvPr id="8" name="Text 6"/>
          <p:cNvSpPr txBox="1"/>
          <p:nvPr/>
        </p:nvSpPr>
        <p:spPr>
          <a:xfrm>
            <a:off x="6537960" y="1645920"/>
            <a:ext cx="4937760"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Why it matters operationally</a:t>
            </a:r>
            <a:endParaRPr lang="en-US" sz="1400" dirty="0"/>
          </a:p>
        </p:txBody>
      </p:sp>
      <p:sp>
        <p:nvSpPr>
          <p:cNvPr id="9" name="Text 7"/>
          <p:cNvSpPr txBox="1"/>
          <p:nvPr/>
        </p:nvSpPr>
        <p:spPr>
          <a:xfrm>
            <a:off x="6537960" y="2103120"/>
            <a:ext cx="4937760" cy="3383280"/>
          </a:xfrm>
          <a:prstGeom prst="rect">
            <a:avLst/>
          </a:prstGeom>
          <a:noFill/>
          <a:ln/>
        </p:spPr>
        <p:txBody>
          <a:bodyPr wrap="square" lIns="0" tIns="0" rIns="0" bIns="0" rtlCol="0" anchor="t"/>
          <a:lstStyle/>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Grid operators need to schedule other generation and reserves around expected solar output</a:t>
            </a:r>
            <a:endParaRPr lang="en-US" sz="1450" dirty="0"/>
          </a:p>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Battery storage systems need forecasts to decide when to charge and discharge</a:t>
            </a:r>
            <a:endParaRPr lang="en-US" sz="1450" dirty="0"/>
          </a:p>
          <a:p>
            <a:pPr marL="228600" indent="-228600">
              <a:spcAft>
                <a:spcPts val="1600"/>
              </a:spcAft>
              <a:buSzPct val="100000"/>
              <a:buChar char="•"/>
            </a:pPr>
            <a:r>
              <a:rPr lang="en-US" sz="1450" dirty="0">
                <a:solidFill>
                  <a:srgbClr val="E7ECF2"/>
                </a:solidFill>
                <a:latin typeface="Calibri" pitchFamily="34" charset="0"/>
                <a:ea typeface="Calibri" pitchFamily="34" charset="-122"/>
                <a:cs typeface="Calibri" pitchFamily="34" charset="-120"/>
              </a:rPr>
              <a:t>Utilities planning a new site with little or no history need some way to estimate output</a:t>
            </a:r>
            <a:endParaRPr lang="en-US" sz="1450" dirty="0"/>
          </a:p>
        </p:txBody>
      </p:sp>
      <p:sp>
        <p:nvSpPr>
          <p:cNvPr id="10" name="Text 8"/>
          <p:cNvSpPr txBox="1"/>
          <p:nvPr/>
        </p:nvSpPr>
        <p:spPr>
          <a:xfrm>
            <a:off x="502920" y="5806440"/>
            <a:ext cx="11155680" cy="640080"/>
          </a:xfrm>
          <a:prstGeom prst="rect">
            <a:avLst/>
          </a:prstGeom>
          <a:noFill/>
          <a:ln/>
        </p:spPr>
        <p:txBody>
          <a:bodyPr wrap="square" lIns="0" tIns="0" rIns="0" bIns="0" rtlCol="0" anchor="ctr"/>
          <a:lstStyle/>
          <a:p>
            <a:pPr indent="0" marL="0">
              <a:buNone/>
            </a:pPr>
            <a:r>
              <a:rPr lang="en-US" sz="1450" i="1" dirty="0">
                <a:solidFill>
                  <a:srgbClr val="5B6B7C"/>
                </a:solidFill>
                <a:latin typeface="Calibri" pitchFamily="34" charset="0"/>
                <a:ea typeface="Calibri" pitchFamily="34" charset="-122"/>
                <a:cs typeface="Calibri" pitchFamily="34" charset="-120"/>
              </a:rPr>
              <a:t>All three are, at their core, the same ML problem: relate weather and irradiance to electrical output — sometimes with plenty of historical data, sometimes with very little.</a:t>
            </a:r>
            <a:endParaRPr lang="en-US" sz="1450" dirty="0"/>
          </a:p>
        </p:txBody>
      </p:sp>
      <p:sp>
        <p:nvSpPr>
          <p:cNvPr id="11"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THE DATA</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The Dataset</a:t>
            </a:r>
            <a:endParaRPr lang="en-US" sz="3000" dirty="0"/>
          </a:p>
        </p:txBody>
      </p:sp>
      <p:sp>
        <p:nvSpPr>
          <p:cNvPr id="4" name="Shape 2"/>
          <p:cNvSpPr/>
          <p:nvPr/>
        </p:nvSpPr>
        <p:spPr>
          <a:xfrm>
            <a:off x="502920" y="1417320"/>
            <a:ext cx="2157984" cy="1371600"/>
          </a:xfrm>
          <a:prstGeom prst="roundRect">
            <a:avLst>
              <a:gd name="adj" fmla="val 4667"/>
            </a:avLst>
          </a:prstGeom>
          <a:solidFill>
            <a:srgbClr val="FFFFFF"/>
          </a:solidFill>
          <a:ln w="12700">
            <a:solidFill>
              <a:srgbClr val="E1E6EC"/>
            </a:solidFill>
            <a:prstDash val="solid"/>
          </a:ln>
        </p:spPr>
      </p:sp>
      <p:sp>
        <p:nvSpPr>
          <p:cNvPr id="5" name="Text 3"/>
          <p:cNvSpPr txBox="1"/>
          <p:nvPr/>
        </p:nvSpPr>
        <p:spPr>
          <a:xfrm>
            <a:off x="594360" y="152704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Davis, CA</a:t>
            </a:r>
            <a:endParaRPr lang="en-US" sz="1300" dirty="0"/>
          </a:p>
        </p:txBody>
      </p:sp>
      <p:sp>
        <p:nvSpPr>
          <p:cNvPr id="6" name="Text 4"/>
          <p:cNvSpPr txBox="1"/>
          <p:nvPr/>
        </p:nvSpPr>
        <p:spPr>
          <a:xfrm>
            <a:off x="594360" y="1920240"/>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7" name="Text 5"/>
          <p:cNvSpPr txBox="1"/>
          <p:nvPr/>
        </p:nvSpPr>
        <p:spPr>
          <a:xfrm>
            <a:off x="594360" y="2286000"/>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164.0 kW avg</a:t>
            </a:r>
            <a:endParaRPr lang="en-US" sz="1400" dirty="0"/>
          </a:p>
        </p:txBody>
      </p:sp>
      <p:sp>
        <p:nvSpPr>
          <p:cNvPr id="8" name="Shape 6"/>
          <p:cNvSpPr/>
          <p:nvPr/>
        </p:nvSpPr>
        <p:spPr>
          <a:xfrm>
            <a:off x="2715768" y="1417320"/>
            <a:ext cx="2157984" cy="1371600"/>
          </a:xfrm>
          <a:prstGeom prst="roundRect">
            <a:avLst>
              <a:gd name="adj" fmla="val 4667"/>
            </a:avLst>
          </a:prstGeom>
          <a:solidFill>
            <a:srgbClr val="FFFFFF"/>
          </a:solidFill>
          <a:ln w="12700">
            <a:solidFill>
              <a:srgbClr val="E1E6EC"/>
            </a:solidFill>
            <a:prstDash val="solid"/>
          </a:ln>
        </p:spPr>
      </p:sp>
      <p:sp>
        <p:nvSpPr>
          <p:cNvPr id="9" name="Text 7"/>
          <p:cNvSpPr txBox="1"/>
          <p:nvPr/>
        </p:nvSpPr>
        <p:spPr>
          <a:xfrm>
            <a:off x="2807208" y="152704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Amherst, MA</a:t>
            </a:r>
            <a:endParaRPr lang="en-US" sz="1300" dirty="0"/>
          </a:p>
        </p:txBody>
      </p:sp>
      <p:sp>
        <p:nvSpPr>
          <p:cNvPr id="10" name="Text 8"/>
          <p:cNvSpPr txBox="1"/>
          <p:nvPr/>
        </p:nvSpPr>
        <p:spPr>
          <a:xfrm>
            <a:off x="2807208" y="1920240"/>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2018–2020</a:t>
            </a:r>
            <a:endParaRPr lang="en-US" sz="1150" dirty="0"/>
          </a:p>
        </p:txBody>
      </p:sp>
      <p:sp>
        <p:nvSpPr>
          <p:cNvPr id="11" name="Text 9"/>
          <p:cNvSpPr txBox="1"/>
          <p:nvPr/>
        </p:nvSpPr>
        <p:spPr>
          <a:xfrm>
            <a:off x="2807208" y="2286000"/>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60.9 kW avg</a:t>
            </a:r>
            <a:endParaRPr lang="en-US" sz="1400" dirty="0"/>
          </a:p>
        </p:txBody>
      </p:sp>
      <p:sp>
        <p:nvSpPr>
          <p:cNvPr id="12" name="Shape 10"/>
          <p:cNvSpPr/>
          <p:nvPr/>
        </p:nvSpPr>
        <p:spPr>
          <a:xfrm>
            <a:off x="4928616" y="1417320"/>
            <a:ext cx="2157984" cy="1371600"/>
          </a:xfrm>
          <a:prstGeom prst="roundRect">
            <a:avLst>
              <a:gd name="adj" fmla="val 4667"/>
            </a:avLst>
          </a:prstGeom>
          <a:solidFill>
            <a:srgbClr val="FFFFFF"/>
          </a:solidFill>
          <a:ln w="12700">
            <a:solidFill>
              <a:srgbClr val="E1E6EC"/>
            </a:solidFill>
            <a:prstDash val="solid"/>
          </a:ln>
        </p:spPr>
      </p:sp>
      <p:sp>
        <p:nvSpPr>
          <p:cNvPr id="13" name="Text 11"/>
          <p:cNvSpPr txBox="1"/>
          <p:nvPr/>
        </p:nvSpPr>
        <p:spPr>
          <a:xfrm>
            <a:off x="5020056" y="152704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Huron, SD</a:t>
            </a:r>
            <a:endParaRPr lang="en-US" sz="1300" dirty="0"/>
          </a:p>
        </p:txBody>
      </p:sp>
      <p:sp>
        <p:nvSpPr>
          <p:cNvPr id="14" name="Text 12"/>
          <p:cNvSpPr txBox="1"/>
          <p:nvPr/>
        </p:nvSpPr>
        <p:spPr>
          <a:xfrm>
            <a:off x="5020056" y="1920240"/>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15" name="Text 13"/>
          <p:cNvSpPr txBox="1"/>
          <p:nvPr/>
        </p:nvSpPr>
        <p:spPr>
          <a:xfrm>
            <a:off x="5020056" y="2286000"/>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50.1 kW avg</a:t>
            </a:r>
            <a:endParaRPr lang="en-US" sz="1400" dirty="0"/>
          </a:p>
        </p:txBody>
      </p:sp>
      <p:sp>
        <p:nvSpPr>
          <p:cNvPr id="16" name="Shape 14"/>
          <p:cNvSpPr/>
          <p:nvPr/>
        </p:nvSpPr>
        <p:spPr>
          <a:xfrm>
            <a:off x="7141464" y="1417320"/>
            <a:ext cx="2157984" cy="1371600"/>
          </a:xfrm>
          <a:prstGeom prst="roundRect">
            <a:avLst>
              <a:gd name="adj" fmla="val 4667"/>
            </a:avLst>
          </a:prstGeom>
          <a:solidFill>
            <a:srgbClr val="FFFFFF"/>
          </a:solidFill>
          <a:ln w="12700">
            <a:solidFill>
              <a:srgbClr val="E1E6EC"/>
            </a:solidFill>
            <a:prstDash val="solid"/>
          </a:ln>
        </p:spPr>
      </p:sp>
      <p:sp>
        <p:nvSpPr>
          <p:cNvPr id="17" name="Text 15"/>
          <p:cNvSpPr txBox="1"/>
          <p:nvPr/>
        </p:nvSpPr>
        <p:spPr>
          <a:xfrm>
            <a:off x="7232904" y="152704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Santa Barbara, CA</a:t>
            </a:r>
            <a:endParaRPr lang="en-US" sz="1300" dirty="0"/>
          </a:p>
        </p:txBody>
      </p:sp>
      <p:sp>
        <p:nvSpPr>
          <p:cNvPr id="18" name="Text 16"/>
          <p:cNvSpPr txBox="1"/>
          <p:nvPr/>
        </p:nvSpPr>
        <p:spPr>
          <a:xfrm>
            <a:off x="7232904" y="1920240"/>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19" name="Text 17"/>
          <p:cNvSpPr txBox="1"/>
          <p:nvPr/>
        </p:nvSpPr>
        <p:spPr>
          <a:xfrm>
            <a:off x="7232904" y="2286000"/>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49.1 kW avg</a:t>
            </a:r>
            <a:endParaRPr lang="en-US" sz="1400" dirty="0"/>
          </a:p>
        </p:txBody>
      </p:sp>
      <p:sp>
        <p:nvSpPr>
          <p:cNvPr id="20" name="Shape 18"/>
          <p:cNvSpPr/>
          <p:nvPr/>
        </p:nvSpPr>
        <p:spPr>
          <a:xfrm>
            <a:off x="9354312" y="1417320"/>
            <a:ext cx="2157984" cy="1371600"/>
          </a:xfrm>
          <a:prstGeom prst="roundRect">
            <a:avLst>
              <a:gd name="adj" fmla="val 4667"/>
            </a:avLst>
          </a:prstGeom>
          <a:solidFill>
            <a:srgbClr val="FFFFFF"/>
          </a:solidFill>
          <a:ln w="12700">
            <a:solidFill>
              <a:srgbClr val="E1E6EC"/>
            </a:solidFill>
            <a:prstDash val="solid"/>
          </a:ln>
        </p:spPr>
      </p:sp>
      <p:sp>
        <p:nvSpPr>
          <p:cNvPr id="21" name="Text 19"/>
          <p:cNvSpPr txBox="1"/>
          <p:nvPr/>
        </p:nvSpPr>
        <p:spPr>
          <a:xfrm>
            <a:off x="9445752" y="1527048"/>
            <a:ext cx="1975104" cy="365760"/>
          </a:xfrm>
          <a:prstGeom prst="rect">
            <a:avLst/>
          </a:prstGeom>
          <a:noFill/>
          <a:ln/>
        </p:spPr>
        <p:txBody>
          <a:bodyPr wrap="square" lIns="0" tIns="0" rIns="0" bIns="0" rtlCol="0" anchor="ctr"/>
          <a:lstStyle/>
          <a:p>
            <a:pPr indent="0" marL="0">
              <a:buNone/>
            </a:pPr>
            <a:r>
              <a:rPr lang="en-US" sz="1300" b="1" dirty="0">
                <a:solidFill>
                  <a:srgbClr val="132A46"/>
                </a:solidFill>
                <a:latin typeface="Calibri" pitchFamily="34" charset="0"/>
                <a:ea typeface="Calibri" pitchFamily="34" charset="-122"/>
                <a:cs typeface="Calibri" pitchFamily="34" charset="-120"/>
              </a:rPr>
              <a:t>La Jolla, CA</a:t>
            </a:r>
            <a:endParaRPr lang="en-US" sz="1300" dirty="0"/>
          </a:p>
        </p:txBody>
      </p:sp>
      <p:sp>
        <p:nvSpPr>
          <p:cNvPr id="22" name="Text 20"/>
          <p:cNvSpPr txBox="1"/>
          <p:nvPr/>
        </p:nvSpPr>
        <p:spPr>
          <a:xfrm>
            <a:off x="9445752" y="1920240"/>
            <a:ext cx="1975104" cy="274320"/>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2011–2016</a:t>
            </a:r>
            <a:endParaRPr lang="en-US" sz="1150" dirty="0"/>
          </a:p>
        </p:txBody>
      </p:sp>
      <p:sp>
        <p:nvSpPr>
          <p:cNvPr id="23" name="Text 21"/>
          <p:cNvSpPr txBox="1"/>
          <p:nvPr/>
        </p:nvSpPr>
        <p:spPr>
          <a:xfrm>
            <a:off x="9445752" y="2286000"/>
            <a:ext cx="1975104" cy="36576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47.3 kW avg</a:t>
            </a:r>
            <a:endParaRPr lang="en-US" sz="1400" dirty="0"/>
          </a:p>
        </p:txBody>
      </p:sp>
      <p:sp>
        <p:nvSpPr>
          <p:cNvPr id="24" name="Shape 22"/>
          <p:cNvSpPr/>
          <p:nvPr/>
        </p:nvSpPr>
        <p:spPr>
          <a:xfrm>
            <a:off x="502920" y="3063240"/>
            <a:ext cx="2651760" cy="960120"/>
          </a:xfrm>
          <a:prstGeom prst="roundRect">
            <a:avLst>
              <a:gd name="adj" fmla="val 761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5" name="Text 23"/>
          <p:cNvSpPr txBox="1"/>
          <p:nvPr/>
        </p:nvSpPr>
        <p:spPr>
          <a:xfrm>
            <a:off x="612648" y="3172968"/>
            <a:ext cx="2432304" cy="528066"/>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22</a:t>
            </a:r>
            <a:endParaRPr lang="en-US" sz="2600" dirty="0"/>
          </a:p>
        </p:txBody>
      </p:sp>
      <p:sp>
        <p:nvSpPr>
          <p:cNvPr id="26" name="Text 24"/>
          <p:cNvSpPr txBox="1"/>
          <p:nvPr/>
        </p:nvSpPr>
        <p:spPr>
          <a:xfrm>
            <a:off x="612648" y="3658514"/>
            <a:ext cx="2432304" cy="326441"/>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columns: irradiance, weather, Cloud Type, Output Power</a:t>
            </a:r>
            <a:endParaRPr lang="en-US" sz="1150" dirty="0"/>
          </a:p>
        </p:txBody>
      </p:sp>
      <p:sp>
        <p:nvSpPr>
          <p:cNvPr id="27" name="Shape 25"/>
          <p:cNvSpPr/>
          <p:nvPr/>
        </p:nvSpPr>
        <p:spPr>
          <a:xfrm>
            <a:off x="3291840" y="3063240"/>
            <a:ext cx="2651760" cy="960120"/>
          </a:xfrm>
          <a:prstGeom prst="roundRect">
            <a:avLst>
              <a:gd name="adj" fmla="val 761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8" name="Text 26"/>
          <p:cNvSpPr txBox="1"/>
          <p:nvPr/>
        </p:nvSpPr>
        <p:spPr>
          <a:xfrm>
            <a:off x="3401568" y="3172968"/>
            <a:ext cx="2432304" cy="528066"/>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30 min</a:t>
            </a:r>
            <a:endParaRPr lang="en-US" sz="2600" dirty="0"/>
          </a:p>
        </p:txBody>
      </p:sp>
      <p:sp>
        <p:nvSpPr>
          <p:cNvPr id="29" name="Text 27"/>
          <p:cNvSpPr txBox="1"/>
          <p:nvPr/>
        </p:nvSpPr>
        <p:spPr>
          <a:xfrm>
            <a:off x="3401568" y="3658514"/>
            <a:ext cx="2432304" cy="326441"/>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measurement interval, 10:00–15:00 daily window</a:t>
            </a:r>
            <a:endParaRPr lang="en-US" sz="1150" dirty="0"/>
          </a:p>
        </p:txBody>
      </p:sp>
      <p:sp>
        <p:nvSpPr>
          <p:cNvPr id="30" name="Shape 28"/>
          <p:cNvSpPr/>
          <p:nvPr/>
        </p:nvSpPr>
        <p:spPr>
          <a:xfrm>
            <a:off x="6080760" y="3063240"/>
            <a:ext cx="2651760" cy="960120"/>
          </a:xfrm>
          <a:prstGeom prst="roundRect">
            <a:avLst>
              <a:gd name="adj" fmla="val 761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31" name="Text 29"/>
          <p:cNvSpPr txBox="1"/>
          <p:nvPr/>
        </p:nvSpPr>
        <p:spPr>
          <a:xfrm>
            <a:off x="6190488" y="3172968"/>
            <a:ext cx="2432304" cy="528066"/>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~24,000</a:t>
            </a:r>
            <a:endParaRPr lang="en-US" sz="2600" dirty="0"/>
          </a:p>
        </p:txBody>
      </p:sp>
      <p:sp>
        <p:nvSpPr>
          <p:cNvPr id="32" name="Text 30"/>
          <p:cNvSpPr txBox="1"/>
          <p:nvPr/>
        </p:nvSpPr>
        <p:spPr>
          <a:xfrm>
            <a:off x="6190488" y="3658514"/>
            <a:ext cx="2432304" cy="326441"/>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rows for each 6-year city (Amherst: 12,056)</a:t>
            </a:r>
            <a:endParaRPr lang="en-US" sz="1150" dirty="0"/>
          </a:p>
        </p:txBody>
      </p:sp>
      <p:sp>
        <p:nvSpPr>
          <p:cNvPr id="33" name="Shape 31"/>
          <p:cNvSpPr/>
          <p:nvPr/>
        </p:nvSpPr>
        <p:spPr>
          <a:xfrm>
            <a:off x="8869680" y="3063240"/>
            <a:ext cx="2651760" cy="960120"/>
          </a:xfrm>
          <a:prstGeom prst="roundRect">
            <a:avLst>
              <a:gd name="adj" fmla="val 761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34" name="Text 32"/>
          <p:cNvSpPr txBox="1"/>
          <p:nvPr/>
        </p:nvSpPr>
        <p:spPr>
          <a:xfrm>
            <a:off x="8979408" y="3172968"/>
            <a:ext cx="2432304" cy="528066"/>
          </a:xfrm>
          <a:prstGeom prst="rect">
            <a:avLst/>
          </a:prstGeom>
          <a:noFill/>
          <a:ln/>
        </p:spPr>
        <p:txBody>
          <a:bodyPr wrap="square" lIns="0" tIns="0" rIns="0" bIns="0" rtlCol="0" anchor="b"/>
          <a:lstStyle/>
          <a:p>
            <a:pPr algn="ctr" indent="0" marL="0">
              <a:buNone/>
            </a:pPr>
            <a:r>
              <a:rPr lang="en-US" sz="2600" b="1" dirty="0">
                <a:solidFill>
                  <a:srgbClr val="C0524A"/>
                </a:solidFill>
                <a:latin typeface="Cambria" pitchFamily="34" charset="0"/>
                <a:ea typeface="Cambria" pitchFamily="34" charset="-122"/>
                <a:cs typeface="Cambria" pitchFamily="34" charset="-120"/>
              </a:rPr>
              <a:t>3.5×</a:t>
            </a:r>
            <a:endParaRPr lang="en-US" sz="2600" dirty="0"/>
          </a:p>
        </p:txBody>
      </p:sp>
      <p:sp>
        <p:nvSpPr>
          <p:cNvPr id="35" name="Text 33"/>
          <p:cNvSpPr txBox="1"/>
          <p:nvPr/>
        </p:nvSpPr>
        <p:spPr>
          <a:xfrm>
            <a:off x="8979408" y="3658514"/>
            <a:ext cx="2432304" cy="326441"/>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Davis's output scale vs. the smallest city</a:t>
            </a:r>
            <a:endParaRPr lang="en-US" sz="1150" dirty="0"/>
          </a:p>
        </p:txBody>
      </p:sp>
      <p:sp>
        <p:nvSpPr>
          <p:cNvPr id="36" name="Shape 34"/>
          <p:cNvSpPr/>
          <p:nvPr/>
        </p:nvSpPr>
        <p:spPr>
          <a:xfrm>
            <a:off x="502920" y="4343400"/>
            <a:ext cx="11183112" cy="1874520"/>
          </a:xfrm>
          <a:prstGeom prst="roundRect">
            <a:avLst>
              <a:gd name="adj" fmla="val 3902"/>
            </a:avLst>
          </a:prstGeom>
          <a:solidFill>
            <a:srgbClr val="132A46"/>
          </a:solidFill>
          <a:ln/>
        </p:spPr>
      </p:sp>
      <p:sp>
        <p:nvSpPr>
          <p:cNvPr id="37" name="Text 35"/>
          <p:cNvSpPr txBox="1"/>
          <p:nvPr/>
        </p:nvSpPr>
        <p:spPr>
          <a:xfrm>
            <a:off x="731520" y="4526280"/>
            <a:ext cx="10698480" cy="36576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“The dataset is spatiotemporal” — why that matters:</a:t>
            </a:r>
            <a:endParaRPr lang="en-US" sz="1450" dirty="0"/>
          </a:p>
        </p:txBody>
      </p:sp>
      <p:sp>
        <p:nvSpPr>
          <p:cNvPr id="38" name="Text 36"/>
          <p:cNvSpPr txBox="1"/>
          <p:nvPr/>
        </p:nvSpPr>
        <p:spPr>
          <a:xfrm>
            <a:off x="731520" y="4919472"/>
            <a:ext cx="10698480" cy="118872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Data varies across both SPACE (5 different cities, different climates and plant sizes) and TIME (30-minute readings across multiple years) — that's exactly what makes cross-city comparison (Problems 2 &amp; 5) and time-based forecasting (Problem 2's sequence model) possible in the first place.</a:t>
            </a:r>
            <a:endParaRPr lang="en-US" sz="1450" dirty="0"/>
          </a:p>
        </p:txBody>
      </p:sp>
      <p:sp>
        <p:nvSpPr>
          <p:cNvPr id="39" name="Text 3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Experimental Design — Five ML Paradigms</a:t>
            </a:r>
            <a:endParaRPr lang="en-US" sz="3000" dirty="0"/>
          </a:p>
        </p:txBody>
      </p:sp>
      <p:sp>
        <p:nvSpPr>
          <p:cNvPr id="4" name="Shape 2"/>
          <p:cNvSpPr/>
          <p:nvPr/>
        </p:nvSpPr>
        <p:spPr>
          <a:xfrm>
            <a:off x="502920" y="1463040"/>
            <a:ext cx="2157984" cy="1737360"/>
          </a:xfrm>
          <a:prstGeom prst="roundRect">
            <a:avLst>
              <a:gd name="adj" fmla="val 3684"/>
            </a:avLst>
          </a:prstGeom>
          <a:solidFill>
            <a:srgbClr val="FFFFFF"/>
          </a:solidFill>
          <a:ln w="12700">
            <a:solidFill>
              <a:srgbClr val="E1E6EC"/>
            </a:solidFill>
            <a:prstDash val="solid"/>
          </a:ln>
        </p:spPr>
      </p:sp>
      <p:sp>
        <p:nvSpPr>
          <p:cNvPr id="5" name="Shape 3"/>
          <p:cNvSpPr/>
          <p:nvPr/>
        </p:nvSpPr>
        <p:spPr>
          <a:xfrm>
            <a:off x="640080" y="1600200"/>
            <a:ext cx="457200" cy="457200"/>
          </a:xfrm>
          <a:prstGeom prst="ellipse">
            <a:avLst/>
          </a:prstGeom>
          <a:solidFill>
            <a:srgbClr val="F5A623"/>
          </a:solidFill>
          <a:ln/>
        </p:spPr>
      </p:sp>
      <p:sp>
        <p:nvSpPr>
          <p:cNvPr id="6" name="Text 4"/>
          <p:cNvSpPr txBox="1"/>
          <p:nvPr/>
        </p:nvSpPr>
        <p:spPr>
          <a:xfrm>
            <a:off x="640080" y="160020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640080" y="217627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Classification</a:t>
            </a:r>
            <a:endParaRPr lang="en-US" sz="1350" dirty="0"/>
          </a:p>
        </p:txBody>
      </p:sp>
      <p:sp>
        <p:nvSpPr>
          <p:cNvPr id="8" name="Text 6"/>
          <p:cNvSpPr txBox="1"/>
          <p:nvPr/>
        </p:nvSpPr>
        <p:spPr>
          <a:xfrm>
            <a:off x="640080" y="263347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Sky-condition &amp; generation-regime</a:t>
            </a:r>
            <a:endParaRPr lang="en-US" sz="1100" dirty="0"/>
          </a:p>
        </p:txBody>
      </p:sp>
      <p:sp>
        <p:nvSpPr>
          <p:cNvPr id="9" name="Shape 7"/>
          <p:cNvSpPr/>
          <p:nvPr/>
        </p:nvSpPr>
        <p:spPr>
          <a:xfrm>
            <a:off x="2715768" y="1463040"/>
            <a:ext cx="2157984" cy="1737360"/>
          </a:xfrm>
          <a:prstGeom prst="roundRect">
            <a:avLst>
              <a:gd name="adj" fmla="val 3684"/>
            </a:avLst>
          </a:prstGeom>
          <a:solidFill>
            <a:srgbClr val="FFFFFF"/>
          </a:solidFill>
          <a:ln w="12700">
            <a:solidFill>
              <a:srgbClr val="E1E6EC"/>
            </a:solidFill>
            <a:prstDash val="solid"/>
          </a:ln>
        </p:spPr>
      </p:sp>
      <p:sp>
        <p:nvSpPr>
          <p:cNvPr id="10" name="Shape 8"/>
          <p:cNvSpPr/>
          <p:nvPr/>
        </p:nvSpPr>
        <p:spPr>
          <a:xfrm>
            <a:off x="2852928" y="1600200"/>
            <a:ext cx="457200" cy="457200"/>
          </a:xfrm>
          <a:prstGeom prst="ellipse">
            <a:avLst/>
          </a:prstGeom>
          <a:solidFill>
            <a:srgbClr val="F5A623"/>
          </a:solidFill>
          <a:ln/>
        </p:spPr>
      </p:sp>
      <p:sp>
        <p:nvSpPr>
          <p:cNvPr id="11" name="Text 9"/>
          <p:cNvSpPr txBox="1"/>
          <p:nvPr/>
        </p:nvSpPr>
        <p:spPr>
          <a:xfrm>
            <a:off x="2852928" y="160020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2852928" y="217627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Regression</a:t>
            </a:r>
            <a:endParaRPr lang="en-US" sz="1350" dirty="0"/>
          </a:p>
        </p:txBody>
      </p:sp>
      <p:sp>
        <p:nvSpPr>
          <p:cNvPr id="13" name="Text 11"/>
          <p:cNvSpPr txBox="1"/>
          <p:nvPr/>
        </p:nvSpPr>
        <p:spPr>
          <a:xfrm>
            <a:off x="2852928" y="263347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Output Power — the core task</a:t>
            </a:r>
            <a:endParaRPr lang="en-US" sz="1100" dirty="0"/>
          </a:p>
        </p:txBody>
      </p:sp>
      <p:sp>
        <p:nvSpPr>
          <p:cNvPr id="14" name="Shape 12"/>
          <p:cNvSpPr/>
          <p:nvPr/>
        </p:nvSpPr>
        <p:spPr>
          <a:xfrm>
            <a:off x="4928616" y="1463040"/>
            <a:ext cx="2157984" cy="1737360"/>
          </a:xfrm>
          <a:prstGeom prst="roundRect">
            <a:avLst>
              <a:gd name="adj" fmla="val 3684"/>
            </a:avLst>
          </a:prstGeom>
          <a:solidFill>
            <a:srgbClr val="FFFFFF"/>
          </a:solidFill>
          <a:ln w="12700">
            <a:solidFill>
              <a:srgbClr val="E1E6EC"/>
            </a:solidFill>
            <a:prstDash val="solid"/>
          </a:ln>
        </p:spPr>
      </p:sp>
      <p:sp>
        <p:nvSpPr>
          <p:cNvPr id="15" name="Shape 13"/>
          <p:cNvSpPr/>
          <p:nvPr/>
        </p:nvSpPr>
        <p:spPr>
          <a:xfrm>
            <a:off x="5065776" y="1600200"/>
            <a:ext cx="457200" cy="457200"/>
          </a:xfrm>
          <a:prstGeom prst="ellipse">
            <a:avLst/>
          </a:prstGeom>
          <a:solidFill>
            <a:srgbClr val="F5A623"/>
          </a:solidFill>
          <a:ln/>
        </p:spPr>
      </p:sp>
      <p:sp>
        <p:nvSpPr>
          <p:cNvPr id="16" name="Text 14"/>
          <p:cNvSpPr txBox="1"/>
          <p:nvPr/>
        </p:nvSpPr>
        <p:spPr>
          <a:xfrm>
            <a:off x="5065776" y="160020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5065776" y="217627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Dimension Reduction</a:t>
            </a:r>
            <a:endParaRPr lang="en-US" sz="1350" dirty="0"/>
          </a:p>
        </p:txBody>
      </p:sp>
      <p:sp>
        <p:nvSpPr>
          <p:cNvPr id="18" name="Text 16"/>
          <p:cNvSpPr txBox="1"/>
          <p:nvPr/>
        </p:nvSpPr>
        <p:spPr>
          <a:xfrm>
            <a:off x="5065776" y="263347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PCA &amp; autoencoder compression</a:t>
            </a:r>
            <a:endParaRPr lang="en-US" sz="1100" dirty="0"/>
          </a:p>
        </p:txBody>
      </p:sp>
      <p:sp>
        <p:nvSpPr>
          <p:cNvPr id="19" name="Shape 17"/>
          <p:cNvSpPr/>
          <p:nvPr/>
        </p:nvSpPr>
        <p:spPr>
          <a:xfrm>
            <a:off x="7141464" y="1463040"/>
            <a:ext cx="2157984" cy="1737360"/>
          </a:xfrm>
          <a:prstGeom prst="roundRect">
            <a:avLst>
              <a:gd name="adj" fmla="val 3684"/>
            </a:avLst>
          </a:prstGeom>
          <a:solidFill>
            <a:srgbClr val="FFFFFF"/>
          </a:solidFill>
          <a:ln w="12700">
            <a:solidFill>
              <a:srgbClr val="E1E6EC"/>
            </a:solidFill>
            <a:prstDash val="solid"/>
          </a:ln>
        </p:spPr>
      </p:sp>
      <p:sp>
        <p:nvSpPr>
          <p:cNvPr id="20" name="Shape 18"/>
          <p:cNvSpPr/>
          <p:nvPr/>
        </p:nvSpPr>
        <p:spPr>
          <a:xfrm>
            <a:off x="7278624" y="1600200"/>
            <a:ext cx="457200" cy="457200"/>
          </a:xfrm>
          <a:prstGeom prst="ellipse">
            <a:avLst/>
          </a:prstGeom>
          <a:solidFill>
            <a:srgbClr val="F5A623"/>
          </a:solidFill>
          <a:ln/>
        </p:spPr>
      </p:sp>
      <p:sp>
        <p:nvSpPr>
          <p:cNvPr id="21" name="Text 19"/>
          <p:cNvSpPr txBox="1"/>
          <p:nvPr/>
        </p:nvSpPr>
        <p:spPr>
          <a:xfrm>
            <a:off x="7278624" y="160020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278624" y="217627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Semi-Supervised</a:t>
            </a:r>
            <a:endParaRPr lang="en-US" sz="1350" dirty="0"/>
          </a:p>
        </p:txBody>
      </p:sp>
      <p:sp>
        <p:nvSpPr>
          <p:cNvPr id="23" name="Text 21"/>
          <p:cNvSpPr txBox="1"/>
          <p:nvPr/>
        </p:nvSpPr>
        <p:spPr>
          <a:xfrm>
            <a:off x="7278624" y="263347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Learning from partly-labeled data</a:t>
            </a:r>
            <a:endParaRPr lang="en-US" sz="1100" dirty="0"/>
          </a:p>
        </p:txBody>
      </p:sp>
      <p:sp>
        <p:nvSpPr>
          <p:cNvPr id="24" name="Shape 22"/>
          <p:cNvSpPr/>
          <p:nvPr/>
        </p:nvSpPr>
        <p:spPr>
          <a:xfrm>
            <a:off x="9354312" y="1463040"/>
            <a:ext cx="2157984" cy="1737360"/>
          </a:xfrm>
          <a:prstGeom prst="roundRect">
            <a:avLst>
              <a:gd name="adj" fmla="val 3684"/>
            </a:avLst>
          </a:prstGeom>
          <a:solidFill>
            <a:srgbClr val="FFFFFF"/>
          </a:solidFill>
          <a:ln w="12700">
            <a:solidFill>
              <a:srgbClr val="E1E6EC"/>
            </a:solidFill>
            <a:prstDash val="solid"/>
          </a:ln>
        </p:spPr>
      </p:sp>
      <p:sp>
        <p:nvSpPr>
          <p:cNvPr id="25" name="Shape 23"/>
          <p:cNvSpPr/>
          <p:nvPr/>
        </p:nvSpPr>
        <p:spPr>
          <a:xfrm>
            <a:off x="9491472" y="1600200"/>
            <a:ext cx="457200" cy="457200"/>
          </a:xfrm>
          <a:prstGeom prst="ellipse">
            <a:avLst/>
          </a:prstGeom>
          <a:solidFill>
            <a:srgbClr val="F5A623"/>
          </a:solidFill>
          <a:ln/>
        </p:spPr>
      </p:sp>
      <p:sp>
        <p:nvSpPr>
          <p:cNvPr id="26" name="Text 24"/>
          <p:cNvSpPr txBox="1"/>
          <p:nvPr/>
        </p:nvSpPr>
        <p:spPr>
          <a:xfrm>
            <a:off x="9491472" y="1600200"/>
            <a:ext cx="457200" cy="457200"/>
          </a:xfrm>
          <a:prstGeom prst="rect">
            <a:avLst/>
          </a:prstGeom>
          <a:noFill/>
          <a:ln/>
        </p:spPr>
        <p:txBody>
          <a:bodyPr wrap="square" lIns="0" tIns="0" rIns="0" bIns="0" rtlCol="0" anchor="ctr"/>
          <a:lstStyle/>
          <a:p>
            <a:pPr algn="ctr" indent="0" marL="0">
              <a:buNone/>
            </a:pPr>
            <a:r>
              <a:rPr lang="en-US" sz="1800" b="1" dirty="0">
                <a:solidFill>
                  <a:srgbClr val="132A46"/>
                </a:solidFill>
                <a:latin typeface="Cambria" pitchFamily="34" charset="0"/>
                <a:ea typeface="Cambria" pitchFamily="34" charset="-122"/>
                <a:cs typeface="Cambria" pitchFamily="34" charset="-120"/>
              </a:rPr>
              <a:t>5</a:t>
            </a:r>
            <a:endParaRPr lang="en-US" sz="1800" dirty="0"/>
          </a:p>
        </p:txBody>
      </p:sp>
      <p:sp>
        <p:nvSpPr>
          <p:cNvPr id="27" name="Text 25"/>
          <p:cNvSpPr txBox="1"/>
          <p:nvPr/>
        </p:nvSpPr>
        <p:spPr>
          <a:xfrm>
            <a:off x="9491472" y="2176272"/>
            <a:ext cx="1883664" cy="50292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Transfer Learning</a:t>
            </a:r>
            <a:endParaRPr lang="en-US" sz="1350" dirty="0"/>
          </a:p>
        </p:txBody>
      </p:sp>
      <p:sp>
        <p:nvSpPr>
          <p:cNvPr id="28" name="Text 26"/>
          <p:cNvSpPr txBox="1"/>
          <p:nvPr/>
        </p:nvSpPr>
        <p:spPr>
          <a:xfrm>
            <a:off x="9491472" y="2633472"/>
            <a:ext cx="1883664" cy="502920"/>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Davis → Amherst knowledge transfer</a:t>
            </a:r>
            <a:endParaRPr lang="en-US" sz="1100" dirty="0"/>
          </a:p>
        </p:txBody>
      </p:sp>
      <p:sp>
        <p:nvSpPr>
          <p:cNvPr id="29" name="Text 27"/>
          <p:cNvSpPr txBox="1"/>
          <p:nvPr/>
        </p:nvSpPr>
        <p:spPr>
          <a:xfrm>
            <a:off x="502920" y="3520440"/>
            <a:ext cx="3291840" cy="457200"/>
          </a:xfrm>
          <a:prstGeom prst="rect">
            <a:avLst/>
          </a:prstGeom>
          <a:noFill/>
          <a:ln/>
        </p:spPr>
        <p:txBody>
          <a:bodyPr wrap="square" lIns="0" tIns="0" rIns="0" bIns="0" rtlCol="0" anchor="ctr"/>
          <a:lstStyle/>
          <a:p>
            <a:pPr algn="ctr" indent="0" marL="0">
              <a:buNone/>
            </a:pPr>
            <a:r>
              <a:rPr lang="en-US" sz="2000" b="1" dirty="0">
                <a:solidFill>
                  <a:srgbClr val="2A9D8F"/>
                </a:solidFill>
                <a:latin typeface="Cambria" pitchFamily="34" charset="0"/>
                <a:ea typeface="Cambria" pitchFamily="34" charset="-122"/>
                <a:cs typeface="Cambria" pitchFamily="34" charset="-120"/>
              </a:rPr>
              <a:t>Same-city</a:t>
            </a:r>
            <a:endParaRPr lang="en-US" sz="2000" dirty="0"/>
          </a:p>
        </p:txBody>
      </p:sp>
      <p:sp>
        <p:nvSpPr>
          <p:cNvPr id="30" name="Text 28"/>
          <p:cNvSpPr txBox="1"/>
          <p:nvPr/>
        </p:nvSpPr>
        <p:spPr>
          <a:xfrm>
            <a:off x="3794760" y="3566160"/>
            <a:ext cx="914400" cy="36576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vs.</a:t>
            </a:r>
            <a:endParaRPr lang="en-US" sz="1600" dirty="0"/>
          </a:p>
        </p:txBody>
      </p:sp>
      <p:sp>
        <p:nvSpPr>
          <p:cNvPr id="31" name="Text 29"/>
          <p:cNvSpPr txBox="1"/>
          <p:nvPr/>
        </p:nvSpPr>
        <p:spPr>
          <a:xfrm>
            <a:off x="4709160" y="3520440"/>
            <a:ext cx="3291840" cy="457200"/>
          </a:xfrm>
          <a:prstGeom prst="rect">
            <a:avLst/>
          </a:prstGeom>
          <a:noFill/>
          <a:ln/>
        </p:spPr>
        <p:txBody>
          <a:bodyPr wrap="square" lIns="0" tIns="0" rIns="0" bIns="0" rtlCol="0" anchor="ctr"/>
          <a:lstStyle/>
          <a:p>
            <a:pPr algn="ctr" indent="0" marL="0">
              <a:buNone/>
            </a:pPr>
            <a:r>
              <a:rPr lang="en-US" sz="2000" b="1" dirty="0">
                <a:solidFill>
                  <a:srgbClr val="C0524A"/>
                </a:solidFill>
                <a:latin typeface="Cambria" pitchFamily="34" charset="0"/>
                <a:ea typeface="Cambria" pitchFamily="34" charset="-122"/>
                <a:cs typeface="Cambria" pitchFamily="34" charset="-120"/>
              </a:rPr>
              <a:t>Cross-city</a:t>
            </a:r>
            <a:endParaRPr lang="en-US" sz="2000" dirty="0"/>
          </a:p>
        </p:txBody>
      </p:sp>
      <p:sp>
        <p:nvSpPr>
          <p:cNvPr id="32" name="Text 30"/>
          <p:cNvSpPr txBox="1"/>
          <p:nvPr/>
        </p:nvSpPr>
        <p:spPr>
          <a:xfrm>
            <a:off x="502920" y="3977640"/>
            <a:ext cx="8001000" cy="365760"/>
          </a:xfrm>
          <a:prstGeom prst="rect">
            <a:avLst/>
          </a:prstGeom>
          <a:noFill/>
          <a:ln/>
        </p:spPr>
        <p:txBody>
          <a:bodyPr wrap="square" lIns="0" tIns="0" rIns="0" bIns="0" rtlCol="0" anchor="ctr"/>
          <a:lstStyle/>
          <a:p>
            <a:pPr algn="ctr" indent="0" marL="0">
              <a:buNone/>
            </a:pPr>
            <a:r>
              <a:rPr lang="en-US" sz="1250" i="1" dirty="0">
                <a:solidFill>
                  <a:srgbClr val="5B6B7C"/>
                </a:solidFill>
                <a:latin typeface="Calibri" pitchFamily="34" charset="0"/>
                <a:ea typeface="Calibri" pitchFamily="34" charset="-122"/>
                <a:cs typeface="Calibri" pitchFamily="34" charset="-120"/>
              </a:rPr>
              <a:t>(used throughout Problems 2 &amp; 5 — train on one city, test on the same city vs. a different one)</a:t>
            </a:r>
            <a:endParaRPr lang="en-US" sz="1250" dirty="0"/>
          </a:p>
        </p:txBody>
      </p:sp>
      <p:sp>
        <p:nvSpPr>
          <p:cNvPr id="33" name="Shape 31"/>
          <p:cNvSpPr/>
          <p:nvPr/>
        </p:nvSpPr>
        <p:spPr>
          <a:xfrm>
            <a:off x="502920" y="4526280"/>
            <a:ext cx="11183112" cy="1691640"/>
          </a:xfrm>
          <a:prstGeom prst="roundRect">
            <a:avLst>
              <a:gd name="adj" fmla="val 4324"/>
            </a:avLst>
          </a:prstGeom>
          <a:solidFill>
            <a:srgbClr val="132A46"/>
          </a:solidFill>
          <a:ln/>
        </p:spPr>
      </p:sp>
      <p:sp>
        <p:nvSpPr>
          <p:cNvPr id="34" name="Text 32"/>
          <p:cNvSpPr txBox="1"/>
          <p:nvPr/>
        </p:nvSpPr>
        <p:spPr>
          <a:xfrm>
            <a:off x="731520" y="4709160"/>
            <a:ext cx="10698480" cy="36576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Chronological splitting — used everywhere:</a:t>
            </a:r>
            <a:endParaRPr lang="en-US" sz="1450" dirty="0"/>
          </a:p>
        </p:txBody>
      </p:sp>
      <p:sp>
        <p:nvSpPr>
          <p:cNvPr id="35" name="Text 33"/>
          <p:cNvSpPr txBox="1"/>
          <p:nvPr/>
        </p:nvSpPr>
        <p:spPr>
          <a:xfrm>
            <a:off x="731520" y="5102352"/>
            <a:ext cx="10698480" cy="100584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Earliest 80% of a city's timestamps train, latest 20% test — never shuffled. Random shuffling would let a model trained on next Tuesday's readings predict last Monday's, which would make every metric meaningless for real forecasting.</a:t>
            </a:r>
            <a:endParaRPr lang="en-US" sz="1450" dirty="0"/>
          </a:p>
        </p:txBody>
      </p:sp>
      <p:sp>
        <p:nvSpPr>
          <p:cNvPr id="36" name="Text 3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Preprocessing Pipeline</a:t>
            </a:r>
            <a:endParaRPr lang="en-US" sz="3000" dirty="0"/>
          </a:p>
        </p:txBody>
      </p:sp>
      <p:sp>
        <p:nvSpPr>
          <p:cNvPr id="4" name="Shape 2"/>
          <p:cNvSpPr/>
          <p:nvPr/>
        </p:nvSpPr>
        <p:spPr>
          <a:xfrm>
            <a:off x="585216" y="1508760"/>
            <a:ext cx="1417320" cy="914400"/>
          </a:xfrm>
          <a:prstGeom prst="roundRect">
            <a:avLst>
              <a:gd name="adj" fmla="val 6000"/>
            </a:avLst>
          </a:prstGeom>
          <a:solidFill>
            <a:srgbClr val="132A46"/>
          </a:solidFill>
          <a:ln/>
        </p:spPr>
      </p:sp>
      <p:sp>
        <p:nvSpPr>
          <p:cNvPr id="5" name="Text 3"/>
          <p:cNvSpPr txBox="1"/>
          <p:nvPr/>
        </p:nvSpPr>
        <p:spPr>
          <a:xfrm>
            <a:off x="5852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6" name="Text 4"/>
          <p:cNvSpPr txBox="1"/>
          <p:nvPr/>
        </p:nvSpPr>
        <p:spPr>
          <a:xfrm>
            <a:off x="20025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185416" y="1508760"/>
            <a:ext cx="1417320" cy="914400"/>
          </a:xfrm>
          <a:prstGeom prst="roundRect">
            <a:avLst>
              <a:gd name="adj" fmla="val 6000"/>
            </a:avLst>
          </a:prstGeom>
          <a:solidFill>
            <a:srgbClr val="132A46"/>
          </a:solidFill>
          <a:ln/>
        </p:spPr>
      </p:sp>
      <p:sp>
        <p:nvSpPr>
          <p:cNvPr id="8" name="Text 6"/>
          <p:cNvSpPr txBox="1"/>
          <p:nvPr/>
        </p:nvSpPr>
        <p:spPr>
          <a:xfrm>
            <a:off x="21854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Missing-Value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Handling</a:t>
            </a:r>
            <a:endParaRPr lang="en-US" sz="1100" dirty="0"/>
          </a:p>
        </p:txBody>
      </p:sp>
      <p:sp>
        <p:nvSpPr>
          <p:cNvPr id="9" name="Text 7"/>
          <p:cNvSpPr txBox="1"/>
          <p:nvPr/>
        </p:nvSpPr>
        <p:spPr>
          <a:xfrm>
            <a:off x="36027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785616" y="1508760"/>
            <a:ext cx="1417320" cy="914400"/>
          </a:xfrm>
          <a:prstGeom prst="roundRect">
            <a:avLst>
              <a:gd name="adj" fmla="val 6000"/>
            </a:avLst>
          </a:prstGeom>
          <a:solidFill>
            <a:srgbClr val="132A46"/>
          </a:solidFill>
          <a:ln/>
        </p:spPr>
      </p:sp>
      <p:sp>
        <p:nvSpPr>
          <p:cNvPr id="11" name="Text 9"/>
          <p:cNvSpPr txBox="1"/>
          <p:nvPr/>
        </p:nvSpPr>
        <p:spPr>
          <a:xfrm>
            <a:off x="37856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12" name="Text 10"/>
          <p:cNvSpPr txBox="1"/>
          <p:nvPr/>
        </p:nvSpPr>
        <p:spPr>
          <a:xfrm>
            <a:off x="52029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385816" y="1508760"/>
            <a:ext cx="1417320" cy="914400"/>
          </a:xfrm>
          <a:prstGeom prst="roundRect">
            <a:avLst>
              <a:gd name="adj" fmla="val 6000"/>
            </a:avLst>
          </a:prstGeom>
          <a:solidFill>
            <a:srgbClr val="132A46"/>
          </a:solidFill>
          <a:ln/>
        </p:spPr>
      </p:sp>
      <p:sp>
        <p:nvSpPr>
          <p:cNvPr id="14" name="Text 12"/>
          <p:cNvSpPr txBox="1"/>
          <p:nvPr/>
        </p:nvSpPr>
        <p:spPr>
          <a:xfrm>
            <a:off x="53858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Categorical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Encoding</a:t>
            </a:r>
            <a:endParaRPr lang="en-US" sz="1100" dirty="0"/>
          </a:p>
        </p:txBody>
      </p:sp>
      <p:sp>
        <p:nvSpPr>
          <p:cNvPr id="15" name="Text 13"/>
          <p:cNvSpPr txBox="1"/>
          <p:nvPr/>
        </p:nvSpPr>
        <p:spPr>
          <a:xfrm>
            <a:off x="68031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986016" y="1508760"/>
            <a:ext cx="1417320" cy="914400"/>
          </a:xfrm>
          <a:prstGeom prst="roundRect">
            <a:avLst>
              <a:gd name="adj" fmla="val 6000"/>
            </a:avLst>
          </a:prstGeom>
          <a:solidFill>
            <a:srgbClr val="132A46"/>
          </a:solidFill>
          <a:ln/>
        </p:spPr>
      </p:sp>
      <p:sp>
        <p:nvSpPr>
          <p:cNvPr id="17" name="Text 15"/>
          <p:cNvSpPr txBox="1"/>
          <p:nvPr/>
        </p:nvSpPr>
        <p:spPr>
          <a:xfrm>
            <a:off x="69860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Scaling</a:t>
            </a:r>
            <a:endParaRPr lang="en-US" sz="1100" dirty="0"/>
          </a:p>
        </p:txBody>
      </p:sp>
      <p:sp>
        <p:nvSpPr>
          <p:cNvPr id="18" name="Text 16"/>
          <p:cNvSpPr txBox="1"/>
          <p:nvPr/>
        </p:nvSpPr>
        <p:spPr>
          <a:xfrm>
            <a:off x="84033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586216" y="1508760"/>
            <a:ext cx="1417320" cy="914400"/>
          </a:xfrm>
          <a:prstGeom prst="roundRect">
            <a:avLst>
              <a:gd name="adj" fmla="val 6000"/>
            </a:avLst>
          </a:prstGeom>
          <a:solidFill>
            <a:srgbClr val="132A46"/>
          </a:solidFill>
          <a:ln/>
        </p:spPr>
      </p:sp>
      <p:sp>
        <p:nvSpPr>
          <p:cNvPr id="20" name="Text 18"/>
          <p:cNvSpPr txBox="1"/>
          <p:nvPr/>
        </p:nvSpPr>
        <p:spPr>
          <a:xfrm>
            <a:off x="85862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Chronological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21" name="Text 19"/>
          <p:cNvSpPr txBox="1"/>
          <p:nvPr/>
        </p:nvSpPr>
        <p:spPr>
          <a:xfrm>
            <a:off x="10003536" y="1508760"/>
            <a:ext cx="201168" cy="91440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186416" y="1508760"/>
            <a:ext cx="1417320" cy="914400"/>
          </a:xfrm>
          <a:prstGeom prst="roundRect">
            <a:avLst>
              <a:gd name="adj" fmla="val 6000"/>
            </a:avLst>
          </a:prstGeom>
          <a:solidFill>
            <a:srgbClr val="2A9D8F"/>
          </a:solidFill>
          <a:ln/>
        </p:spPr>
      </p:sp>
      <p:sp>
        <p:nvSpPr>
          <p:cNvPr id="23" name="Text 21"/>
          <p:cNvSpPr txBox="1"/>
          <p:nvPr/>
        </p:nvSpPr>
        <p:spPr>
          <a:xfrm>
            <a:off x="10186416" y="150876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Models</a:t>
            </a:r>
            <a:endParaRPr lang="en-US" sz="1100" dirty="0"/>
          </a:p>
        </p:txBody>
      </p:sp>
      <p:sp>
        <p:nvSpPr>
          <p:cNvPr id="24" name="Shape 22"/>
          <p:cNvSpPr/>
          <p:nvPr/>
        </p:nvSpPr>
        <p:spPr>
          <a:xfrm>
            <a:off x="502920" y="2834640"/>
            <a:ext cx="146304" cy="146304"/>
          </a:xfrm>
          <a:prstGeom prst="ellipse">
            <a:avLst/>
          </a:prstGeom>
          <a:solidFill>
            <a:srgbClr val="F5A623"/>
          </a:solidFill>
          <a:ln/>
        </p:spPr>
      </p:sp>
      <p:sp>
        <p:nvSpPr>
          <p:cNvPr id="25" name="Text 23"/>
          <p:cNvSpPr txBox="1"/>
          <p:nvPr/>
        </p:nvSpPr>
        <p:spPr>
          <a:xfrm>
            <a:off x="777240" y="2788920"/>
            <a:ext cx="2743200" cy="5486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Clear-Sky Index:</a:t>
            </a:r>
            <a:endParaRPr lang="en-US" sz="1350" dirty="0"/>
          </a:p>
        </p:txBody>
      </p:sp>
      <p:sp>
        <p:nvSpPr>
          <p:cNvPr id="26" name="Text 24"/>
          <p:cNvSpPr txBox="1"/>
          <p:nvPr/>
        </p:nvSpPr>
        <p:spPr>
          <a:xfrm>
            <a:off x="3566160" y="2788920"/>
            <a:ext cx="8138160" cy="5486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GHI ÷ Clearsky GHI — measures how close actual irradiance is to the clear-sky maximum; defines Problem 1's sky-condition label</a:t>
            </a:r>
            <a:endParaRPr lang="en-US" sz="1300" dirty="0"/>
          </a:p>
        </p:txBody>
      </p:sp>
      <p:sp>
        <p:nvSpPr>
          <p:cNvPr id="27" name="Shape 25"/>
          <p:cNvSpPr/>
          <p:nvPr/>
        </p:nvSpPr>
        <p:spPr>
          <a:xfrm>
            <a:off x="502920" y="3584448"/>
            <a:ext cx="146304" cy="146304"/>
          </a:xfrm>
          <a:prstGeom prst="ellipse">
            <a:avLst/>
          </a:prstGeom>
          <a:solidFill>
            <a:srgbClr val="F5A623"/>
          </a:solidFill>
          <a:ln/>
        </p:spPr>
      </p:sp>
      <p:sp>
        <p:nvSpPr>
          <p:cNvPr id="28" name="Text 26"/>
          <p:cNvSpPr txBox="1"/>
          <p:nvPr/>
        </p:nvSpPr>
        <p:spPr>
          <a:xfrm>
            <a:off x="777240" y="3538728"/>
            <a:ext cx="2743200" cy="5486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Cyclical time features:</a:t>
            </a:r>
            <a:endParaRPr lang="en-US" sz="1350" dirty="0"/>
          </a:p>
        </p:txBody>
      </p:sp>
      <p:sp>
        <p:nvSpPr>
          <p:cNvPr id="29" name="Text 27"/>
          <p:cNvSpPr txBox="1"/>
          <p:nvPr/>
        </p:nvSpPr>
        <p:spPr>
          <a:xfrm>
            <a:off x="3566160" y="3538728"/>
            <a:ext cx="8138160" cy="5486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Hour/month/day-of-year → sine/cosine pairs, so 23:00 and 00:00 are numerically close, not maximally far apart</a:t>
            </a:r>
            <a:endParaRPr lang="en-US" sz="1300" dirty="0"/>
          </a:p>
        </p:txBody>
      </p:sp>
      <p:sp>
        <p:nvSpPr>
          <p:cNvPr id="30" name="Shape 28"/>
          <p:cNvSpPr/>
          <p:nvPr/>
        </p:nvSpPr>
        <p:spPr>
          <a:xfrm>
            <a:off x="502920" y="4334256"/>
            <a:ext cx="146304" cy="146304"/>
          </a:xfrm>
          <a:prstGeom prst="ellipse">
            <a:avLst/>
          </a:prstGeom>
          <a:solidFill>
            <a:srgbClr val="F5A623"/>
          </a:solidFill>
          <a:ln/>
        </p:spPr>
      </p:sp>
      <p:sp>
        <p:nvSpPr>
          <p:cNvPr id="31" name="Text 29"/>
          <p:cNvSpPr txBox="1"/>
          <p:nvPr/>
        </p:nvSpPr>
        <p:spPr>
          <a:xfrm>
            <a:off x="777240" y="4288536"/>
            <a:ext cx="2743200" cy="5486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Categorical encoding:</a:t>
            </a:r>
            <a:endParaRPr lang="en-US" sz="1350" dirty="0"/>
          </a:p>
        </p:txBody>
      </p:sp>
      <p:sp>
        <p:nvSpPr>
          <p:cNvPr id="32" name="Text 30"/>
          <p:cNvSpPr txBox="1"/>
          <p:nvPr/>
        </p:nvSpPr>
        <p:spPr>
          <a:xfrm>
            <a:off x="3566160" y="4288536"/>
            <a:ext cx="8138160" cy="5486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Cloud Type is one-hot encoded everywhere — it's a category code, not an ordered number</a:t>
            </a:r>
            <a:endParaRPr lang="en-US" sz="1300" dirty="0"/>
          </a:p>
        </p:txBody>
      </p:sp>
      <p:sp>
        <p:nvSpPr>
          <p:cNvPr id="33" name="Shape 31"/>
          <p:cNvSpPr/>
          <p:nvPr/>
        </p:nvSpPr>
        <p:spPr>
          <a:xfrm>
            <a:off x="502920" y="5084064"/>
            <a:ext cx="146304" cy="146304"/>
          </a:xfrm>
          <a:prstGeom prst="ellipse">
            <a:avLst/>
          </a:prstGeom>
          <a:solidFill>
            <a:srgbClr val="F5A623"/>
          </a:solidFill>
          <a:ln/>
        </p:spPr>
      </p:sp>
      <p:sp>
        <p:nvSpPr>
          <p:cNvPr id="34" name="Text 32"/>
          <p:cNvSpPr txBox="1"/>
          <p:nvPr/>
        </p:nvSpPr>
        <p:spPr>
          <a:xfrm>
            <a:off x="777240" y="5038344"/>
            <a:ext cx="2743200" cy="5486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Lag / sequence windows:</a:t>
            </a:r>
            <a:endParaRPr lang="en-US" sz="1350" dirty="0"/>
          </a:p>
        </p:txBody>
      </p:sp>
      <p:sp>
        <p:nvSpPr>
          <p:cNvPr id="35" name="Text 33"/>
          <p:cNvSpPr txBox="1"/>
          <p:nvPr/>
        </p:nvSpPr>
        <p:spPr>
          <a:xfrm>
            <a:off x="3566160" y="5038344"/>
            <a:ext cx="8138160" cy="5486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Problem 2's forecasting sub-task uses the previous 12 readings (~6 hours) to predict the next one</a:t>
            </a:r>
            <a:endParaRPr lang="en-US" sz="1300" dirty="0"/>
          </a:p>
        </p:txBody>
      </p:sp>
      <p:sp>
        <p:nvSpPr>
          <p:cNvPr id="36" name="Text 34"/>
          <p:cNvSpPr txBox="1"/>
          <p:nvPr/>
        </p:nvSpPr>
        <p:spPr>
          <a:xfrm>
            <a:off x="502920" y="5897880"/>
            <a:ext cx="11155680" cy="365760"/>
          </a:xfrm>
          <a:prstGeom prst="rect">
            <a:avLst/>
          </a:prstGeom>
          <a:noFill/>
          <a:ln/>
        </p:spPr>
        <p:txBody>
          <a:bodyPr wrap="square" lIns="0" tIns="0" rIns="0" bIns="0"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Every scaler and encoder is fit on training data only, then applied unchanged to test data — never the reverse.</a:t>
            </a:r>
            <a:endParaRPr lang="en-US" sz="1300" dirty="0"/>
          </a:p>
        </p:txBody>
      </p:sp>
      <p:sp>
        <p:nvSpPr>
          <p:cNvPr id="37" name="Text 35"/>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1</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Classification</a:t>
            </a:r>
            <a:endParaRPr lang="en-US" sz="3000" dirty="0"/>
          </a:p>
        </p:txBody>
      </p:sp>
      <p:sp>
        <p:nvSpPr>
          <p:cNvPr id="4" name="Text 2"/>
          <p:cNvSpPr txBox="1"/>
          <p:nvPr/>
        </p:nvSpPr>
        <p:spPr>
          <a:xfrm>
            <a:off x="502920" y="1417320"/>
            <a:ext cx="6309360" cy="77724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Predict sky-condition (Clear / Partly Cloudy / Overcast) from weather features — GHI excluded, since it defines the label itself.</a:t>
            </a:r>
            <a:endParaRPr lang="en-US" sz="1450" dirty="0"/>
          </a:p>
        </p:txBody>
      </p:sp>
      <p:sp>
        <p:nvSpPr>
          <p:cNvPr id="5" name="Shape 3"/>
          <p:cNvSpPr/>
          <p:nvPr/>
        </p:nvSpPr>
        <p:spPr>
          <a:xfrm>
            <a:off x="502920" y="2331720"/>
            <a:ext cx="306324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6" name="Text 4"/>
          <p:cNvSpPr txBox="1"/>
          <p:nvPr/>
        </p:nvSpPr>
        <p:spPr>
          <a:xfrm>
            <a:off x="612648" y="2441448"/>
            <a:ext cx="284378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0.772</a:t>
            </a:r>
            <a:endParaRPr lang="en-US" sz="2600" dirty="0"/>
          </a:p>
        </p:txBody>
      </p:sp>
      <p:sp>
        <p:nvSpPr>
          <p:cNvPr id="7" name="Text 5"/>
          <p:cNvSpPr txBox="1"/>
          <p:nvPr/>
        </p:nvSpPr>
        <p:spPr>
          <a:xfrm>
            <a:off x="612648" y="2983687"/>
            <a:ext cx="284378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Balanced Accuracy — Best Model (Davis)</a:t>
            </a:r>
            <a:endParaRPr lang="en-US" sz="1150" dirty="0"/>
          </a:p>
        </p:txBody>
      </p:sp>
      <p:sp>
        <p:nvSpPr>
          <p:cNvPr id="8" name="Shape 6"/>
          <p:cNvSpPr/>
          <p:nvPr/>
        </p:nvSpPr>
        <p:spPr>
          <a:xfrm>
            <a:off x="3703320" y="2331720"/>
            <a:ext cx="3063240" cy="1051560"/>
          </a:xfrm>
          <a:prstGeom prst="roundRect">
            <a:avLst>
              <a:gd name="adj" fmla="val 6957"/>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9" name="Text 7"/>
          <p:cNvSpPr txBox="1"/>
          <p:nvPr/>
        </p:nvSpPr>
        <p:spPr>
          <a:xfrm>
            <a:off x="3813048" y="2441448"/>
            <a:ext cx="2843784" cy="578358"/>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Log. Reg.</a:t>
            </a:r>
            <a:endParaRPr lang="en-US" sz="2600" dirty="0"/>
          </a:p>
        </p:txBody>
      </p:sp>
      <p:sp>
        <p:nvSpPr>
          <p:cNvPr id="10" name="Text 8"/>
          <p:cNvSpPr txBox="1"/>
          <p:nvPr/>
        </p:nvSpPr>
        <p:spPr>
          <a:xfrm>
            <a:off x="3813048" y="2983687"/>
            <a:ext cx="2843784" cy="357530"/>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Best model (balanced weight) — not an ensemble!</a:t>
            </a:r>
            <a:endParaRPr lang="en-US" sz="1150" dirty="0"/>
          </a:p>
        </p:txBody>
      </p:sp>
      <p:sp>
        <p:nvSpPr>
          <p:cNvPr id="11" name="Text 9"/>
          <p:cNvSpPr txBox="1"/>
          <p:nvPr/>
        </p:nvSpPr>
        <p:spPr>
          <a:xfrm>
            <a:off x="502920" y="3566160"/>
            <a:ext cx="6309360" cy="3200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Hardest class: Partly Cloudy (F1 = 0.566)</a:t>
            </a:r>
            <a:endParaRPr lang="en-US" sz="1350" dirty="0"/>
          </a:p>
        </p:txBody>
      </p:sp>
      <p:sp>
        <p:nvSpPr>
          <p:cNvPr id="12" name="Text 10"/>
          <p:cNvSpPr txBox="1"/>
          <p:nvPr/>
        </p:nvSpPr>
        <p:spPr>
          <a:xfrm>
            <a:off x="502920" y="3931920"/>
            <a:ext cx="6309360" cy="23774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Sits between Clear and Overcast on the Clear-Sky Index scale — confused with both neighbors</a:t>
            </a:r>
            <a:endParaRPr lang="en-US" sz="1400" dirty="0"/>
          </a:p>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Clear conditions were easiest (F1 = 0.946) — also the majority class (72% of data)</a:t>
            </a:r>
            <a:endParaRPr lang="en-US" sz="1400" dirty="0"/>
          </a:p>
          <a:p>
            <a:pPr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Class imbalance is why balanced accuracy, not raw accuracy, is the headline metric</a:t>
            </a:r>
            <a:endParaRPr lang="en-US" sz="1400" dirty="0"/>
          </a:p>
        </p:txBody>
      </p:sp>
      <p:sp>
        <p:nvSpPr>
          <p:cNvPr id="13" name="Shape 11"/>
          <p:cNvSpPr/>
          <p:nvPr/>
        </p:nvSpPr>
        <p:spPr>
          <a:xfrm>
            <a:off x="7360920" y="1417320"/>
            <a:ext cx="4343400" cy="4572000"/>
          </a:xfrm>
          <a:prstGeom prst="roundRect">
            <a:avLst>
              <a:gd name="adj" fmla="val 126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14" name="Image 0" descr="/home/claude/ECE571_Project/figures/problem1/problem1_sky_condition_confusion_matrix_Davis.png">    </p:cNvPr>
          <p:cNvPicPr>
            <a:picLocks noChangeAspect="1"/>
          </p:cNvPicPr>
          <p:nvPr/>
        </p:nvPicPr>
        <p:blipFill>
          <a:blip r:embed="rId1"/>
          <a:srcRect l="0" r="0" t="0" b="0"/>
          <a:stretch/>
        </p:blipFill>
        <p:spPr>
          <a:xfrm>
            <a:off x="7470648" y="1527048"/>
            <a:ext cx="4123944" cy="4005072"/>
          </a:xfrm>
          <a:prstGeom prst="rect">
            <a:avLst/>
          </a:prstGeom>
        </p:spPr>
      </p:pic>
      <p:sp>
        <p:nvSpPr>
          <p:cNvPr id="15" name="Text 12"/>
          <p:cNvSpPr txBox="1"/>
          <p:nvPr/>
        </p:nvSpPr>
        <p:spPr>
          <a:xfrm>
            <a:off x="7470648" y="5586984"/>
            <a:ext cx="412394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Confusion matrix, best Davis sky-condition model</a:t>
            </a:r>
            <a:endParaRPr lang="en-US" sz="1100" dirty="0"/>
          </a:p>
        </p:txBody>
      </p:sp>
      <p:sp>
        <p:nvSpPr>
          <p:cNvPr id="16" name="Text 1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2 — CORE TASK</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Regression</a:t>
            </a:r>
            <a:endParaRPr lang="en-US" sz="3000" dirty="0"/>
          </a:p>
        </p:txBody>
      </p:sp>
      <p:sp>
        <p:nvSpPr>
          <p:cNvPr id="4" name="Text 2"/>
          <p:cNvSpPr txBox="1"/>
          <p:nvPr/>
        </p:nvSpPr>
        <p:spPr>
          <a:xfrm>
            <a:off x="502920" y="1417320"/>
            <a:ext cx="6309360" cy="77724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Predict continuous Output Power (kW). Compared same-city (train &amp; test on Davis) vs. cross-city (Davis model applied directly to 3 other cities, no retraining).</a:t>
            </a:r>
            <a:endParaRPr lang="en-US" sz="1400" dirty="0"/>
          </a:p>
        </p:txBody>
      </p:sp>
      <p:sp>
        <p:nvSpPr>
          <p:cNvPr id="5" name="Shape 3"/>
          <p:cNvSpPr/>
          <p:nvPr/>
        </p:nvSpPr>
        <p:spPr>
          <a:xfrm>
            <a:off x="502920" y="2286000"/>
            <a:ext cx="201168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6" name="Text 4"/>
          <p:cNvSpPr txBox="1"/>
          <p:nvPr/>
        </p:nvSpPr>
        <p:spPr>
          <a:xfrm>
            <a:off x="612648" y="2395728"/>
            <a:ext cx="1792224" cy="553212"/>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15.17</a:t>
            </a:r>
            <a:endParaRPr lang="en-US" sz="2600" dirty="0"/>
          </a:p>
        </p:txBody>
      </p:sp>
      <p:sp>
        <p:nvSpPr>
          <p:cNvPr id="7" name="Text 5"/>
          <p:cNvSpPr txBox="1"/>
          <p:nvPr/>
        </p:nvSpPr>
        <p:spPr>
          <a:xfrm>
            <a:off x="612648" y="2909621"/>
            <a:ext cx="179222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RMSE (kW), Davis</a:t>
            </a:r>
            <a:endParaRPr lang="en-US" sz="1150" dirty="0"/>
          </a:p>
        </p:txBody>
      </p:sp>
      <p:sp>
        <p:nvSpPr>
          <p:cNvPr id="8" name="Shape 6"/>
          <p:cNvSpPr/>
          <p:nvPr/>
        </p:nvSpPr>
        <p:spPr>
          <a:xfrm>
            <a:off x="2606040" y="2286000"/>
            <a:ext cx="201168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9" name="Text 7"/>
          <p:cNvSpPr txBox="1"/>
          <p:nvPr/>
        </p:nvSpPr>
        <p:spPr>
          <a:xfrm>
            <a:off x="2715768" y="2395728"/>
            <a:ext cx="1792224" cy="553212"/>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8.31</a:t>
            </a:r>
            <a:endParaRPr lang="en-US" sz="2600" dirty="0"/>
          </a:p>
        </p:txBody>
      </p:sp>
      <p:sp>
        <p:nvSpPr>
          <p:cNvPr id="10" name="Text 8"/>
          <p:cNvSpPr txBox="1"/>
          <p:nvPr/>
        </p:nvSpPr>
        <p:spPr>
          <a:xfrm>
            <a:off x="2715768" y="2909621"/>
            <a:ext cx="179222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MAE (kW), Davis</a:t>
            </a:r>
            <a:endParaRPr lang="en-US" sz="1150" dirty="0"/>
          </a:p>
        </p:txBody>
      </p:sp>
      <p:sp>
        <p:nvSpPr>
          <p:cNvPr id="11" name="Shape 9"/>
          <p:cNvSpPr/>
          <p:nvPr/>
        </p:nvSpPr>
        <p:spPr>
          <a:xfrm>
            <a:off x="4709160" y="2286000"/>
            <a:ext cx="2103120" cy="1005840"/>
          </a:xfrm>
          <a:prstGeom prst="roundRect">
            <a:avLst>
              <a:gd name="adj" fmla="val 7273"/>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2" name="Text 10"/>
          <p:cNvSpPr txBox="1"/>
          <p:nvPr/>
        </p:nvSpPr>
        <p:spPr>
          <a:xfrm>
            <a:off x="4818888" y="2395728"/>
            <a:ext cx="1883664" cy="553212"/>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0.953</a:t>
            </a:r>
            <a:endParaRPr lang="en-US" sz="2600" dirty="0"/>
          </a:p>
        </p:txBody>
      </p:sp>
      <p:sp>
        <p:nvSpPr>
          <p:cNvPr id="13" name="Text 11"/>
          <p:cNvSpPr txBox="1"/>
          <p:nvPr/>
        </p:nvSpPr>
        <p:spPr>
          <a:xfrm>
            <a:off x="4818888" y="2909621"/>
            <a:ext cx="1883664" cy="34198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R², Davis</a:t>
            </a:r>
            <a:endParaRPr lang="en-US" sz="1150" dirty="0"/>
          </a:p>
        </p:txBody>
      </p:sp>
      <p:sp>
        <p:nvSpPr>
          <p:cNvPr id="14" name="Text 12"/>
          <p:cNvSpPr txBox="1"/>
          <p:nvPr/>
        </p:nvSpPr>
        <p:spPr>
          <a:xfrm>
            <a:off x="502920" y="3474720"/>
            <a:ext cx="6309360" cy="320040"/>
          </a:xfrm>
          <a:prstGeom prst="rect">
            <a:avLst/>
          </a:prstGeom>
          <a:noFill/>
          <a:ln/>
        </p:spPr>
        <p:txBody>
          <a:bodyPr wrap="square" lIns="0" tIns="0" rIns="0" bIns="0" rtlCol="0" anchor="ctr"/>
          <a:lstStyle/>
          <a:p>
            <a:pPr indent="0" marL="0">
              <a:buNone/>
            </a:pPr>
            <a:r>
              <a:rPr lang="en-US" sz="1350" b="1" dirty="0">
                <a:solidFill>
                  <a:srgbClr val="132A46"/>
                </a:solidFill>
                <a:latin typeface="Calibri" pitchFamily="34" charset="0"/>
                <a:ea typeface="Calibri" pitchFamily="34" charset="-122"/>
                <a:cs typeface="Calibri" pitchFamily="34" charset="-120"/>
              </a:rPr>
              <a:t>Best model: Gradient Boosting (Davis, same-city)</a:t>
            </a:r>
            <a:endParaRPr lang="en-US" sz="1350" dirty="0"/>
          </a:p>
        </p:txBody>
      </p:sp>
      <p:sp>
        <p:nvSpPr>
          <p:cNvPr id="15" name="Text 13"/>
          <p:cNvSpPr txBox="1"/>
          <p:nvPr/>
        </p:nvSpPr>
        <p:spPr>
          <a:xfrm>
            <a:off x="502920" y="3840480"/>
            <a:ext cx="6309360" cy="246888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Strongest result in the whole project — explains 95.3% of Output Power's variance from weather alone</a:t>
            </a:r>
            <a:endParaRPr lang="en-US" sz="1350" dirty="0"/>
          </a:p>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Cross-city (same model → Huron/Santa Barbara/La Jolla): RMSE ≈ 125 kW — ~8× worse</a:t>
            </a:r>
            <a:endParaRPr lang="en-US" sz="1350" dirty="0"/>
          </a:p>
          <a:p>
            <a:pPr marL="228600" indent="-228600">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Why: scale mismatch, not a modeling failure — Davis averages 164 kW, others 47–50 kW. Rescaling by the target city's mean recovers R²=0.55–0.84</a:t>
            </a:r>
            <a:endParaRPr lang="en-US" sz="1350" dirty="0"/>
          </a:p>
        </p:txBody>
      </p:sp>
      <p:sp>
        <p:nvSpPr>
          <p:cNvPr id="16" name="Shape 14"/>
          <p:cNvSpPr/>
          <p:nvPr/>
        </p:nvSpPr>
        <p:spPr>
          <a:xfrm>
            <a:off x="7635240" y="1417320"/>
            <a:ext cx="4069080" cy="4572000"/>
          </a:xfrm>
          <a:prstGeom prst="roundRect">
            <a:avLst>
              <a:gd name="adj" fmla="val 1348"/>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17" name="Image 0" descr="/home/claude/ECE571_Project/figures/problem2/problem2_predicted_vs_actual_davis.png">    </p:cNvPr>
          <p:cNvPicPr>
            <a:picLocks noChangeAspect="1"/>
          </p:cNvPicPr>
          <p:nvPr/>
        </p:nvPicPr>
        <p:blipFill>
          <a:blip r:embed="rId1"/>
          <a:srcRect l="0" r="0" t="0" b="0"/>
          <a:stretch/>
        </p:blipFill>
        <p:spPr>
          <a:xfrm>
            <a:off x="7744968" y="1527048"/>
            <a:ext cx="3849624" cy="4005072"/>
          </a:xfrm>
          <a:prstGeom prst="rect">
            <a:avLst/>
          </a:prstGeom>
        </p:spPr>
      </p:pic>
      <p:sp>
        <p:nvSpPr>
          <p:cNvPr id="18" name="Text 15"/>
          <p:cNvSpPr txBox="1"/>
          <p:nvPr/>
        </p:nvSpPr>
        <p:spPr>
          <a:xfrm>
            <a:off x="7744968" y="5586984"/>
            <a:ext cx="384962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Predicted vs. actual Output Power, Davis</a:t>
            </a:r>
            <a:endParaRPr lang="en-US" sz="1100" dirty="0"/>
          </a:p>
        </p:txBody>
      </p:sp>
      <p:sp>
        <p:nvSpPr>
          <p:cNvPr id="19" name="Text 16"/>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3</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Dimension Reduction</a:t>
            </a:r>
            <a:endParaRPr lang="en-US" sz="3000" dirty="0"/>
          </a:p>
        </p:txBody>
      </p:sp>
      <p:sp>
        <p:nvSpPr>
          <p:cNvPr id="4" name="Text 2"/>
          <p:cNvSpPr txBox="1"/>
          <p:nvPr/>
        </p:nvSpPr>
        <p:spPr>
          <a:xfrm>
            <a:off x="502920" y="1417320"/>
            <a:ext cx="11155680" cy="59436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Compress 23 features to d = 2, 5, or 10 with PCA (linear) and an autoencoder (nonlinear) — fit with zero label access — then test whether Problems 1 &amp; 2 still work as well.</a:t>
            </a:r>
            <a:endParaRPr lang="en-US" sz="1450" dirty="0"/>
          </a:p>
        </p:txBody>
      </p:sp>
      <p:sp>
        <p:nvSpPr>
          <p:cNvPr id="5" name="Shape 3"/>
          <p:cNvSpPr/>
          <p:nvPr/>
        </p:nvSpPr>
        <p:spPr>
          <a:xfrm>
            <a:off x="502920" y="2148840"/>
            <a:ext cx="5349240" cy="3886200"/>
          </a:xfrm>
          <a:prstGeom prst="roundRect">
            <a:avLst>
              <a:gd name="adj" fmla="val 1412"/>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6" name="Image 0" descr="/home/claude/ECE571_Project/figures/problem3/problem3_explained_variance.png">    </p:cNvPr>
          <p:cNvPicPr>
            <a:picLocks noChangeAspect="1"/>
          </p:cNvPicPr>
          <p:nvPr/>
        </p:nvPicPr>
        <p:blipFill>
          <a:blip r:embed="rId1"/>
          <a:srcRect l="0" r="0" t="0" b="0"/>
          <a:stretch/>
        </p:blipFill>
        <p:spPr>
          <a:xfrm>
            <a:off x="612648" y="2258568"/>
            <a:ext cx="5129784" cy="3319272"/>
          </a:xfrm>
          <a:prstGeom prst="rect">
            <a:avLst/>
          </a:prstGeom>
        </p:spPr>
      </p:pic>
      <p:sp>
        <p:nvSpPr>
          <p:cNvPr id="7" name="Text 4"/>
          <p:cNvSpPr txBox="1"/>
          <p:nvPr/>
        </p:nvSpPr>
        <p:spPr>
          <a:xfrm>
            <a:off x="612648" y="5632704"/>
            <a:ext cx="512978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PCA explained variance by dimension</a:t>
            </a:r>
            <a:endParaRPr lang="en-US" sz="1100" dirty="0"/>
          </a:p>
        </p:txBody>
      </p:sp>
      <p:sp>
        <p:nvSpPr>
          <p:cNvPr id="8" name="Shape 5"/>
          <p:cNvSpPr/>
          <p:nvPr/>
        </p:nvSpPr>
        <p:spPr>
          <a:xfrm>
            <a:off x="6080760" y="2148840"/>
            <a:ext cx="5605272" cy="3886200"/>
          </a:xfrm>
          <a:prstGeom prst="roundRect">
            <a:avLst>
              <a:gd name="adj" fmla="val 1882"/>
            </a:avLst>
          </a:prstGeom>
          <a:solidFill>
            <a:srgbClr val="132A46"/>
          </a:solidFill>
          <a:ln/>
        </p:spPr>
      </p:sp>
      <p:sp>
        <p:nvSpPr>
          <p:cNvPr id="9" name="Text 6"/>
          <p:cNvSpPr txBox="1"/>
          <p:nvPr/>
        </p:nvSpPr>
        <p:spPr>
          <a:xfrm>
            <a:off x="6309360" y="2377440"/>
            <a:ext cx="5120640" cy="457200"/>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Did reducing the feature space help prediction?</a:t>
            </a:r>
            <a:endParaRPr lang="en-US" sz="1500" dirty="0"/>
          </a:p>
        </p:txBody>
      </p:sp>
      <p:sp>
        <p:nvSpPr>
          <p:cNvPr id="10" name="Text 7"/>
          <p:cNvSpPr txBox="1"/>
          <p:nvPr/>
        </p:nvSpPr>
        <p:spPr>
          <a:xfrm>
            <a:off x="6309360" y="2880360"/>
            <a:ext cx="5120640" cy="457200"/>
          </a:xfrm>
          <a:prstGeom prst="rect">
            <a:avLst/>
          </a:prstGeom>
          <a:noFill/>
          <a:ln/>
        </p:spPr>
        <p:txBody>
          <a:bodyPr wrap="square" lIns="0" tIns="0" rIns="0" bIns="0" rtlCol="0" anchor="ctr"/>
          <a:lstStyle/>
          <a:p>
            <a:pPr indent="0" marL="0">
              <a:buNone/>
            </a:pPr>
            <a:r>
              <a:rPr lang="en-US" sz="2400" b="1" dirty="0">
                <a:solidFill>
                  <a:srgbClr val="C0524A"/>
                </a:solidFill>
                <a:latin typeface="Cambria" pitchFamily="34" charset="0"/>
                <a:ea typeface="Cambria" pitchFamily="34" charset="-122"/>
                <a:cs typeface="Cambria" pitchFamily="34" charset="-120"/>
              </a:rPr>
              <a:t>No.</a:t>
            </a:r>
            <a:endParaRPr lang="en-US" sz="2400" dirty="0"/>
          </a:p>
        </p:txBody>
      </p:sp>
      <p:sp>
        <p:nvSpPr>
          <p:cNvPr id="11" name="Text 8"/>
          <p:cNvSpPr txBox="1"/>
          <p:nvPr/>
        </p:nvSpPr>
        <p:spPr>
          <a:xfrm>
            <a:off x="6309360" y="3429000"/>
            <a:ext cx="5120640" cy="246888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Raw features beat every PCA/autoencoder version, at every dimension, on both classification and regression</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Raw: 0.743 balanced accuracy vs. best reduced (Autoencoder, d=10): 0.661</a:t>
            </a:r>
            <a:endParaRPr lang="en-US" sz="1350" dirty="0"/>
          </a:p>
          <a:p>
            <a:pPr marL="228600" indent="-228600">
              <a:spcAft>
                <a:spcPts val="1400"/>
              </a:spcAft>
              <a:buSzPct val="100000"/>
              <a:buChar char="•"/>
            </a:pPr>
            <a:r>
              <a:rPr lang="en-US" sz="1350" dirty="0">
                <a:solidFill>
                  <a:srgbClr val="E7ECF2"/>
                </a:solidFill>
                <a:latin typeface="Calibri" pitchFamily="34" charset="0"/>
                <a:ea typeface="Calibri" pitchFamily="34" charset="-122"/>
                <a:cs typeface="Calibri" pitchFamily="34" charset="-120"/>
              </a:rPr>
              <a:t>Traced to a cause: Cloud Type (highly predictive) compresses poorly into a few continuous dimensions</a:t>
            </a:r>
            <a:endParaRPr lang="en-US" sz="1350" dirty="0"/>
          </a:p>
        </p:txBody>
      </p:sp>
      <p:sp>
        <p:nvSpPr>
          <p:cNvPr id="12" name="Text 9"/>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4</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Semi-Supervised Learning</a:t>
            </a:r>
            <a:endParaRPr lang="en-US" sz="3000" dirty="0"/>
          </a:p>
        </p:txBody>
      </p:sp>
      <p:sp>
        <p:nvSpPr>
          <p:cNvPr id="4" name="Text 2"/>
          <p:cNvSpPr txBox="1"/>
          <p:nvPr/>
        </p:nvSpPr>
        <p:spPr>
          <a:xfrm>
            <a:off x="502920" y="1417320"/>
            <a:ext cx="1115568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Only 10%, 30%, or 50% of Davis's sky-condition labels are available. Can pseudo-labeling — using the model's own confident predictions on unlabeled data — beat training on the labeled subset alone?</a:t>
            </a:r>
            <a:endParaRPr lang="en-US" sz="1450" dirty="0"/>
          </a:p>
        </p:txBody>
      </p:sp>
      <p:sp>
        <p:nvSpPr>
          <p:cNvPr id="5" name="Shape 3"/>
          <p:cNvSpPr/>
          <p:nvPr/>
        </p:nvSpPr>
        <p:spPr>
          <a:xfrm>
            <a:off x="502920" y="2194560"/>
            <a:ext cx="5349240" cy="3840480"/>
          </a:xfrm>
          <a:prstGeom prst="roundRect">
            <a:avLst>
              <a:gd name="adj" fmla="val 1429"/>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6" name="Image 0" descr="/home/claude/ECE571_Project/figures/problem4/problem4_label_efficiency_curve.png">    </p:cNvPr>
          <p:cNvPicPr>
            <a:picLocks noChangeAspect="1"/>
          </p:cNvPicPr>
          <p:nvPr/>
        </p:nvPicPr>
        <p:blipFill>
          <a:blip r:embed="rId1"/>
          <a:srcRect l="0" r="0" t="0" b="0"/>
          <a:stretch/>
        </p:blipFill>
        <p:spPr>
          <a:xfrm>
            <a:off x="612648" y="2304288"/>
            <a:ext cx="5129784" cy="3273552"/>
          </a:xfrm>
          <a:prstGeom prst="rect">
            <a:avLst/>
          </a:prstGeom>
        </p:spPr>
      </p:pic>
      <p:sp>
        <p:nvSpPr>
          <p:cNvPr id="7" name="Text 4"/>
          <p:cNvSpPr txBox="1"/>
          <p:nvPr/>
        </p:nvSpPr>
        <p:spPr>
          <a:xfrm>
            <a:off x="612648" y="5632704"/>
            <a:ext cx="512978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Label-efficiency curve: supervised-only vs. SSL</a:t>
            </a:r>
            <a:endParaRPr lang="en-US" sz="1100" dirty="0"/>
          </a:p>
        </p:txBody>
      </p:sp>
      <p:sp>
        <p:nvSpPr>
          <p:cNvPr id="8" name="Text 5"/>
          <p:cNvSpPr txBox="1"/>
          <p:nvPr/>
        </p:nvSpPr>
        <p:spPr>
          <a:xfrm>
            <a:off x="6080760" y="2286000"/>
            <a:ext cx="5605272" cy="548640"/>
          </a:xfrm>
          <a:prstGeom prst="rect">
            <a:avLst/>
          </a:prstGeom>
          <a:noFill/>
          <a:ln/>
        </p:spPr>
        <p:txBody>
          <a:bodyPr wrap="square" lIns="0" tIns="0" rIns="0" bIns="0" rtlCol="0" anchor="ctr"/>
          <a:lstStyle/>
          <a:p>
            <a:pPr indent="0" marL="0">
              <a:buNone/>
            </a:pPr>
            <a:r>
              <a:rPr lang="en-US" sz="1600" b="1" dirty="0">
                <a:solidFill>
                  <a:srgbClr val="C0524A"/>
                </a:solidFill>
                <a:latin typeface="Calibri" pitchFamily="34" charset="0"/>
                <a:ea typeface="Calibri" pitchFamily="34" charset="-122"/>
                <a:cs typeface="Calibri" pitchFamily="34" charset="-120"/>
              </a:rPr>
              <a:t>Did unlabeled data help — even at 10% labels? NO.</a:t>
            </a:r>
            <a:endParaRPr lang="en-US" sz="1600" dirty="0"/>
          </a:p>
        </p:txBody>
      </p:sp>
      <p:sp>
        <p:nvSpPr>
          <p:cNvPr id="9" name="Text 6"/>
          <p:cNvSpPr txBox="1"/>
          <p:nvPr/>
        </p:nvSpPr>
        <p:spPr>
          <a:xfrm>
            <a:off x="6080760" y="2971800"/>
            <a:ext cx="5605272" cy="301752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SSL gain was slightly negative at every fraction tested (10%, 30%, 50%) — an honest, reported finding</a:t>
            </a:r>
            <a:endParaRPr lang="en-US" sz="1350" dirty="0"/>
          </a:p>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Diagnosis: pseudo-labels were 100% accurate (checked after training only) — but 98% of the first round were the easy “Clear” class</a:t>
            </a:r>
            <a:endParaRPr lang="en-US" sz="1350" dirty="0"/>
          </a:p>
          <a:p>
            <a:pPr marL="228600" indent="-228600">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Correct, but redundant — reinforced what the model already knew instead of helping with the hard Partly Cloudy / Overcast boundary</a:t>
            </a:r>
            <a:endParaRPr lang="en-US" sz="1350" dirty="0"/>
          </a:p>
        </p:txBody>
      </p:sp>
      <p:sp>
        <p:nvSpPr>
          <p:cNvPr id="10" name="Text 7"/>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PROBLEM 5 — MOST INTERESTING RESULT</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Transfer Learning</a:t>
            </a:r>
            <a:endParaRPr lang="en-US" sz="3000" dirty="0"/>
          </a:p>
        </p:txBody>
      </p:sp>
      <p:sp>
        <p:nvSpPr>
          <p:cNvPr id="4" name="Shape 2"/>
          <p:cNvSpPr/>
          <p:nvPr/>
        </p:nvSpPr>
        <p:spPr>
          <a:xfrm>
            <a:off x="502920" y="1417320"/>
            <a:ext cx="2286000" cy="640080"/>
          </a:xfrm>
          <a:prstGeom prst="roundRect">
            <a:avLst>
              <a:gd name="adj" fmla="val 8571"/>
            </a:avLst>
          </a:prstGeom>
          <a:solidFill>
            <a:srgbClr val="132A46"/>
          </a:solidFill>
          <a:ln/>
        </p:spPr>
      </p:sp>
      <p:sp>
        <p:nvSpPr>
          <p:cNvPr id="5" name="Text 3"/>
          <p:cNvSpPr txBox="1"/>
          <p:nvPr/>
        </p:nvSpPr>
        <p:spPr>
          <a:xfrm>
            <a:off x="502920" y="1417320"/>
            <a:ext cx="2286000"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Davis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(data-rich)</a:t>
            </a:r>
            <a:endParaRPr lang="en-US" sz="1150" dirty="0"/>
          </a:p>
        </p:txBody>
      </p:sp>
      <p:sp>
        <p:nvSpPr>
          <p:cNvPr id="6" name="Text 4"/>
          <p:cNvSpPr txBox="1"/>
          <p:nvPr/>
        </p:nvSpPr>
        <p:spPr>
          <a:xfrm>
            <a:off x="2788920" y="1417320"/>
            <a:ext cx="320040" cy="64008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108960" y="1417320"/>
            <a:ext cx="2286000" cy="640080"/>
          </a:xfrm>
          <a:prstGeom prst="roundRect">
            <a:avLst>
              <a:gd name="adj" fmla="val 8571"/>
            </a:avLst>
          </a:prstGeom>
          <a:solidFill>
            <a:srgbClr val="24466E"/>
          </a:solidFill>
          <a:ln/>
        </p:spPr>
      </p:sp>
      <p:sp>
        <p:nvSpPr>
          <p:cNvPr id="8" name="Text 6"/>
          <p:cNvSpPr txBox="1"/>
          <p:nvPr/>
        </p:nvSpPr>
        <p:spPr>
          <a:xfrm>
            <a:off x="3108960" y="1417320"/>
            <a:ext cx="2286000"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Pretrain</a:t>
            </a:r>
            <a:endParaRPr lang="en-US" sz="1150" dirty="0"/>
          </a:p>
        </p:txBody>
      </p:sp>
      <p:sp>
        <p:nvSpPr>
          <p:cNvPr id="9" name="Text 7"/>
          <p:cNvSpPr txBox="1"/>
          <p:nvPr/>
        </p:nvSpPr>
        <p:spPr>
          <a:xfrm>
            <a:off x="5394960" y="1417320"/>
            <a:ext cx="320040" cy="64008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715000" y="1417320"/>
            <a:ext cx="2286000" cy="640080"/>
          </a:xfrm>
          <a:prstGeom prst="roundRect">
            <a:avLst>
              <a:gd name="adj" fmla="val 8571"/>
            </a:avLst>
          </a:prstGeom>
          <a:solidFill>
            <a:srgbClr val="F5A623"/>
          </a:solidFill>
          <a:ln/>
        </p:spPr>
      </p:sp>
      <p:sp>
        <p:nvSpPr>
          <p:cNvPr id="11" name="Text 9"/>
          <p:cNvSpPr txBox="1"/>
          <p:nvPr/>
        </p:nvSpPr>
        <p:spPr>
          <a:xfrm>
            <a:off x="5715000" y="1417320"/>
            <a:ext cx="2286000" cy="640080"/>
          </a:xfrm>
          <a:prstGeom prst="rect">
            <a:avLst/>
          </a:prstGeom>
          <a:noFill/>
          <a:ln/>
        </p:spPr>
        <p:txBody>
          <a:bodyPr wrap="square" lIns="0" tIns="0" rIns="0" bIns="0" rtlCol="0" anchor="ctr"/>
          <a:lstStyle/>
          <a:p>
            <a:pPr algn="ctr" indent="0" marL="0">
              <a:buNone/>
            </a:pPr>
            <a:r>
              <a:rPr lang="en-US" sz="1150" b="1" dirty="0">
                <a:solidFill>
                  <a:srgbClr val="132A46"/>
                </a:solidFill>
                <a:latin typeface="Calibri" pitchFamily="34" charset="0"/>
                <a:ea typeface="Calibri" pitchFamily="34" charset="-122"/>
                <a:cs typeface="Calibri" pitchFamily="34" charset="-120"/>
              </a:rPr>
              <a:t>Fine-Tune</a:t>
            </a:r>
            <a:endParaRPr lang="en-US" sz="1150" dirty="0"/>
          </a:p>
          <a:p>
            <a:pPr algn="ctr" indent="0" marL="0">
              <a:buNone/>
            </a:pPr>
            <a:r>
              <a:rPr lang="en-US" sz="1150" b="1" dirty="0">
                <a:solidFill>
                  <a:srgbClr val="132A46"/>
                </a:solidFill>
                <a:latin typeface="Calibri" pitchFamily="34" charset="0"/>
                <a:ea typeface="Calibri" pitchFamily="34" charset="-122"/>
                <a:cs typeface="Calibri" pitchFamily="34" charset="-120"/>
              </a:rPr>
              <a:t>on k samples</a:t>
            </a:r>
            <a:endParaRPr lang="en-US" sz="1150" dirty="0"/>
          </a:p>
        </p:txBody>
      </p:sp>
      <p:sp>
        <p:nvSpPr>
          <p:cNvPr id="12" name="Text 10"/>
          <p:cNvSpPr txBox="1"/>
          <p:nvPr/>
        </p:nvSpPr>
        <p:spPr>
          <a:xfrm>
            <a:off x="8001000" y="1417320"/>
            <a:ext cx="320040" cy="640080"/>
          </a:xfrm>
          <a:prstGeom prst="rect">
            <a:avLst/>
          </a:prstGeom>
          <a:noFill/>
          <a:ln/>
        </p:spPr>
        <p:txBody>
          <a:bodyPr wrap="square" lIns="0" tIns="0" rIns="0" bIns="0" rtlCol="0" anchor="ctr"/>
          <a:lstStyle/>
          <a:p>
            <a:pPr algn="ctr" indent="0" marL="0">
              <a:buNone/>
            </a:pPr>
            <a:r>
              <a:rPr lang="en-US" sz="1600" dirty="0">
                <a:solidFill>
                  <a:srgbClr val="5B6B7C"/>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8321040" y="1417320"/>
            <a:ext cx="2286000" cy="640080"/>
          </a:xfrm>
          <a:prstGeom prst="roundRect">
            <a:avLst>
              <a:gd name="adj" fmla="val 8571"/>
            </a:avLst>
          </a:prstGeom>
          <a:solidFill>
            <a:srgbClr val="2A9D8F"/>
          </a:solidFill>
          <a:ln/>
        </p:spPr>
      </p:sp>
      <p:sp>
        <p:nvSpPr>
          <p:cNvPr id="14" name="Text 12"/>
          <p:cNvSpPr txBox="1"/>
          <p:nvPr/>
        </p:nvSpPr>
        <p:spPr>
          <a:xfrm>
            <a:off x="8321040" y="1417320"/>
            <a:ext cx="2286000"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Amherst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(data-poor)</a:t>
            </a:r>
            <a:endParaRPr lang="en-US" sz="1150" dirty="0"/>
          </a:p>
        </p:txBody>
      </p:sp>
      <p:sp>
        <p:nvSpPr>
          <p:cNvPr id="15" name="Shape 13"/>
          <p:cNvSpPr/>
          <p:nvPr/>
        </p:nvSpPr>
        <p:spPr>
          <a:xfrm>
            <a:off x="502920" y="2286000"/>
            <a:ext cx="2606040" cy="914400"/>
          </a:xfrm>
          <a:prstGeom prst="roundRect">
            <a:avLst>
              <a:gd name="adj" fmla="val 8000"/>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6" name="Text 14"/>
          <p:cNvSpPr txBox="1"/>
          <p:nvPr/>
        </p:nvSpPr>
        <p:spPr>
          <a:xfrm>
            <a:off x="612648" y="2395728"/>
            <a:ext cx="2386584" cy="502920"/>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+21.4%</a:t>
            </a:r>
            <a:endParaRPr lang="en-US" sz="2600" dirty="0"/>
          </a:p>
        </p:txBody>
      </p:sp>
      <p:sp>
        <p:nvSpPr>
          <p:cNvPr id="17" name="Text 15"/>
          <p:cNvSpPr txBox="1"/>
          <p:nvPr/>
        </p:nvSpPr>
        <p:spPr>
          <a:xfrm>
            <a:off x="612648" y="2852928"/>
            <a:ext cx="2386584" cy="31089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Transfer gain at k=10 samples</a:t>
            </a:r>
            <a:endParaRPr lang="en-US" sz="1150" dirty="0"/>
          </a:p>
        </p:txBody>
      </p:sp>
      <p:sp>
        <p:nvSpPr>
          <p:cNvPr id="18" name="Shape 16"/>
          <p:cNvSpPr/>
          <p:nvPr/>
        </p:nvSpPr>
        <p:spPr>
          <a:xfrm>
            <a:off x="3200400" y="2286000"/>
            <a:ext cx="2606040" cy="914400"/>
          </a:xfrm>
          <a:prstGeom prst="roundRect">
            <a:avLst>
              <a:gd name="adj" fmla="val 8000"/>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19" name="Text 17"/>
          <p:cNvSpPr txBox="1"/>
          <p:nvPr/>
        </p:nvSpPr>
        <p:spPr>
          <a:xfrm>
            <a:off x="3310128" y="2395728"/>
            <a:ext cx="2386584" cy="502920"/>
          </a:xfrm>
          <a:prstGeom prst="rect">
            <a:avLst/>
          </a:prstGeom>
          <a:noFill/>
          <a:ln/>
        </p:spPr>
        <p:txBody>
          <a:bodyPr wrap="square" lIns="0" tIns="0" rIns="0" bIns="0" rtlCol="0" anchor="b"/>
          <a:lstStyle/>
          <a:p>
            <a:pPr algn="ctr" indent="0" marL="0">
              <a:buNone/>
            </a:pPr>
            <a:r>
              <a:rPr lang="en-US" sz="2600" b="1" dirty="0">
                <a:solidFill>
                  <a:srgbClr val="2A9D8F"/>
                </a:solidFill>
                <a:latin typeface="Cambria" pitchFamily="34" charset="0"/>
                <a:ea typeface="Cambria" pitchFamily="34" charset="-122"/>
                <a:cs typeface="Cambria" pitchFamily="34" charset="-120"/>
              </a:rPr>
              <a:t>30.03</a:t>
            </a:r>
            <a:endParaRPr lang="en-US" sz="2600" dirty="0"/>
          </a:p>
        </p:txBody>
      </p:sp>
      <p:sp>
        <p:nvSpPr>
          <p:cNvPr id="20" name="Text 18"/>
          <p:cNvSpPr txBox="1"/>
          <p:nvPr/>
        </p:nvSpPr>
        <p:spPr>
          <a:xfrm>
            <a:off x="3310128" y="2852928"/>
            <a:ext cx="2386584" cy="31089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Transfer RMSE (kW), k=10</a:t>
            </a:r>
            <a:endParaRPr lang="en-US" sz="1150" dirty="0"/>
          </a:p>
        </p:txBody>
      </p:sp>
      <p:sp>
        <p:nvSpPr>
          <p:cNvPr id="21" name="Shape 19"/>
          <p:cNvSpPr/>
          <p:nvPr/>
        </p:nvSpPr>
        <p:spPr>
          <a:xfrm>
            <a:off x="5897880" y="2286000"/>
            <a:ext cx="2606040" cy="914400"/>
          </a:xfrm>
          <a:prstGeom prst="roundRect">
            <a:avLst>
              <a:gd name="adj" fmla="val 8000"/>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sp>
        <p:nvSpPr>
          <p:cNvPr id="22" name="Text 20"/>
          <p:cNvSpPr txBox="1"/>
          <p:nvPr/>
        </p:nvSpPr>
        <p:spPr>
          <a:xfrm>
            <a:off x="6007608" y="2395728"/>
            <a:ext cx="2386584" cy="502920"/>
          </a:xfrm>
          <a:prstGeom prst="rect">
            <a:avLst/>
          </a:prstGeom>
          <a:noFill/>
          <a:ln/>
        </p:spPr>
        <p:txBody>
          <a:bodyPr wrap="square" lIns="0" tIns="0" rIns="0" bIns="0" rtlCol="0" anchor="b"/>
          <a:lstStyle/>
          <a:p>
            <a:pPr algn="ctr" indent="0" marL="0">
              <a:buNone/>
            </a:pPr>
            <a:r>
              <a:rPr lang="en-US" sz="2600" b="1" dirty="0">
                <a:solidFill>
                  <a:srgbClr val="C0524A"/>
                </a:solidFill>
                <a:latin typeface="Cambria" pitchFamily="34" charset="0"/>
                <a:ea typeface="Cambria" pitchFamily="34" charset="-122"/>
                <a:cs typeface="Cambria" pitchFamily="34" charset="-120"/>
              </a:rPr>
              <a:t>184.17</a:t>
            </a:r>
            <a:endParaRPr lang="en-US" sz="2600" dirty="0"/>
          </a:p>
        </p:txBody>
      </p:sp>
      <p:sp>
        <p:nvSpPr>
          <p:cNvPr id="23" name="Text 21"/>
          <p:cNvSpPr txBox="1"/>
          <p:nvPr/>
        </p:nvSpPr>
        <p:spPr>
          <a:xfrm>
            <a:off x="6007608" y="2852928"/>
            <a:ext cx="2386584" cy="310896"/>
          </a:xfrm>
          <a:prstGeom prst="rect">
            <a:avLst/>
          </a:prstGeom>
          <a:noFill/>
          <a:ln/>
        </p:spPr>
        <p:txBody>
          <a:bodyPr wrap="square" lIns="0" tIns="0" rIns="0" bIns="0" rtlCol="0" anchor="t"/>
          <a:lstStyle/>
          <a:p>
            <a:pPr algn="ctr" indent="0" marL="0">
              <a:buNone/>
            </a:pPr>
            <a:r>
              <a:rPr lang="en-US" sz="1150" dirty="0">
                <a:solidFill>
                  <a:srgbClr val="5B6B7C"/>
                </a:solidFill>
                <a:latin typeface="Calibri" pitchFamily="34" charset="0"/>
                <a:ea typeface="Calibri" pitchFamily="34" charset="-122"/>
                <a:cs typeface="Calibri" pitchFamily="34" charset="-120"/>
              </a:rPr>
              <a:t>Zero-shot RMSE (kW)</a:t>
            </a:r>
            <a:endParaRPr lang="en-US" sz="1150" dirty="0"/>
          </a:p>
        </p:txBody>
      </p:sp>
      <p:sp>
        <p:nvSpPr>
          <p:cNvPr id="24" name="Text 22"/>
          <p:cNvSpPr txBox="1"/>
          <p:nvPr/>
        </p:nvSpPr>
        <p:spPr>
          <a:xfrm>
            <a:off x="502920" y="3429000"/>
            <a:ext cx="5532120" cy="9144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Transfer (fine-tuned) beat few-shot (fresh model) at every k tested — most at k=10</a:t>
            </a:r>
            <a:endParaRPr lang="en-US" sz="1300" dirty="0"/>
          </a:p>
        </p:txBody>
      </p:sp>
      <p:sp>
        <p:nvSpPr>
          <p:cNvPr id="25" name="Shape 23"/>
          <p:cNvSpPr/>
          <p:nvPr/>
        </p:nvSpPr>
        <p:spPr>
          <a:xfrm>
            <a:off x="502920" y="4160520"/>
            <a:ext cx="5532120" cy="2103120"/>
          </a:xfrm>
          <a:prstGeom prst="roundRect">
            <a:avLst>
              <a:gd name="adj" fmla="val 3478"/>
            </a:avLst>
          </a:prstGeom>
          <a:solidFill>
            <a:srgbClr val="C0524A"/>
          </a:solidFill>
          <a:ln/>
        </p:spPr>
      </p:sp>
      <p:sp>
        <p:nvSpPr>
          <p:cNvPr id="26" name="Text 24"/>
          <p:cNvSpPr txBox="1"/>
          <p:nvPr/>
        </p:nvSpPr>
        <p:spPr>
          <a:xfrm>
            <a:off x="685800" y="4315968"/>
            <a:ext cx="51663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Negative transfer DID occur — and was fixed</a:t>
            </a:r>
            <a:endParaRPr lang="en-US" sz="1350" dirty="0"/>
          </a:p>
        </p:txBody>
      </p:sp>
      <p:sp>
        <p:nvSpPr>
          <p:cNvPr id="27" name="Text 25"/>
          <p:cNvSpPr txBox="1"/>
          <p:nvPr/>
        </p:nvSpPr>
        <p:spPr>
          <a:xfrm>
            <a:off x="685800" y="4681728"/>
            <a:ext cx="5166360" cy="1463040"/>
          </a:xfrm>
          <a:prstGeom prst="rect">
            <a:avLst/>
          </a:prstGeom>
          <a:noFill/>
          <a:ln/>
        </p:spPr>
        <p:txBody>
          <a:bodyPr wrap="square" lIns="0" tIns="0" rIns="0" bIns="0" rtlCol="0" anchor="ctr"/>
          <a:lstStyle/>
          <a:p>
            <a:pPr indent="0" marL="0">
              <a:buNone/>
            </a:pPr>
            <a:r>
              <a:rPr lang="en-US" sz="1250" dirty="0">
                <a:solidFill>
                  <a:srgbClr val="FBEAE8"/>
                </a:solidFill>
                <a:latin typeface="Calibri" pitchFamily="34" charset="0"/>
                <a:ea typeface="Calibri" pitchFamily="34" charset="-122"/>
                <a:cs typeface="Calibri" pitchFamily="34" charset="-120"/>
              </a:rPr>
              <a:t>An early version, with too small a fine-tuning learning rate (the assignment's own suggested strategy), scored 140.9 kW at k=10 — WORSE than few-shot's 38.2 kW. Diagnosed: output stuck near Davis's scale. Fixed by matching the pretraining learning rate.</a:t>
            </a:r>
            <a:endParaRPr lang="en-US" sz="1250" dirty="0"/>
          </a:p>
        </p:txBody>
      </p:sp>
      <p:sp>
        <p:nvSpPr>
          <p:cNvPr id="28" name="Shape 26"/>
          <p:cNvSpPr/>
          <p:nvPr/>
        </p:nvSpPr>
        <p:spPr>
          <a:xfrm>
            <a:off x="6172200" y="3429000"/>
            <a:ext cx="5532120" cy="2834640"/>
          </a:xfrm>
          <a:prstGeom prst="roundRect">
            <a:avLst>
              <a:gd name="adj" fmla="val 1935"/>
            </a:avLst>
          </a:prstGeom>
          <a:solidFill>
            <a:srgbClr val="FFFFFF"/>
          </a:solidFill>
          <a:ln w="12700">
            <a:solidFill>
              <a:srgbClr val="E1E6EC"/>
            </a:solidFill>
            <a:prstDash val="solid"/>
          </a:ln>
          <a:effectLst>
            <a:outerShdw sx="100000" sy="100000" kx="0" ky="0" algn="bl" rotWithShape="0" blurRad="76200" dist="25400" dir="5400000">
              <a:srgbClr val="1A2B3C">
                <a:alpha val="12000"/>
              </a:srgbClr>
            </a:outerShdw>
          </a:effectLst>
        </p:spPr>
      </p:sp>
      <p:pic>
        <p:nvPicPr>
          <p:cNvPr id="29" name="Image 0" descr="/home/claude/ECE571_Project/figures/problem5/problem5_transfer_curve.png">    </p:cNvPr>
          <p:cNvPicPr>
            <a:picLocks noChangeAspect="1"/>
          </p:cNvPicPr>
          <p:nvPr/>
        </p:nvPicPr>
        <p:blipFill>
          <a:blip r:embed="rId1"/>
          <a:srcRect l="0" r="0" t="0" b="0"/>
          <a:stretch/>
        </p:blipFill>
        <p:spPr>
          <a:xfrm>
            <a:off x="6281928" y="3538728"/>
            <a:ext cx="5312664" cy="2267712"/>
          </a:xfrm>
          <a:prstGeom prst="rect">
            <a:avLst/>
          </a:prstGeom>
        </p:spPr>
      </p:pic>
      <p:sp>
        <p:nvSpPr>
          <p:cNvPr id="30" name="Text 27"/>
          <p:cNvSpPr txBox="1"/>
          <p:nvPr/>
        </p:nvSpPr>
        <p:spPr>
          <a:xfrm>
            <a:off x="6281928" y="5861304"/>
            <a:ext cx="5312664" cy="347472"/>
          </a:xfrm>
          <a:prstGeom prst="rect">
            <a:avLst/>
          </a:prstGeom>
          <a:noFill/>
          <a:ln/>
        </p:spPr>
        <p:txBody>
          <a:bodyPr wrap="square" lIns="0" tIns="0" rIns="0" bIns="0" rtlCol="0" anchor="ctr"/>
          <a:lstStyle/>
          <a:p>
            <a:pPr algn="ctr" indent="0" marL="0">
              <a:buNone/>
            </a:pPr>
            <a:r>
              <a:rPr lang="en-US" sz="1100" i="1" dirty="0">
                <a:solidFill>
                  <a:srgbClr val="5B6B7C"/>
                </a:solidFill>
                <a:latin typeface="Calibri" pitchFamily="34" charset="0"/>
                <a:ea typeface="Calibri" pitchFamily="34" charset="-122"/>
                <a:cs typeface="Calibri" pitchFamily="34" charset="-120"/>
              </a:rPr>
              <a:t>RMSE vs. Amherst labeled sample count</a:t>
            </a:r>
            <a:endParaRPr lang="en-US" sz="1100" dirty="0"/>
          </a:p>
        </p:txBody>
      </p:sp>
      <p:sp>
        <p:nvSpPr>
          <p:cNvPr id="31" name="Text 2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THE WHOLE PROJECT, AT A GLANCE</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Overall Results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4206240"/>
        </p:xfrm>
        <a:graphic>
          <a:graphicData uri="http://schemas.openxmlformats.org/drawingml/2006/table">
            <a:tbl>
              <a:tblPr/>
              <a:tblGrid>
                <a:gridCol w="2148840"/>
                <a:gridCol w="2331720"/>
                <a:gridCol w="2862072"/>
                <a:gridCol w="3840480"/>
              </a:tblGrid>
              <a:tr h="6858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Best Method</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Main Result</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Main Finding</a:t>
                      </a:r>
                      <a:endParaRPr lang="en-US" sz="130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132A46"/>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P1 — Classification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0.772 Bal. Acc. (Davis)</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 simple linear model beat every ensemble and neural net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P2 — Regression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RMSE 15.17 kW (R²=0.953)</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Strongest result in the entire project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P3 — Dimension Reduction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Raw features (no reduction)</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0.743 Bal. Acc. / RMSE 23.86 kW</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Compression hurt at every dimension tested</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P4 — Semi-Supervised</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Pseudo-labeling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Macro F1 ≈ 0.70 (all fractions)</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SSL gain ≈ 0 — labels correct, but redundant</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0F3F7"/>
                    </a:solidFill>
                  </a:tcPr>
                </a:tc>
              </a:tr>
              <a:tr h="68580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P5 — Transfer Learning</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Transfer (k=10)</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RMSE 30.03 kW (+21.4%)</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Transfer clearly helped, most when data was scarce</a:t>
                      </a:r>
                      <a:endParaRPr lang="en-US" sz="1250" dirty="0">
                        <a:latin typeface="Calibri" charset="0"/>
                        <a:ea typeface="Calibri" charset="0"/>
                        <a:cs typeface="Calibri" charset="0"/>
                      </a:endParaRPr>
                    </a:p>
                  </a:txBody>
                  <a:tcPr marL="91440" marR="91440" marT="45720" marB="45720" anchor="ctr">
                    <a:lnL w="9525" cap="flat" cmpd="sng" algn="ctr">
                      <a:solidFill>
                        <a:srgbClr val="E1E6EC"/>
                      </a:solidFill>
                      <a:prstDash val="solid"/>
                      <a:round/>
                      <a:headEnd type="none" w="med" len="med"/>
                      <a:tailEnd type="none" w="med" len="med"/>
                    </a:lnL>
                    <a:lnR w="9525" cap="flat" cmpd="sng" algn="ctr">
                      <a:solidFill>
                        <a:srgbClr val="E1E6EC"/>
                      </a:solidFill>
                      <a:prstDash val="solid"/>
                      <a:round/>
                      <a:headEnd type="none" w="med" len="med"/>
                      <a:tailEnd type="none" w="med" len="med"/>
                    </a:lnR>
                    <a:lnT w="9525" cap="flat" cmpd="sng" algn="ctr">
                      <a:solidFill>
                        <a:srgbClr val="E1E6EC"/>
                      </a:solidFill>
                      <a:prstDash val="solid"/>
                      <a:round/>
                      <a:headEnd type="none" w="med" len="med"/>
                      <a:tailEnd type="none" w="med" len="med"/>
                    </a:lnT>
                    <a:lnB w="9525" cap="flat" cmpd="sng" algn="ctr">
                      <a:solidFill>
                        <a:srgbClr val="E1E6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5943600"/>
            <a:ext cx="11183112" cy="502920"/>
          </a:xfrm>
          <a:prstGeom prst="rect">
            <a:avLst/>
          </a:prstGeom>
          <a:noFill/>
          <a:ln/>
        </p:spPr>
        <p:txBody>
          <a:bodyPr wrap="square" lIns="0" tIns="0" rIns="0" bIns="0" rtlCol="0" anchor="ctr"/>
          <a:lstStyle/>
          <a:p>
            <a:pPr indent="0" marL="0">
              <a:buNone/>
            </a:pPr>
            <a:r>
              <a:rPr lang="en-US" sz="1350" i="1" dirty="0">
                <a:solidFill>
                  <a:srgbClr val="5B6B7C"/>
                </a:solidFill>
                <a:latin typeface="Calibri" pitchFamily="34" charset="0"/>
                <a:ea typeface="Calibri" pitchFamily="34" charset="-122"/>
                <a:cs typeface="Calibri" pitchFamily="34" charset="-120"/>
              </a:rPr>
              <a:t>Metrics are NOT combined into one fake overall score — balanced accuracy and RMSE aren't comparable quantities.</a:t>
            </a:r>
            <a:endParaRPr lang="en-US" sz="1350" dirty="0"/>
          </a:p>
        </p:txBody>
      </p:sp>
      <p:sp>
        <p:nvSpPr>
          <p:cNvPr id="6" name="Text 3"/>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PULLING IT TOGETHER</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Most Important Findings</a:t>
            </a:r>
            <a:endParaRPr lang="en-US" sz="3000" dirty="0"/>
          </a:p>
        </p:txBody>
      </p:sp>
      <p:sp>
        <p:nvSpPr>
          <p:cNvPr id="4" name="Shape 2"/>
          <p:cNvSpPr/>
          <p:nvPr/>
        </p:nvSpPr>
        <p:spPr>
          <a:xfrm>
            <a:off x="502920" y="1554480"/>
            <a:ext cx="502920" cy="502920"/>
          </a:xfrm>
          <a:prstGeom prst="ellipse">
            <a:avLst/>
          </a:prstGeom>
          <a:solidFill>
            <a:srgbClr val="2A9D8F"/>
          </a:solidFill>
          <a:ln/>
        </p:spPr>
      </p:sp>
      <p:sp>
        <p:nvSpPr>
          <p:cNvPr id="5" name="Text 3"/>
          <p:cNvSpPr txBox="1"/>
          <p:nvPr/>
        </p:nvSpPr>
        <p:spPr>
          <a:xfrm>
            <a:off x="5029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88720" y="1527048"/>
            <a:ext cx="10058400" cy="41148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Same-city prediction was far easier than cross-city prediction</a:t>
            </a:r>
            <a:endParaRPr lang="en-US" sz="1500" dirty="0"/>
          </a:p>
        </p:txBody>
      </p:sp>
      <p:sp>
        <p:nvSpPr>
          <p:cNvPr id="7" name="Text 5"/>
          <p:cNvSpPr txBox="1"/>
          <p:nvPr/>
        </p:nvSpPr>
        <p:spPr>
          <a:xfrm>
            <a:off x="1188720" y="1938528"/>
            <a:ext cx="10058400" cy="4572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15–20 kW vs. ~125–184 kW RMSE — driven mainly by output-scale mismatch, not a failure to learn weather patterns</a:t>
            </a:r>
            <a:endParaRPr lang="en-US" sz="1250" dirty="0"/>
          </a:p>
        </p:txBody>
      </p:sp>
      <p:sp>
        <p:nvSpPr>
          <p:cNvPr id="8" name="Shape 6"/>
          <p:cNvSpPr/>
          <p:nvPr/>
        </p:nvSpPr>
        <p:spPr>
          <a:xfrm>
            <a:off x="502920" y="2651760"/>
            <a:ext cx="502920" cy="502920"/>
          </a:xfrm>
          <a:prstGeom prst="ellipse">
            <a:avLst/>
          </a:prstGeom>
          <a:solidFill>
            <a:srgbClr val="2A9D8F"/>
          </a:solidFill>
          <a:ln/>
        </p:spPr>
      </p:sp>
      <p:sp>
        <p:nvSpPr>
          <p:cNvPr id="9" name="Text 7"/>
          <p:cNvSpPr txBox="1"/>
          <p:nvPr/>
        </p:nvSpPr>
        <p:spPr>
          <a:xfrm>
            <a:off x="502920"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188720" y="2624328"/>
            <a:ext cx="10058400" cy="41148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A simple linear model beat every ensemble and neural net</a:t>
            </a:r>
            <a:endParaRPr lang="en-US" sz="1500" dirty="0"/>
          </a:p>
        </p:txBody>
      </p:sp>
      <p:sp>
        <p:nvSpPr>
          <p:cNvPr id="11" name="Text 9"/>
          <p:cNvSpPr txBox="1"/>
          <p:nvPr/>
        </p:nvSpPr>
        <p:spPr>
          <a:xfrm>
            <a:off x="1188720" y="3035808"/>
            <a:ext cx="10058400" cy="4572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Logistic regression won Problem 1's classification task at 0.772 balanced accuracy — added complexity didn't help here</a:t>
            </a:r>
            <a:endParaRPr lang="en-US" sz="1250" dirty="0"/>
          </a:p>
        </p:txBody>
      </p:sp>
      <p:sp>
        <p:nvSpPr>
          <p:cNvPr id="12" name="Shape 10"/>
          <p:cNvSpPr/>
          <p:nvPr/>
        </p:nvSpPr>
        <p:spPr>
          <a:xfrm>
            <a:off x="502920" y="3749040"/>
            <a:ext cx="502920" cy="502920"/>
          </a:xfrm>
          <a:prstGeom prst="ellipse">
            <a:avLst/>
          </a:prstGeom>
          <a:solidFill>
            <a:srgbClr val="C0524A"/>
          </a:solidFill>
          <a:ln/>
        </p:spPr>
      </p:sp>
      <p:sp>
        <p:nvSpPr>
          <p:cNvPr id="13" name="Text 11"/>
          <p:cNvSpPr txBox="1"/>
          <p:nvPr/>
        </p:nvSpPr>
        <p:spPr>
          <a:xfrm>
            <a:off x="502920" y="3749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188720" y="3721608"/>
            <a:ext cx="10058400" cy="41148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Semi-supervised learning did NOT help, even at 10% labels</a:t>
            </a:r>
            <a:endParaRPr lang="en-US" sz="1500" dirty="0"/>
          </a:p>
        </p:txBody>
      </p:sp>
      <p:sp>
        <p:nvSpPr>
          <p:cNvPr id="15" name="Text 13"/>
          <p:cNvSpPr txBox="1"/>
          <p:nvPr/>
        </p:nvSpPr>
        <p:spPr>
          <a:xfrm>
            <a:off x="1188720" y="4133088"/>
            <a:ext cx="10058400" cy="4572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Pseudo-labels were 100% accurate but redundant — reinforced the easy class instead of the hard one</a:t>
            </a:r>
            <a:endParaRPr lang="en-US" sz="1250" dirty="0"/>
          </a:p>
        </p:txBody>
      </p:sp>
      <p:sp>
        <p:nvSpPr>
          <p:cNvPr id="16" name="Shape 14"/>
          <p:cNvSpPr/>
          <p:nvPr/>
        </p:nvSpPr>
        <p:spPr>
          <a:xfrm>
            <a:off x="502920" y="4846320"/>
            <a:ext cx="502920" cy="502920"/>
          </a:xfrm>
          <a:prstGeom prst="ellipse">
            <a:avLst/>
          </a:prstGeom>
          <a:solidFill>
            <a:srgbClr val="2A9D8F"/>
          </a:solidFill>
          <a:ln/>
        </p:spPr>
      </p:sp>
      <p:sp>
        <p:nvSpPr>
          <p:cNvPr id="17" name="Text 15"/>
          <p:cNvSpPr txBox="1"/>
          <p:nvPr/>
        </p:nvSpPr>
        <p:spPr>
          <a:xfrm>
            <a:off x="502920" y="4846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188720" y="4818888"/>
            <a:ext cx="10058400" cy="411480"/>
          </a:xfrm>
          <a:prstGeom prst="rect">
            <a:avLst/>
          </a:prstGeom>
          <a:noFill/>
          <a:ln/>
        </p:spPr>
        <p:txBody>
          <a:bodyPr wrap="square" lIns="0" tIns="0" rIns="0" bIns="0" rtlCol="0" anchor="ctr"/>
          <a:lstStyle/>
          <a:p>
            <a:pPr indent="0" marL="0">
              <a:buNone/>
            </a:pPr>
            <a:r>
              <a:rPr lang="en-US" sz="1500" b="1" dirty="0">
                <a:solidFill>
                  <a:srgbClr val="132A46"/>
                </a:solidFill>
                <a:latin typeface="Calibri" pitchFamily="34" charset="0"/>
                <a:ea typeface="Calibri" pitchFamily="34" charset="-122"/>
                <a:cs typeface="Calibri" pitchFamily="34" charset="-120"/>
              </a:rPr>
              <a:t>Transfer learning clearly helped — but only after fixing a real bug</a:t>
            </a:r>
            <a:endParaRPr lang="en-US" sz="1500" dirty="0"/>
          </a:p>
        </p:txBody>
      </p:sp>
      <p:sp>
        <p:nvSpPr>
          <p:cNvPr id="19" name="Text 17"/>
          <p:cNvSpPr txBox="1"/>
          <p:nvPr/>
        </p:nvSpPr>
        <p:spPr>
          <a:xfrm>
            <a:off x="1188720" y="5230368"/>
            <a:ext cx="10058400" cy="4572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A learning-rate issue caused negative transfer during development; fixing it turned failure into a +21.4% win</a:t>
            </a:r>
            <a:endParaRPr lang="en-US" sz="1250" dirty="0"/>
          </a:p>
        </p:txBody>
      </p:sp>
      <p:sp>
        <p:nvSpPr>
          <p:cNvPr id="20" name="Text 1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02920" y="384048"/>
            <a:ext cx="9144000"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SCOPE</a:t>
            </a:r>
            <a:endParaRPr lang="en-US" sz="1300" dirty="0"/>
          </a:p>
        </p:txBody>
      </p:sp>
      <p:sp>
        <p:nvSpPr>
          <p:cNvPr id="3" name="Text 1"/>
          <p:cNvSpPr txBox="1"/>
          <p:nvPr/>
        </p:nvSpPr>
        <p:spPr>
          <a:xfrm>
            <a:off x="502920" y="676656"/>
            <a:ext cx="11155680" cy="640080"/>
          </a:xfrm>
          <a:prstGeom prst="rect">
            <a:avLst/>
          </a:prstGeom>
          <a:noFill/>
          <a:ln/>
        </p:spPr>
        <p:txBody>
          <a:bodyPr wrap="square" lIns="0" tIns="0" rIns="0" bIns="0" rtlCol="0" anchor="ctr"/>
          <a:lstStyle/>
          <a:p>
            <a:pPr indent="0" marL="0">
              <a:buNone/>
            </a:pPr>
            <a:r>
              <a:rPr lang="en-US" sz="3000" b="1" dirty="0">
                <a:solidFill>
                  <a:srgbClr val="132A46"/>
                </a:solidFill>
                <a:latin typeface="Cambria" pitchFamily="34" charset="0"/>
                <a:ea typeface="Cambria" pitchFamily="34" charset="-122"/>
                <a:cs typeface="Cambria" pitchFamily="34" charset="-120"/>
              </a:rPr>
              <a:t>Limitations &amp; Future Work</a:t>
            </a:r>
            <a:endParaRPr lang="en-US" sz="3000" dirty="0"/>
          </a:p>
        </p:txBody>
      </p:sp>
      <p:sp>
        <p:nvSpPr>
          <p:cNvPr id="4" name="Shape 2"/>
          <p:cNvSpPr/>
          <p:nvPr/>
        </p:nvSpPr>
        <p:spPr>
          <a:xfrm>
            <a:off x="502920" y="1463040"/>
            <a:ext cx="5440680" cy="4572000"/>
          </a:xfrm>
          <a:prstGeom prst="roundRect">
            <a:avLst>
              <a:gd name="adj" fmla="val 1600"/>
            </a:avLst>
          </a:prstGeom>
          <a:solidFill>
            <a:srgbClr val="FFFFFF"/>
          </a:solidFill>
          <a:ln w="12700">
            <a:solidFill>
              <a:srgbClr val="E1E6EC"/>
            </a:solidFill>
            <a:prstDash val="solid"/>
          </a:ln>
        </p:spPr>
      </p:sp>
      <p:sp>
        <p:nvSpPr>
          <p:cNvPr id="5" name="Text 3"/>
          <p:cNvSpPr txBox="1"/>
          <p:nvPr/>
        </p:nvSpPr>
        <p:spPr>
          <a:xfrm>
            <a:off x="731520" y="1691640"/>
            <a:ext cx="5029200" cy="365760"/>
          </a:xfrm>
          <a:prstGeom prst="rect">
            <a:avLst/>
          </a:prstGeom>
          <a:noFill/>
          <a:ln/>
        </p:spPr>
        <p:txBody>
          <a:bodyPr wrap="square" lIns="0" tIns="0" rIns="0" bIns="0" rtlCol="0" anchor="ctr"/>
          <a:lstStyle/>
          <a:p>
            <a:pPr indent="0" marL="0">
              <a:buNone/>
            </a:pPr>
            <a:r>
              <a:rPr lang="en-US" sz="1600" b="1" dirty="0">
                <a:solidFill>
                  <a:srgbClr val="C0524A"/>
                </a:solidFill>
                <a:latin typeface="Calibri" pitchFamily="34" charset="0"/>
                <a:ea typeface="Calibri" pitchFamily="34" charset="-122"/>
                <a:cs typeface="Calibri" pitchFamily="34" charset="-120"/>
              </a:rPr>
              <a:t>Limitations</a:t>
            </a:r>
            <a:endParaRPr lang="en-US" sz="1600" dirty="0"/>
          </a:p>
        </p:txBody>
      </p:sp>
      <p:sp>
        <p:nvSpPr>
          <p:cNvPr id="6" name="Text 4"/>
          <p:cNvSpPr txBox="1"/>
          <p:nvPr/>
        </p:nvSpPr>
        <p:spPr>
          <a:xfrm>
            <a:off x="731520" y="2148840"/>
            <a:ext cx="4983480" cy="374904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Mid-day-only data (10:00–15:00) — no nighttime behavior covered</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Only 5 cities, and only one transfer-learning source/target pair tested</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City-specific PV plant scale is a recurring complication, not a solved problem</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Amherst has only 3 years of data vs. 6 for the other cities</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Deliberately small hyperparameter searches (3–5 options) throughout</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No GPU during development — all models trained on CPU</a:t>
            </a:r>
            <a:endParaRPr lang="en-US" sz="1350" dirty="0"/>
          </a:p>
        </p:txBody>
      </p:sp>
      <p:sp>
        <p:nvSpPr>
          <p:cNvPr id="7" name="Shape 5"/>
          <p:cNvSpPr/>
          <p:nvPr/>
        </p:nvSpPr>
        <p:spPr>
          <a:xfrm>
            <a:off x="6245352" y="1463040"/>
            <a:ext cx="5440680" cy="4572000"/>
          </a:xfrm>
          <a:prstGeom prst="roundRect">
            <a:avLst>
              <a:gd name="adj" fmla="val 1600"/>
            </a:avLst>
          </a:prstGeom>
          <a:solidFill>
            <a:srgbClr val="FFFFFF"/>
          </a:solidFill>
          <a:ln w="12700">
            <a:solidFill>
              <a:srgbClr val="E1E6EC"/>
            </a:solidFill>
            <a:prstDash val="solid"/>
          </a:ln>
        </p:spPr>
      </p:sp>
      <p:sp>
        <p:nvSpPr>
          <p:cNvPr id="8" name="Text 6"/>
          <p:cNvSpPr txBox="1"/>
          <p:nvPr/>
        </p:nvSpPr>
        <p:spPr>
          <a:xfrm>
            <a:off x="6473952" y="1691640"/>
            <a:ext cx="5029200" cy="365760"/>
          </a:xfrm>
          <a:prstGeom prst="rect">
            <a:avLst/>
          </a:prstGeom>
          <a:noFill/>
          <a:ln/>
        </p:spPr>
        <p:txBody>
          <a:bodyPr wrap="square" lIns="0" tIns="0" rIns="0" bIns="0" rtlCol="0" anchor="ctr"/>
          <a:lstStyle/>
          <a:p>
            <a:pPr indent="0" marL="0">
              <a:buNone/>
            </a:pPr>
            <a:r>
              <a:rPr lang="en-US" sz="1600" b="1" dirty="0">
                <a:solidFill>
                  <a:srgbClr val="2A9D8F"/>
                </a:solidFill>
                <a:latin typeface="Calibri" pitchFamily="34" charset="0"/>
                <a:ea typeface="Calibri" pitchFamily="34" charset="-122"/>
                <a:cs typeface="Calibri" pitchFamily="34" charset="-120"/>
              </a:rPr>
              <a:t>Future Work  (not yet completed)</a:t>
            </a:r>
            <a:endParaRPr lang="en-US" sz="1600" dirty="0"/>
          </a:p>
        </p:txBody>
      </p:sp>
      <p:sp>
        <p:nvSpPr>
          <p:cNvPr id="9" name="Text 7"/>
          <p:cNvSpPr txBox="1"/>
          <p:nvPr/>
        </p:nvSpPr>
        <p:spPr>
          <a:xfrm>
            <a:off x="6473952" y="2148840"/>
            <a:ext cx="4983480" cy="374904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Additional cities for transfer learning (Huron, Santa Barbara, La Jolla — currently zero-shot only)</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A larger hyperparameter search now that working baselines exist</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Longer forecasting horizons and real weather-forecast inputs, not just historical readings</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More sophisticated temporal models for the sequence-forecasting sub-task</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Better domain adaptation for cross-city scale differences</a:t>
            </a:r>
            <a:endParaRPr lang="en-US" sz="1350" dirty="0"/>
          </a:p>
          <a:p>
            <a:pPr marL="228600" indent="-228600">
              <a:spcAft>
                <a:spcPts val="1200"/>
              </a:spcAft>
              <a:buSzPct val="100000"/>
              <a:buChar char="•"/>
            </a:pPr>
            <a:r>
              <a:rPr lang="en-US" sz="1350" dirty="0">
                <a:solidFill>
                  <a:srgbClr val="1A1A1A"/>
                </a:solidFill>
                <a:latin typeface="Calibri" pitchFamily="34" charset="0"/>
                <a:ea typeface="Calibri" pitchFamily="34" charset="-122"/>
                <a:cs typeface="Calibri" pitchFamily="34" charset="-120"/>
              </a:rPr>
              <a:t>Uncertainty estimation alongside point predictions</a:t>
            </a:r>
            <a:endParaRPr lang="en-US" sz="1350" dirty="0"/>
          </a:p>
        </p:txBody>
      </p:sp>
      <p:sp>
        <p:nvSpPr>
          <p:cNvPr id="10" name="Text 8"/>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6"/>
        </a:solidFill>
      </p:bgPr>
    </p:bg>
    <p:spTree>
      <p:nvGrpSpPr>
        <p:cNvPr id="1" name=""/>
        <p:cNvGrpSpPr/>
        <p:nvPr/>
      </p:nvGrpSpPr>
      <p:grpSpPr>
        <a:xfrm>
          <a:off x="0" y="0"/>
          <a:ext cx="0" cy="0"/>
          <a:chOff x="0" y="0"/>
          <a:chExt cx="0" cy="0"/>
        </a:xfrm>
      </p:grpSpPr>
      <p:sp>
        <p:nvSpPr>
          <p:cNvPr id="2" name="Shape 0"/>
          <p:cNvSpPr/>
          <p:nvPr/>
        </p:nvSpPr>
        <p:spPr>
          <a:xfrm>
            <a:off x="9418320" y="-1188720"/>
            <a:ext cx="4206240" cy="4206240"/>
          </a:xfrm>
          <a:prstGeom prst="ellipse">
            <a:avLst/>
          </a:prstGeom>
          <a:solidFill>
            <a:srgbClr val="24466E"/>
          </a:solidFill>
          <a:ln/>
        </p:spPr>
      </p:sp>
      <p:sp>
        <p:nvSpPr>
          <p:cNvPr id="3" name="Shape 1"/>
          <p:cNvSpPr/>
          <p:nvPr/>
        </p:nvSpPr>
        <p:spPr>
          <a:xfrm>
            <a:off x="9966960" y="-640080"/>
            <a:ext cx="3108960" cy="3108960"/>
          </a:xfrm>
          <a:prstGeom prst="ellipse">
            <a:avLst/>
          </a:prstGeom>
          <a:solidFill>
            <a:srgbClr val="3A5A82"/>
          </a:solidFill>
          <a:ln/>
        </p:spPr>
      </p:sp>
      <p:sp>
        <p:nvSpPr>
          <p:cNvPr id="4" name="Shape 2"/>
          <p:cNvSpPr/>
          <p:nvPr/>
        </p:nvSpPr>
        <p:spPr>
          <a:xfrm>
            <a:off x="10515600" y="-91440"/>
            <a:ext cx="2011680" cy="2011680"/>
          </a:xfrm>
          <a:prstGeom prst="ellipse">
            <a:avLst/>
          </a:prstGeom>
          <a:solidFill>
            <a:srgbClr val="F5A623"/>
          </a:solidFill>
          <a:ln/>
        </p:spPr>
      </p:sp>
      <p:sp>
        <p:nvSpPr>
          <p:cNvPr id="5" name="Text 3"/>
          <p:cNvSpPr txBox="1"/>
          <p:nvPr/>
        </p:nvSpPr>
        <p:spPr>
          <a:xfrm>
            <a:off x="502920" y="502920"/>
            <a:ext cx="9144000" cy="320040"/>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CONCLUSION</a:t>
            </a:r>
            <a:endParaRPr lang="en-US" sz="1300" dirty="0"/>
          </a:p>
        </p:txBody>
      </p:sp>
      <p:sp>
        <p:nvSpPr>
          <p:cNvPr id="6" name="Shape 4"/>
          <p:cNvSpPr/>
          <p:nvPr/>
        </p:nvSpPr>
        <p:spPr>
          <a:xfrm>
            <a:off x="502920" y="1051560"/>
            <a:ext cx="11183112" cy="1234440"/>
          </a:xfrm>
          <a:prstGeom prst="roundRect">
            <a:avLst>
              <a:gd name="adj" fmla="val 5926"/>
            </a:avLst>
          </a:prstGeom>
          <a:solidFill>
            <a:srgbClr val="24466E"/>
          </a:solidFill>
          <a:ln/>
        </p:spPr>
      </p:sp>
      <p:sp>
        <p:nvSpPr>
          <p:cNvPr id="7" name="Text 5"/>
          <p:cNvSpPr txBox="1"/>
          <p:nvPr/>
        </p:nvSpPr>
        <p:spPr>
          <a:xfrm>
            <a:off x="777240" y="1207008"/>
            <a:ext cx="10607040" cy="914400"/>
          </a:xfrm>
          <a:prstGeom prst="rect">
            <a:avLst/>
          </a:prstGeom>
          <a:noFill/>
          <a:ln/>
        </p:spPr>
        <p:txBody>
          <a:bodyPr wrap="square" lIns="0" tIns="0" rIns="0" bIns="0"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“Machine learning can predict PV output effectively within a city, but cross-city domain shift remains a major challenge — one that fine-tuning can address, but naive transfer cannot.”</a:t>
            </a:r>
            <a:endParaRPr lang="en-US" sz="1600" dirty="0"/>
          </a:p>
        </p:txBody>
      </p:sp>
      <p:sp>
        <p:nvSpPr>
          <p:cNvPr id="8" name="Text 6"/>
          <p:cNvSpPr txBox="1"/>
          <p:nvPr/>
        </p:nvSpPr>
        <p:spPr>
          <a:xfrm>
            <a:off x="502920" y="2606040"/>
            <a:ext cx="3017520" cy="45720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Strongest result:</a:t>
            </a:r>
            <a:endParaRPr lang="en-US" sz="1450" dirty="0"/>
          </a:p>
        </p:txBody>
      </p:sp>
      <p:sp>
        <p:nvSpPr>
          <p:cNvPr id="9" name="Text 7"/>
          <p:cNvSpPr txBox="1"/>
          <p:nvPr/>
        </p:nvSpPr>
        <p:spPr>
          <a:xfrm>
            <a:off x="3611880" y="2606040"/>
            <a:ext cx="8046720" cy="54864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Davis same-city regression — RMSE = 15.17 kW, R² = 0.953</a:t>
            </a:r>
            <a:endParaRPr lang="en-US" sz="1450" dirty="0"/>
          </a:p>
        </p:txBody>
      </p:sp>
      <p:sp>
        <p:nvSpPr>
          <p:cNvPr id="10" name="Text 8"/>
          <p:cNvSpPr txBox="1"/>
          <p:nvPr/>
        </p:nvSpPr>
        <p:spPr>
          <a:xfrm>
            <a:off x="502920" y="3383280"/>
            <a:ext cx="3017520" cy="45720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Most interesting finding:</a:t>
            </a:r>
            <a:endParaRPr lang="en-US" sz="1450" dirty="0"/>
          </a:p>
        </p:txBody>
      </p:sp>
      <p:sp>
        <p:nvSpPr>
          <p:cNvPr id="11" name="Text 9"/>
          <p:cNvSpPr txBox="1"/>
          <p:nvPr/>
        </p:nvSpPr>
        <p:spPr>
          <a:xfrm>
            <a:off x="3611880" y="3383280"/>
            <a:ext cx="8046720" cy="54864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The Problem 5 learning-rate story — one hyperparameter separated failure from a +21.4% win</a:t>
            </a:r>
            <a:endParaRPr lang="en-US" sz="1450" dirty="0"/>
          </a:p>
        </p:txBody>
      </p:sp>
      <p:sp>
        <p:nvSpPr>
          <p:cNvPr id="12" name="Text 10"/>
          <p:cNvSpPr txBox="1"/>
          <p:nvPr/>
        </p:nvSpPr>
        <p:spPr>
          <a:xfrm>
            <a:off x="502920" y="4160520"/>
            <a:ext cx="3017520" cy="457200"/>
          </a:xfrm>
          <a:prstGeom prst="rect">
            <a:avLst/>
          </a:prstGeom>
          <a:noFill/>
          <a:ln/>
        </p:spPr>
        <p:txBody>
          <a:bodyPr wrap="square" lIns="0" tIns="0" rIns="0" bIns="0" rtlCol="0" anchor="ctr"/>
          <a:lstStyle/>
          <a:p>
            <a:pPr indent="0" marL="0">
              <a:buNone/>
            </a:pPr>
            <a:r>
              <a:rPr lang="en-US" sz="1450" b="1" dirty="0">
                <a:solidFill>
                  <a:srgbClr val="F5A623"/>
                </a:solidFill>
                <a:latin typeface="Calibri" pitchFamily="34" charset="0"/>
                <a:ea typeface="Calibri" pitchFamily="34" charset="-122"/>
                <a:cs typeface="Calibri" pitchFamily="34" charset="-120"/>
              </a:rPr>
              <a:t>Biggest limitation:</a:t>
            </a:r>
            <a:endParaRPr lang="en-US" sz="1450" dirty="0"/>
          </a:p>
        </p:txBody>
      </p:sp>
      <p:sp>
        <p:nvSpPr>
          <p:cNvPr id="13" name="Text 11"/>
          <p:cNvSpPr txBox="1"/>
          <p:nvPr/>
        </p:nvSpPr>
        <p:spPr>
          <a:xfrm>
            <a:off x="3611880" y="4160520"/>
            <a:ext cx="8046720" cy="548640"/>
          </a:xfrm>
          <a:prstGeom prst="rect">
            <a:avLst/>
          </a:prstGeom>
          <a:noFill/>
          <a:ln/>
        </p:spPr>
        <p:txBody>
          <a:bodyPr wrap="square" lIns="0" tIns="0" rIns="0" bIns="0" rtlCol="0" anchor="ctr"/>
          <a:lstStyle/>
          <a:p>
            <a:pPr indent="0" marL="0">
              <a:buNone/>
            </a:pPr>
            <a:r>
              <a:rPr lang="en-US" sz="1450" dirty="0">
                <a:solidFill>
                  <a:srgbClr val="E7ECF2"/>
                </a:solidFill>
                <a:latin typeface="Calibri" pitchFamily="34" charset="0"/>
                <a:ea typeface="Calibri" pitchFamily="34" charset="-122"/>
                <a:cs typeface="Calibri" pitchFamily="34" charset="-120"/>
              </a:rPr>
              <a:t>Deliberately small hyperparameter searches throughout — never confirmed against a larger search</a:t>
            </a:r>
            <a:endParaRPr lang="en-US" sz="1450" dirty="0"/>
          </a:p>
        </p:txBody>
      </p:sp>
      <p:sp>
        <p:nvSpPr>
          <p:cNvPr id="14" name="Shape 12"/>
          <p:cNvSpPr/>
          <p:nvPr/>
        </p:nvSpPr>
        <p:spPr>
          <a:xfrm>
            <a:off x="502920" y="5212080"/>
            <a:ext cx="11183112" cy="0"/>
          </a:xfrm>
          <a:prstGeom prst="line">
            <a:avLst/>
          </a:prstGeom>
          <a:noFill/>
          <a:ln w="12700">
            <a:solidFill>
              <a:srgbClr val="3A5A82"/>
            </a:solidFill>
            <a:prstDash val="solid"/>
          </a:ln>
        </p:spPr>
      </p:sp>
      <p:sp>
        <p:nvSpPr>
          <p:cNvPr id="15" name="Text 13"/>
          <p:cNvSpPr txBox="1"/>
          <p:nvPr/>
        </p:nvSpPr>
        <p:spPr>
          <a:xfrm>
            <a:off x="502920" y="5440680"/>
            <a:ext cx="11183112" cy="82296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Whether an advanced ML technique helps has to be tested directly, not assumed — and that's the real finding of this project.</a:t>
            </a:r>
            <a:endParaRPr lang="en-US" sz="1700" dirty="0"/>
          </a:p>
        </p:txBody>
      </p:sp>
      <p:sp>
        <p:nvSpPr>
          <p:cNvPr id="16" name="Text 14"/>
          <p:cNvSpPr txBox="1"/>
          <p:nvPr/>
        </p:nvSpPr>
        <p:spPr>
          <a:xfrm>
            <a:off x="11548872" y="6446520"/>
            <a:ext cx="365760" cy="274320"/>
          </a:xfrm>
          <a:prstGeom prst="rect">
            <a:avLst/>
          </a:prstGeom>
          <a:noFill/>
          <a:ln/>
        </p:spPr>
        <p:txBody>
          <a:bodyPr wrap="square" lIns="0" tIns="0" rIns="0" bIns="0" rtlCol="0" anchor="ctr"/>
          <a:lstStyle/>
          <a:p>
            <a:pPr algn="r" indent="0" marL="0">
              <a:buNone/>
            </a:pPr>
            <a:r>
              <a:rPr lang="en-US" sz="1000" dirty="0">
                <a:solidFill>
                  <a:srgbClr val="8F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ECE571 Machine Learning Course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Photovoltaic (Solar) Power Prediction on Large-Scale Spatiotemporal Data</dc:title>
  <dc:subject>PptxGenJS Presentation</dc:subject>
  <dc:creator>ECE571 Student</dc:creator>
  <cp:lastModifiedBy>ECE571 Student</cp:lastModifiedBy>
  <cp:revision>1</cp:revision>
  <dcterms:created xsi:type="dcterms:W3CDTF">2026-09-15T23:50:05Z</dcterms:created>
  <dcterms:modified xsi:type="dcterms:W3CDTF">2026-09-15T23:50:05Z</dcterms:modified>
</cp:coreProperties>
</file>