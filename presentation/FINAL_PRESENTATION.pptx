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A46"/>
                </a:solidFill>
                <a:latin typeface="Calibri"/>
              </a:defRPr>
            </a:pPr>
            <a:r>
              <a:rPr sz="1300" b="0" i="0" u="none" strike="noStrike">
                <a:solidFill>
                  <a:srgbClr val="132A46"/>
                </a:solidFill>
                <a:latin typeface="Calibri"/>
              </a:rPr>
              <a:t>Fine-tuning RMSE, k=10, seed=42 (diagnostic)</a:t>
            </a:r>
          </a:p>
        </c:rich>
      </c:tx>
      <c:layout/>
      <c:overlay val="0"/>
    </c:title>
    <c:autoTitleDeleted val="0"/>
    <c:plotArea>
      <c:layout/>
      <c:barChart>
        <c:barDir val="col"/>
        <c:grouping val="clustered"/>
        <c:varyColors val="0"/>
        <c:ser>
          <c:idx val="0"/>
          <c:order val="0"/>
          <c:tx>
            <c:strRef>
              <c:f>Sheet1!$B$1</c:f>
              <c:strCache>
                <c:ptCount val="1"/>
                <c:pt idx="0">
                  <c:v>RMSE at k=10 (kW)</c:v>
                </c:pt>
              </c:strCache>
            </c:strRef>
          </c:tx>
          <c:spPr>
            <a:solidFill>
              <a:srgbClr val="C0524A"/>
            </a:solidFill>
            <a:effectLst/>
          </c:spPr>
          <c:invertIfNegative val="0"/>
          <c:dLbls>
            <c:numFmt formatCode="#,##0"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C0524A"/>
              </a:solidFill>
              <a:effectLst/>
            </c:spPr>
          </c:dPt>
          <c:dPt>
            <c:idx val="1"/>
            <c:invertIfNegative val="0"/>
            <c:bubble3D val="0"/>
            <c:spPr>
              <a:solidFill>
                <a:srgbClr val="2A9D8F"/>
              </a:solidFill>
              <a:effectLst/>
            </c:spPr>
          </c:dPt>
          <c:dPt>
            <c:idx val="2"/>
            <c:invertIfNegative val="0"/>
            <c:bubble3D val="0"/>
            <c:spPr>
              <a:solidFill>
                <a:srgbClr val="5B6B7C"/>
              </a:solidFill>
              <a:effectLst/>
            </c:spPr>
          </c:dPt>
          <c:cat>
            <c:multiLvlStrRef>
              <c:f>Sheet1!$A$2:$A$4</c:f>
              <c:multiLvlStrCache>
                <c:ptCount val="3"/>
                <c:lvl>
                  <c:pt idx="0">
                    <c:v>Too-small LR
(1e-4)</c:v>
                  </c:pt>
                  <c:pt idx="1">
                    <c:v>Matched LR
(1e-3)</c:v>
                  </c:pt>
                  <c:pt idx="2">
                    <c:v>Few-shot
baseline</c:v>
                  </c:pt>
                </c:lvl>
              </c:multiLvlStrCache>
            </c:multiLvlStrRef>
          </c:cat>
          <c:val>
            <c:numRef>
              <c:f>Sheet1!$B$2:$B$4</c:f>
              <c:numCache>
                <c:formatCode>General</c:formatCode>
                <c:ptCount val="3"/>
                <c:pt idx="0">
                  <c:v>140.9</c:v>
                </c:pt>
                <c:pt idx="1">
                  <c:v>27.2</c:v>
                </c:pt>
                <c:pt idx="2">
                  <c:v>38.2</c:v>
                </c:pt>
              </c:numCache>
            </c:numRef>
          </c:val>
        </c:ser>
        <c:dLbls>
          <c:numFmt formatCode="#,##0"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A1A1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going to walk you through my ECE571 project: predicting solar power output using five different machine learning approaches on the same dataset. Rather than treating this as five separate assignments, I tried to tell one coherent story about what actually helps when you're trying to forecast photovoltaic power — and, just as importantly, what doesn't. Let's start with why this problem matters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 power is different from a fossil-fuel plant because you can't just turn it up when you need more — the sun decides. That intermittency creates real problems: grid operators need to know how much power is coming so they can plan other generation, storage systems need forecasts to know when to charge or discharge, and utilities planning a brand-new site often have little or no historical data to work with. All three of those are fundamentally the same machine learning problem — relate weather to power output — just with different amounts of data available. That's the thread connecting all five parts of this project. Next, let's look at the actual dataset I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dataset: five cities, mostly six years of data at 30-minute intervals, 22 columns covering irradiance, weather, cloud type, and Output Power. The big number on the right — Davis's plant produces roughly three and a half times the average output of the smallest city. That's not a data quality issue, just different plant sizes, but it matters enormously later when I compare or transfer between cities. And because this is time-series data, every experiment splits chronologically — train on the earliest eighty percent, test on the most recent twenty — never a random shuffle, since that would let the model peek into the future. Now, the overall pipeline I built to run all five ML problems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build five separate one-off pipelines, I built one shared framework: load the raw Excel data, clean it, engineer features like the clear-sky index and cyclical time encodings, split chronologically, scale and encode — fitting only on training data — then train and evaluate. That one pipeline feeds all five ML paradigms you see at the bottom: classification, regression — the core task — dimension reduction, semi-supervised learning, and transfer learning. Building it this way meant every paradigm was tested under the exact same leakage-prevention rules, so comparisons between them are fair. Let's go through each one, starting with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problem is classification: predict whether the sky is Clear, Partly Cloudy, or Overcast, using weather features. Important detail — I deliberately excluded GHI and related irradiance columns, because the label itself is DEFINED by GHI divided by clear-sky GHI, so including them would just be leaking the answer. The best model here, at 0.772 balanced accuracy, was actually plain logistic regression with class weighting — not a random forest or neural network. Looking at the confusion matrix on the right, Clear conditions are easy to identify, but Partly Cloudy is the hardest class, because it sits on the boundary between the other two — it gets confused with both neighbors instead of having one dominant failure mode. That's a pattern that shows up again later. Next, the core task of the project: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project's core task: predict actual Output Power in kilowatts. Gradient boosting on Davis's own data was the strongest result in the whole project — fifteen kilowatts of RMSE, an R-squared of point nine five three, meaning it explains ninety-five percent of the variance using just weather and irradiance. You can see that in the scatter plot on the right — points cluster tightly around the perfect-prediction line. Two other things worth mentioning quickly: applying the Davis model directly to other cities without any adaptation failed badly, RMSE around 125 kilowatts — but that's mostly a scale problem I'll come back to in problem five. And a GRU sequence model, predicting the next reading from the previous twelve, clearly beat a naive persistence baseline, so it's learning real temporal structure. Now — did compressing the feature space help or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three asks: can I compress this feature space without hurting the tasks that depend on it? I tried PCA — the classical, linear method — and a small autoencoder — the deep, nonlinear method — at three latent sizes, fit with zero access to any label. The chart on the left is the honest answer: raw, uncompressed features beat every reduced version, at every dimension, on both tasks. That surprised me going in. The autoencoder did consistently beat PCA, since it can learn curved compressions instead of just straight lines — but neither closed the gap with using everything. I traced part of this to Cloud Type, one of the most useful individual predictors, which doesn't compress well into a handful of continuous numbers. Next: what if you barely have any labels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semi-supervised learning, I hid most of Davis's sky-condition labels — down to as few as ten percent — and tested whether pseudo-labeling, where the model labels the unlabeled data itself when confident enough, could beat just training on the small labeled set alone. The honest answer, shown in that curve, is no — the two lines are essentially on top of each other, slightly negative at every label fraction, not just the smallest. I checked WHY, using the hidden true labels purely as a diagnostic after training was already finished. The pseudo-labels were completely accurate, a hundred percent — but ninety-eight percent of the first batch were the same, easy "Clear" class. So the method wasn't adding wrong information, it was adding redundant information. Now, the last paradigm: what if a whole different city could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paradigm: can Davis, with six years of data, help Amherst, which only has three? I tested three approaches on Amherst's held-out test set: zero-shot, the Davis model applied directly with no Amherst training at all; few-shot, a fresh model trained only on a handful of Amherst samples; and transfer, the Davis-pretrained model fine-tuned on that same handful. Zero-shot failed badly, same scale problem as before. But transfer clearly beat training from scratch at every sample count, and the gain was biggest exactly where it matters most — just ten samples, a twenty-one percent improvement in RMSE. I'll be upfront: my first version of this experiment actually made things worse, because I used too small a learning rate during fine-tuning — I'll explain exactly what happened on the next slide, since it's the most interesting finding in the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whole project in one place. Two paradigms clearly helped — plain supervised learning was strong throughout, and transfer learning gave a real, meaningful boost when Amherst data was scarce. Two paradigms did NOT help, and I want to be upfront about that rather than bury it — dimension reduction hurt performance at every size I tried, and semi-supervised learning's gain was essentially zero. I think that mix is actually the most honest and most useful outcome a project like this can produce — it tells you which techniques are worth reaching for on this kind of problem, and which aren't, based on real evidence instead of assuming every advanced technique automatically helps. Let's dig into the single most interesting result — one that almost didn't turn out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single most interesting thing I found in this project. My very first version of transfer learning used a smaller learning rate for fine-tuning than for pretraining — actually what the assignment itself suggested as a reasonable strategy. With that setup, transfer learning was WORSE than training from scratch on the same ten samples — 140.9 kilowatts of RMSE versus 38.2. That's negative transfer. Instead of accepting that number, I checked what the model was actually predicting, and found its average output was stuck near Davis's scale — about 164 kilowatts — because the learning rate was too small to shift it down to Amherst's roughly 64 kilowatt scale in time. Matching the fine-tuning learning rate to the pretraining rate instead dropped RMSE to 27.2, and transfer clearly won. That one hyperparameter was the entire difference between failure and success. Now, a real failure I want to walk through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slide specifically on what didn't work, because that's just as important as the successes. The clearest failure is dimension reduction — compressing the feature space hurt performance on both classification and regression, at every size I tried, even when keeping ninety-five percent of the variance. I traced it to Cloud Type specifically: categorical, and one of the most useful individual features I have, but it doesn't survive being squeezed into a handful of continuous numbers. I proved this by removing it from the compression step and watching both reconstruction quality and downstream accuracy get worse, even though explained variance technically went UP. The bigger lesson: "compression is basically free" is an assumption you have to test, not assume. Problem four's SSL result is a different flavor of failure — redundant, not wrong — worth distinguishing. Let's talk about the project's limitations more broadly.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the honest limitations: five cities and mostly six years of data is enough to demonstrate these methods, but not enough to claim they generalize broadly. The different plant scales across cities kept showing up as a complication I had to work around, not something I fully solved. I kept hyperparameter searches deliberately small throughout, and there was no GPU available during development, though the code will use one automatically if run on GPU hardware. For future work, the most natural next steps are a larger hyperparameter search now that I have working baselines, digging into that Wind Speed anomaly I flagged rather than just noting it, and extending the transfer-learning approach to the other data-scarce cities that were only tested zero-shot in problem two. Let's wrap up with the big-picture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five takeaways. First, PV output can be predicted very effectively from weather and irradiance alone — an R-squared of point nine five three is strong by any standard. Second, the five ML paradigms genuinely behaved differently — there's no single technique that's universally best. Third, cross-city transfer is possible, but only once you handle the output-scale mismatch explicitly — raw zero-shot transfer failed everywhere I tried it. Fourth, transfer learning helped substantially here, while semi-supervised learning essentially didn't — two techniques that sound similar in spirit but produced opposite results. And fifth, maybe the most important lesson: understanding WHY something failed — a learning rate, a categorical feature, a redundant pseudo-label — was at least as valuable as the headline numbers themselves. That's the project.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 I'm glad to answer questions about any of the five problems, the dataset, the leakage-prevention setup, or the reproducibility checks I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6"/>
        </a:solidFill>
      </p:bgPr>
    </p:bg>
    <p:spTree>
      <p:nvGrpSpPr>
        <p:cNvPr id="1" name=""/>
        <p:cNvGrpSpPr/>
        <p:nvPr/>
      </p:nvGrpSpPr>
      <p:grpSpPr>
        <a:xfrm>
          <a:off x="0" y="0"/>
          <a:ext cx="0" cy="0"/>
          <a:chOff x="0" y="0"/>
          <a:chExt cx="0" cy="0"/>
        </a:xfrm>
      </p:grpSpPr>
      <p:sp>
        <p:nvSpPr>
          <p:cNvPr id="2" name="Shape 0"/>
          <p:cNvSpPr/>
          <p:nvPr/>
        </p:nvSpPr>
        <p:spPr>
          <a:xfrm>
            <a:off x="9418320" y="-1188720"/>
            <a:ext cx="4206240" cy="4206240"/>
          </a:xfrm>
          <a:prstGeom prst="ellipse">
            <a:avLst/>
          </a:prstGeom>
          <a:solidFill>
            <a:srgbClr val="24466E"/>
          </a:solidFill>
          <a:ln/>
        </p:spPr>
      </p:sp>
      <p:sp>
        <p:nvSpPr>
          <p:cNvPr id="3" name="Shape 1"/>
          <p:cNvSpPr/>
          <p:nvPr/>
        </p:nvSpPr>
        <p:spPr>
          <a:xfrm>
            <a:off x="9966960" y="-640080"/>
            <a:ext cx="3108960" cy="3108960"/>
          </a:xfrm>
          <a:prstGeom prst="ellipse">
            <a:avLst/>
          </a:prstGeom>
          <a:solidFill>
            <a:srgbClr val="3A5A82"/>
          </a:solidFill>
          <a:ln/>
        </p:spPr>
      </p:sp>
      <p:sp>
        <p:nvSpPr>
          <p:cNvPr id="4" name="Shape 2"/>
          <p:cNvSpPr/>
          <p:nvPr/>
        </p:nvSpPr>
        <p:spPr>
          <a:xfrm>
            <a:off x="10515600" y="-91440"/>
            <a:ext cx="2011680" cy="2011680"/>
          </a:xfrm>
          <a:prstGeom prst="ellipse">
            <a:avLst/>
          </a:prstGeom>
          <a:solidFill>
            <a:srgbClr val="F5A623"/>
          </a:solidFill>
          <a:ln/>
        </p:spPr>
      </p:sp>
      <p:sp>
        <p:nvSpPr>
          <p:cNvPr id="5" name="Text 3"/>
          <p:cNvSpPr txBox="1"/>
          <p:nvPr/>
        </p:nvSpPr>
        <p:spPr>
          <a:xfrm>
            <a:off x="502920" y="2331720"/>
            <a:ext cx="10515600" cy="365760"/>
          </a:xfrm>
          <a:prstGeom prst="rect">
            <a:avLst/>
          </a:prstGeom>
          <a:noFill/>
          <a:ln/>
        </p:spPr>
        <p:txBody>
          <a:bodyPr wrap="square" lIns="0" tIns="0" rIns="0" bIns="0" rtlCol="0" anchor="ctr"/>
          <a:lstStyle/>
          <a:p>
            <a:pPr indent="0" marL="0">
              <a:buNone/>
            </a:pPr>
            <a:r>
              <a:rPr lang="en-US" sz="1500" b="1" spc="200" kern="0" dirty="0">
                <a:solidFill>
                  <a:srgbClr val="F5A623"/>
                </a:solidFill>
                <a:latin typeface="Calibri" pitchFamily="34" charset="0"/>
                <a:ea typeface="Calibri" pitchFamily="34" charset="-122"/>
                <a:cs typeface="Calibri" pitchFamily="34" charset="-120"/>
              </a:rPr>
              <a:t>PHOTOVOLTAIC POWER PREDICTION</a:t>
            </a:r>
            <a:endParaRPr lang="en-US" sz="1500" dirty="0"/>
          </a:p>
        </p:txBody>
      </p:sp>
      <p:sp>
        <p:nvSpPr>
          <p:cNvPr id="6" name="Text 4"/>
          <p:cNvSpPr txBox="1"/>
          <p:nvPr/>
        </p:nvSpPr>
        <p:spPr>
          <a:xfrm>
            <a:off x="502920" y="2697480"/>
            <a:ext cx="10515600" cy="164592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Photovoltaic Power Prediction on</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Large-Scale Spatiotemporal Data</a:t>
            </a:r>
            <a:endParaRPr lang="en-US" sz="4000" dirty="0"/>
          </a:p>
        </p:txBody>
      </p:sp>
      <p:sp>
        <p:nvSpPr>
          <p:cNvPr id="7" name="Text 5"/>
          <p:cNvSpPr txBox="1"/>
          <p:nvPr/>
        </p:nvSpPr>
        <p:spPr>
          <a:xfrm>
            <a:off x="502920" y="4343400"/>
            <a:ext cx="10515600" cy="45720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Five Machine Learning Paradigms, One Dataset, One Honest Investigation</a:t>
            </a:r>
            <a:endParaRPr lang="en-US" sz="1700" dirty="0"/>
          </a:p>
        </p:txBody>
      </p:sp>
      <p:sp>
        <p:nvSpPr>
          <p:cNvPr id="8" name="Shape 6"/>
          <p:cNvSpPr/>
          <p:nvPr/>
        </p:nvSpPr>
        <p:spPr>
          <a:xfrm>
            <a:off x="502920" y="5074920"/>
            <a:ext cx="2926080" cy="0"/>
          </a:xfrm>
          <a:prstGeom prst="line">
            <a:avLst/>
          </a:prstGeom>
          <a:noFill/>
          <a:ln w="25400">
            <a:solidFill>
              <a:srgbClr val="F5A623"/>
            </a:solidFill>
            <a:prstDash val="solid"/>
          </a:ln>
        </p:spPr>
      </p:sp>
      <p:sp>
        <p:nvSpPr>
          <p:cNvPr id="9" name="Text 7"/>
          <p:cNvSpPr txBox="1"/>
          <p:nvPr/>
        </p:nvSpPr>
        <p:spPr>
          <a:xfrm>
            <a:off x="502920" y="5349240"/>
            <a:ext cx="7315200" cy="1280160"/>
          </a:xfrm>
          <a:prstGeom prst="rect">
            <a:avLst/>
          </a:prstGeom>
          <a:noFill/>
          <a:ln/>
        </p:spPr>
        <p:txBody>
          <a:bodyPr wrap="square" lIns="0" tIns="0" rIns="0" bIns="0" rtlCol="0" anchor="ctr"/>
          <a:lstStyle/>
          <a:p>
            <a:pPr indent="0" marL="0">
              <a:lnSpc>
                <a:spcPts val="2200"/>
              </a:lnSpc>
              <a:buNone/>
            </a:pPr>
            <a:r>
              <a:rPr lang="en-US" sz="1400" dirty="0">
                <a:solidFill>
                  <a:srgbClr val="D9E2EC"/>
                </a:solidFill>
                <a:latin typeface="Calibri" pitchFamily="34" charset="0"/>
                <a:ea typeface="Calibri" pitchFamily="34" charset="-122"/>
                <a:cs typeface="Calibri" pitchFamily="34" charset="-120"/>
              </a:rPr>
              <a:t>ECE571 — Machine Learning Course Project</a:t>
            </a:r>
            <a:endParaRPr lang="en-US" sz="1400" dirty="0"/>
          </a:p>
          <a:p>
            <a:pPr indent="0" marL="0">
              <a:lnSpc>
                <a:spcPts val="2200"/>
              </a:lnSpc>
              <a:buNone/>
            </a:pPr>
            <a:r>
              <a:rPr lang="en-US" sz="1400" dirty="0">
                <a:solidFill>
                  <a:srgbClr val="D9E2EC"/>
                </a:solidFill>
                <a:latin typeface="Calibri" pitchFamily="34" charset="0"/>
                <a:ea typeface="Calibri" pitchFamily="34" charset="-122"/>
                <a:cs typeface="Calibri" pitchFamily="34" charset="-120"/>
              </a:rPr>
              <a:t>[Your Name]</a:t>
            </a:r>
            <a:endParaRPr lang="en-US" sz="1400" dirty="0"/>
          </a:p>
          <a:p>
            <a:pPr indent="0" marL="0">
              <a:lnSpc>
                <a:spcPts val="2200"/>
              </a:lnSpc>
              <a:buNone/>
            </a:pPr>
            <a:r>
              <a:rPr lang="en-US" sz="1400" dirty="0">
                <a:solidFill>
                  <a:srgbClr val="D9E2EC"/>
                </a:solidFill>
                <a:latin typeface="Calibri" pitchFamily="34" charset="0"/>
                <a:ea typeface="Calibri" pitchFamily="34" charset="-122"/>
                <a:cs typeface="Calibri" pitchFamily="34" charset="-120"/>
              </a:rPr>
              <a:t>Instructor: Prof. Puchovsky</a:t>
            </a:r>
            <a:endParaRPr lang="en-US" sz="1400" dirty="0"/>
          </a:p>
          <a:p>
            <a:pPr indent="0" marL="0">
              <a:lnSpc>
                <a:spcPts val="2200"/>
              </a:lnSpc>
              <a:buNone/>
            </a:pPr>
            <a:r>
              <a:rPr lang="en-US" sz="1400" dirty="0">
                <a:solidFill>
                  <a:srgbClr val="D9E2EC"/>
                </a:solidFill>
                <a:latin typeface="Calibri" pitchFamily="34" charset="0"/>
                <a:ea typeface="Calibri" pitchFamily="34" charset="-122"/>
                <a:cs typeface="Calibri" pitchFamily="34" charset="-120"/>
              </a:rPr>
              <a:t>[Presentation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MOTIVATION</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Why PV Forecasting Matters</a:t>
            </a:r>
            <a:endParaRPr lang="en-US" sz="3000" dirty="0"/>
          </a:p>
        </p:txBody>
      </p:sp>
      <p:sp>
        <p:nvSpPr>
          <p:cNvPr id="4" name="Text 2"/>
          <p:cNvSpPr txBox="1"/>
          <p:nvPr/>
        </p:nvSpPr>
        <p:spPr>
          <a:xfrm>
            <a:off x="502920" y="1417320"/>
            <a:ext cx="5623560" cy="82296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Solar power output is not something you can turn up on demand — it is set entirely by the weather.</a:t>
            </a:r>
            <a:endParaRPr lang="en-US" sz="1600" dirty="0"/>
          </a:p>
        </p:txBody>
      </p:sp>
      <p:sp>
        <p:nvSpPr>
          <p:cNvPr id="5" name="Text 3"/>
          <p:cNvSpPr txBox="1"/>
          <p:nvPr/>
        </p:nvSpPr>
        <p:spPr>
          <a:xfrm>
            <a:off x="502920" y="2514600"/>
            <a:ext cx="5120640" cy="320040"/>
          </a:xfrm>
          <a:prstGeom prst="rect">
            <a:avLst/>
          </a:prstGeom>
          <a:noFill/>
          <a:ln/>
        </p:spPr>
        <p:txBody>
          <a:bodyPr wrap="square" lIns="0" tIns="0" rIns="0" bIns="0" rtlCol="0" anchor="ctr"/>
          <a:lstStyle/>
          <a:p>
            <a:pPr indent="0" marL="0">
              <a:buNone/>
            </a:pPr>
            <a:r>
              <a:rPr lang="en-US" sz="1400" b="1" dirty="0">
                <a:solidFill>
                  <a:srgbClr val="132A46"/>
                </a:solidFill>
                <a:latin typeface="Calibri" pitchFamily="34" charset="0"/>
                <a:ea typeface="Calibri" pitchFamily="34" charset="-122"/>
                <a:cs typeface="Calibri" pitchFamily="34" charset="-120"/>
              </a:rPr>
              <a:t>Output depends on:</a:t>
            </a:r>
            <a:endParaRPr lang="en-US" sz="1400" dirty="0"/>
          </a:p>
        </p:txBody>
      </p:sp>
      <p:sp>
        <p:nvSpPr>
          <p:cNvPr id="6" name="Text 4"/>
          <p:cNvSpPr txBox="1"/>
          <p:nvPr/>
        </p:nvSpPr>
        <p:spPr>
          <a:xfrm>
            <a:off x="502920" y="2880360"/>
            <a:ext cx="5120640" cy="2194560"/>
          </a:xfrm>
          <a:prstGeom prst="rect">
            <a:avLst/>
          </a:prstGeom>
          <a:noFill/>
          <a:ln/>
        </p:spPr>
        <p:txBody>
          <a:bodyPr wrap="square" lIns="0" tIns="0" rIns="0" bIns="0" rtlCol="0" anchor="t"/>
          <a:lstStyle/>
          <a:p>
            <a:pPr marL="228600" indent="-2286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Irradiance (GHI / DNI / DHI)</a:t>
            </a:r>
            <a:endParaRPr lang="en-US" sz="1450" dirty="0"/>
          </a:p>
          <a:p>
            <a:pPr marL="228600" indent="-2286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Cloud cover &amp; cloud type</a:t>
            </a:r>
            <a:endParaRPr lang="en-US" sz="1450" dirty="0"/>
          </a:p>
          <a:p>
            <a:pPr marL="228600" indent="-2286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Temperature</a:t>
            </a:r>
            <a:endParaRPr lang="en-US" sz="1450" dirty="0"/>
          </a:p>
          <a:p>
            <a:pPr marL="228600" indent="-2286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Time of day &amp; season</a:t>
            </a:r>
            <a:endParaRPr lang="en-US" sz="1450" dirty="0"/>
          </a:p>
        </p:txBody>
      </p:sp>
      <p:sp>
        <p:nvSpPr>
          <p:cNvPr id="7" name="Shape 5"/>
          <p:cNvSpPr/>
          <p:nvPr/>
        </p:nvSpPr>
        <p:spPr>
          <a:xfrm>
            <a:off x="6309360" y="1417320"/>
            <a:ext cx="5394960" cy="4206240"/>
          </a:xfrm>
          <a:prstGeom prst="roundRect">
            <a:avLst>
              <a:gd name="adj" fmla="val 1739"/>
            </a:avLst>
          </a:prstGeom>
          <a:solidFill>
            <a:srgbClr val="132A46"/>
          </a:solidFill>
          <a:ln/>
        </p:spPr>
      </p:sp>
      <p:sp>
        <p:nvSpPr>
          <p:cNvPr id="8" name="Text 6"/>
          <p:cNvSpPr txBox="1"/>
          <p:nvPr/>
        </p:nvSpPr>
        <p:spPr>
          <a:xfrm>
            <a:off x="6537960" y="1645920"/>
            <a:ext cx="4937760"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Why it matters operationally</a:t>
            </a:r>
            <a:endParaRPr lang="en-US" sz="1400" dirty="0"/>
          </a:p>
        </p:txBody>
      </p:sp>
      <p:sp>
        <p:nvSpPr>
          <p:cNvPr id="9" name="Text 7"/>
          <p:cNvSpPr txBox="1"/>
          <p:nvPr/>
        </p:nvSpPr>
        <p:spPr>
          <a:xfrm>
            <a:off x="6537960" y="2103120"/>
            <a:ext cx="4937760" cy="3383280"/>
          </a:xfrm>
          <a:prstGeom prst="rect">
            <a:avLst/>
          </a:prstGeom>
          <a:noFill/>
          <a:ln/>
        </p:spPr>
        <p:txBody>
          <a:bodyPr wrap="square" lIns="0" tIns="0" rIns="0" bIns="0" rtlCol="0" anchor="t"/>
          <a:lstStyle/>
          <a:p>
            <a:pPr marL="228600" indent="-228600">
              <a:spcAft>
                <a:spcPts val="1600"/>
              </a:spcAft>
              <a:buSzPct val="100000"/>
              <a:buChar char="•"/>
            </a:pPr>
            <a:r>
              <a:rPr lang="en-US" sz="1450" dirty="0">
                <a:solidFill>
                  <a:srgbClr val="E7ECF2"/>
                </a:solidFill>
                <a:latin typeface="Calibri" pitchFamily="34" charset="0"/>
                <a:ea typeface="Calibri" pitchFamily="34" charset="-122"/>
                <a:cs typeface="Calibri" pitchFamily="34" charset="-120"/>
              </a:rPr>
              <a:t>Grid operators need to schedule other generation and reserves around expected solar output</a:t>
            </a:r>
            <a:endParaRPr lang="en-US" sz="1450" dirty="0"/>
          </a:p>
          <a:p>
            <a:pPr marL="228600" indent="-228600">
              <a:spcAft>
                <a:spcPts val="1600"/>
              </a:spcAft>
              <a:buSzPct val="100000"/>
              <a:buChar char="•"/>
            </a:pPr>
            <a:r>
              <a:rPr lang="en-US" sz="1450" dirty="0">
                <a:solidFill>
                  <a:srgbClr val="E7ECF2"/>
                </a:solidFill>
                <a:latin typeface="Calibri" pitchFamily="34" charset="0"/>
                <a:ea typeface="Calibri" pitchFamily="34" charset="-122"/>
                <a:cs typeface="Calibri" pitchFamily="34" charset="-120"/>
              </a:rPr>
              <a:t>Battery storage systems need forecasts to decide when to charge and discharge</a:t>
            </a:r>
            <a:endParaRPr lang="en-US" sz="1450" dirty="0"/>
          </a:p>
          <a:p>
            <a:pPr marL="228600" indent="-228600">
              <a:spcAft>
                <a:spcPts val="1600"/>
              </a:spcAft>
              <a:buSzPct val="100000"/>
              <a:buChar char="•"/>
            </a:pPr>
            <a:r>
              <a:rPr lang="en-US" sz="1450" dirty="0">
                <a:solidFill>
                  <a:srgbClr val="E7ECF2"/>
                </a:solidFill>
                <a:latin typeface="Calibri" pitchFamily="34" charset="0"/>
                <a:ea typeface="Calibri" pitchFamily="34" charset="-122"/>
                <a:cs typeface="Calibri" pitchFamily="34" charset="-120"/>
              </a:rPr>
              <a:t>Utilities planning a new site with little or no history need some way to estimate output</a:t>
            </a:r>
            <a:endParaRPr lang="en-US" sz="1450" dirty="0"/>
          </a:p>
        </p:txBody>
      </p:sp>
      <p:sp>
        <p:nvSpPr>
          <p:cNvPr id="10" name="Text 8"/>
          <p:cNvSpPr txBox="1"/>
          <p:nvPr/>
        </p:nvSpPr>
        <p:spPr>
          <a:xfrm>
            <a:off x="502920" y="5806440"/>
            <a:ext cx="11155680" cy="640080"/>
          </a:xfrm>
          <a:prstGeom prst="rect">
            <a:avLst/>
          </a:prstGeom>
          <a:noFill/>
          <a:ln/>
        </p:spPr>
        <p:txBody>
          <a:bodyPr wrap="square" lIns="0" tIns="0" rIns="0" bIns="0" rtlCol="0" anchor="ctr"/>
          <a:lstStyle/>
          <a:p>
            <a:pPr indent="0" marL="0">
              <a:buNone/>
            </a:pPr>
            <a:r>
              <a:rPr lang="en-US" sz="1450" i="1" dirty="0">
                <a:solidFill>
                  <a:srgbClr val="5B6B7C"/>
                </a:solidFill>
                <a:latin typeface="Calibri" pitchFamily="34" charset="0"/>
                <a:ea typeface="Calibri" pitchFamily="34" charset="-122"/>
                <a:cs typeface="Calibri" pitchFamily="34" charset="-120"/>
              </a:rPr>
              <a:t>All three are, at their core, the same ML problem: relate weather and irradiance to electrical output — sometimes with plenty of historical data, sometimes with very little.</a:t>
            </a:r>
            <a:endParaRPr lang="en-US" sz="1450" dirty="0"/>
          </a:p>
        </p:txBody>
      </p:sp>
      <p:sp>
        <p:nvSpPr>
          <p:cNvPr id="11" name="Text 9"/>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THE DATA</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Dataset &amp; Experimental Challenge</a:t>
            </a:r>
            <a:endParaRPr lang="en-US" sz="3000" dirty="0"/>
          </a:p>
        </p:txBody>
      </p:sp>
      <p:sp>
        <p:nvSpPr>
          <p:cNvPr id="4" name="Shape 2"/>
          <p:cNvSpPr/>
          <p:nvPr/>
        </p:nvSpPr>
        <p:spPr>
          <a:xfrm>
            <a:off x="502920" y="1463040"/>
            <a:ext cx="2157984" cy="1417320"/>
          </a:xfrm>
          <a:prstGeom prst="roundRect">
            <a:avLst>
              <a:gd name="adj" fmla="val 4516"/>
            </a:avLst>
          </a:prstGeom>
          <a:solidFill>
            <a:srgbClr val="FFFFFF"/>
          </a:solidFill>
          <a:ln w="12700">
            <a:solidFill>
              <a:srgbClr val="E1E6EC"/>
            </a:solidFill>
            <a:prstDash val="solid"/>
          </a:ln>
        </p:spPr>
      </p:sp>
      <p:sp>
        <p:nvSpPr>
          <p:cNvPr id="5" name="Text 3"/>
          <p:cNvSpPr txBox="1"/>
          <p:nvPr/>
        </p:nvSpPr>
        <p:spPr>
          <a:xfrm>
            <a:off x="594360" y="157276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Davis, CA</a:t>
            </a:r>
            <a:endParaRPr lang="en-US" sz="1300" dirty="0"/>
          </a:p>
        </p:txBody>
      </p:sp>
      <p:sp>
        <p:nvSpPr>
          <p:cNvPr id="6" name="Text 4"/>
          <p:cNvSpPr txBox="1"/>
          <p:nvPr/>
        </p:nvSpPr>
        <p:spPr>
          <a:xfrm>
            <a:off x="594360" y="1975104"/>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2011–2016</a:t>
            </a:r>
            <a:endParaRPr lang="en-US" sz="1150" dirty="0"/>
          </a:p>
        </p:txBody>
      </p:sp>
      <p:sp>
        <p:nvSpPr>
          <p:cNvPr id="7" name="Text 5"/>
          <p:cNvSpPr txBox="1"/>
          <p:nvPr/>
        </p:nvSpPr>
        <p:spPr>
          <a:xfrm>
            <a:off x="594360" y="2359152"/>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164.0 kW avg</a:t>
            </a:r>
            <a:endParaRPr lang="en-US" sz="1400" dirty="0"/>
          </a:p>
        </p:txBody>
      </p:sp>
      <p:sp>
        <p:nvSpPr>
          <p:cNvPr id="8" name="Shape 6"/>
          <p:cNvSpPr/>
          <p:nvPr/>
        </p:nvSpPr>
        <p:spPr>
          <a:xfrm>
            <a:off x="2715768" y="1463040"/>
            <a:ext cx="2157984" cy="1417320"/>
          </a:xfrm>
          <a:prstGeom prst="roundRect">
            <a:avLst>
              <a:gd name="adj" fmla="val 4516"/>
            </a:avLst>
          </a:prstGeom>
          <a:solidFill>
            <a:srgbClr val="FFFFFF"/>
          </a:solidFill>
          <a:ln w="12700">
            <a:solidFill>
              <a:srgbClr val="E1E6EC"/>
            </a:solidFill>
            <a:prstDash val="solid"/>
          </a:ln>
        </p:spPr>
      </p:sp>
      <p:sp>
        <p:nvSpPr>
          <p:cNvPr id="9" name="Text 7"/>
          <p:cNvSpPr txBox="1"/>
          <p:nvPr/>
        </p:nvSpPr>
        <p:spPr>
          <a:xfrm>
            <a:off x="2807208" y="157276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Amherst, MA</a:t>
            </a:r>
            <a:endParaRPr lang="en-US" sz="1300" dirty="0"/>
          </a:p>
        </p:txBody>
      </p:sp>
      <p:sp>
        <p:nvSpPr>
          <p:cNvPr id="10" name="Text 8"/>
          <p:cNvSpPr txBox="1"/>
          <p:nvPr/>
        </p:nvSpPr>
        <p:spPr>
          <a:xfrm>
            <a:off x="2807208" y="1975104"/>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2018–2020</a:t>
            </a:r>
            <a:endParaRPr lang="en-US" sz="1150" dirty="0"/>
          </a:p>
        </p:txBody>
      </p:sp>
      <p:sp>
        <p:nvSpPr>
          <p:cNvPr id="11" name="Text 9"/>
          <p:cNvSpPr txBox="1"/>
          <p:nvPr/>
        </p:nvSpPr>
        <p:spPr>
          <a:xfrm>
            <a:off x="2807208" y="2359152"/>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60.9 kW avg</a:t>
            </a:r>
            <a:endParaRPr lang="en-US" sz="1400" dirty="0"/>
          </a:p>
        </p:txBody>
      </p:sp>
      <p:sp>
        <p:nvSpPr>
          <p:cNvPr id="12" name="Shape 10"/>
          <p:cNvSpPr/>
          <p:nvPr/>
        </p:nvSpPr>
        <p:spPr>
          <a:xfrm>
            <a:off x="4928616" y="1463040"/>
            <a:ext cx="2157984" cy="1417320"/>
          </a:xfrm>
          <a:prstGeom prst="roundRect">
            <a:avLst>
              <a:gd name="adj" fmla="val 4516"/>
            </a:avLst>
          </a:prstGeom>
          <a:solidFill>
            <a:srgbClr val="FFFFFF"/>
          </a:solidFill>
          <a:ln w="12700">
            <a:solidFill>
              <a:srgbClr val="E1E6EC"/>
            </a:solidFill>
            <a:prstDash val="solid"/>
          </a:ln>
        </p:spPr>
      </p:sp>
      <p:sp>
        <p:nvSpPr>
          <p:cNvPr id="13" name="Text 11"/>
          <p:cNvSpPr txBox="1"/>
          <p:nvPr/>
        </p:nvSpPr>
        <p:spPr>
          <a:xfrm>
            <a:off x="5020056" y="157276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Huron, SD</a:t>
            </a:r>
            <a:endParaRPr lang="en-US" sz="1300" dirty="0"/>
          </a:p>
        </p:txBody>
      </p:sp>
      <p:sp>
        <p:nvSpPr>
          <p:cNvPr id="14" name="Text 12"/>
          <p:cNvSpPr txBox="1"/>
          <p:nvPr/>
        </p:nvSpPr>
        <p:spPr>
          <a:xfrm>
            <a:off x="5020056" y="1975104"/>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2011–2016</a:t>
            </a:r>
            <a:endParaRPr lang="en-US" sz="1150" dirty="0"/>
          </a:p>
        </p:txBody>
      </p:sp>
      <p:sp>
        <p:nvSpPr>
          <p:cNvPr id="15" name="Text 13"/>
          <p:cNvSpPr txBox="1"/>
          <p:nvPr/>
        </p:nvSpPr>
        <p:spPr>
          <a:xfrm>
            <a:off x="5020056" y="2359152"/>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50.1 kW avg</a:t>
            </a:r>
            <a:endParaRPr lang="en-US" sz="1400" dirty="0"/>
          </a:p>
        </p:txBody>
      </p:sp>
      <p:sp>
        <p:nvSpPr>
          <p:cNvPr id="16" name="Shape 14"/>
          <p:cNvSpPr/>
          <p:nvPr/>
        </p:nvSpPr>
        <p:spPr>
          <a:xfrm>
            <a:off x="7141464" y="1463040"/>
            <a:ext cx="2157984" cy="1417320"/>
          </a:xfrm>
          <a:prstGeom prst="roundRect">
            <a:avLst>
              <a:gd name="adj" fmla="val 4516"/>
            </a:avLst>
          </a:prstGeom>
          <a:solidFill>
            <a:srgbClr val="FFFFFF"/>
          </a:solidFill>
          <a:ln w="12700">
            <a:solidFill>
              <a:srgbClr val="E1E6EC"/>
            </a:solidFill>
            <a:prstDash val="solid"/>
          </a:ln>
        </p:spPr>
      </p:sp>
      <p:sp>
        <p:nvSpPr>
          <p:cNvPr id="17" name="Text 15"/>
          <p:cNvSpPr txBox="1"/>
          <p:nvPr/>
        </p:nvSpPr>
        <p:spPr>
          <a:xfrm>
            <a:off x="7232904" y="157276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Santa Barbara, CA</a:t>
            </a:r>
            <a:endParaRPr lang="en-US" sz="1300" dirty="0"/>
          </a:p>
        </p:txBody>
      </p:sp>
      <p:sp>
        <p:nvSpPr>
          <p:cNvPr id="18" name="Text 16"/>
          <p:cNvSpPr txBox="1"/>
          <p:nvPr/>
        </p:nvSpPr>
        <p:spPr>
          <a:xfrm>
            <a:off x="7232904" y="1975104"/>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2011–2016</a:t>
            </a:r>
            <a:endParaRPr lang="en-US" sz="1150" dirty="0"/>
          </a:p>
        </p:txBody>
      </p:sp>
      <p:sp>
        <p:nvSpPr>
          <p:cNvPr id="19" name="Text 17"/>
          <p:cNvSpPr txBox="1"/>
          <p:nvPr/>
        </p:nvSpPr>
        <p:spPr>
          <a:xfrm>
            <a:off x="7232904" y="2359152"/>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49.1 kW avg</a:t>
            </a:r>
            <a:endParaRPr lang="en-US" sz="1400" dirty="0"/>
          </a:p>
        </p:txBody>
      </p:sp>
      <p:sp>
        <p:nvSpPr>
          <p:cNvPr id="20" name="Shape 18"/>
          <p:cNvSpPr/>
          <p:nvPr/>
        </p:nvSpPr>
        <p:spPr>
          <a:xfrm>
            <a:off x="9354312" y="1463040"/>
            <a:ext cx="2157984" cy="1417320"/>
          </a:xfrm>
          <a:prstGeom prst="roundRect">
            <a:avLst>
              <a:gd name="adj" fmla="val 4516"/>
            </a:avLst>
          </a:prstGeom>
          <a:solidFill>
            <a:srgbClr val="FFFFFF"/>
          </a:solidFill>
          <a:ln w="12700">
            <a:solidFill>
              <a:srgbClr val="E1E6EC"/>
            </a:solidFill>
            <a:prstDash val="solid"/>
          </a:ln>
        </p:spPr>
      </p:sp>
      <p:sp>
        <p:nvSpPr>
          <p:cNvPr id="21" name="Text 19"/>
          <p:cNvSpPr txBox="1"/>
          <p:nvPr/>
        </p:nvSpPr>
        <p:spPr>
          <a:xfrm>
            <a:off x="9445752" y="157276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La Jolla, CA</a:t>
            </a:r>
            <a:endParaRPr lang="en-US" sz="1300" dirty="0"/>
          </a:p>
        </p:txBody>
      </p:sp>
      <p:sp>
        <p:nvSpPr>
          <p:cNvPr id="22" name="Text 20"/>
          <p:cNvSpPr txBox="1"/>
          <p:nvPr/>
        </p:nvSpPr>
        <p:spPr>
          <a:xfrm>
            <a:off x="9445752" y="1975104"/>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2011–2016</a:t>
            </a:r>
            <a:endParaRPr lang="en-US" sz="1150" dirty="0"/>
          </a:p>
        </p:txBody>
      </p:sp>
      <p:sp>
        <p:nvSpPr>
          <p:cNvPr id="23" name="Text 21"/>
          <p:cNvSpPr txBox="1"/>
          <p:nvPr/>
        </p:nvSpPr>
        <p:spPr>
          <a:xfrm>
            <a:off x="9445752" y="2359152"/>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47.3 kW avg</a:t>
            </a:r>
            <a:endParaRPr lang="en-US" sz="1400" dirty="0"/>
          </a:p>
        </p:txBody>
      </p:sp>
      <p:sp>
        <p:nvSpPr>
          <p:cNvPr id="24" name="Shape 22"/>
          <p:cNvSpPr/>
          <p:nvPr/>
        </p:nvSpPr>
        <p:spPr>
          <a:xfrm>
            <a:off x="502920" y="3200400"/>
            <a:ext cx="265176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25" name="Text 23"/>
          <p:cNvSpPr txBox="1"/>
          <p:nvPr/>
        </p:nvSpPr>
        <p:spPr>
          <a:xfrm>
            <a:off x="612648" y="3310128"/>
            <a:ext cx="243230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22</a:t>
            </a:r>
            <a:endParaRPr lang="en-US" sz="2600" dirty="0"/>
          </a:p>
        </p:txBody>
      </p:sp>
      <p:sp>
        <p:nvSpPr>
          <p:cNvPr id="26" name="Text 24"/>
          <p:cNvSpPr txBox="1"/>
          <p:nvPr/>
        </p:nvSpPr>
        <p:spPr>
          <a:xfrm>
            <a:off x="612648" y="3852367"/>
            <a:ext cx="243230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columns per row: irradiance, weather, Cloud Type, Output Power</a:t>
            </a:r>
            <a:endParaRPr lang="en-US" sz="1150" dirty="0"/>
          </a:p>
        </p:txBody>
      </p:sp>
      <p:sp>
        <p:nvSpPr>
          <p:cNvPr id="27" name="Shape 25"/>
          <p:cNvSpPr/>
          <p:nvPr/>
        </p:nvSpPr>
        <p:spPr>
          <a:xfrm>
            <a:off x="3291840" y="3200400"/>
            <a:ext cx="265176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28" name="Text 26"/>
          <p:cNvSpPr txBox="1"/>
          <p:nvPr/>
        </p:nvSpPr>
        <p:spPr>
          <a:xfrm>
            <a:off x="3401568" y="3310128"/>
            <a:ext cx="243230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30 min</a:t>
            </a:r>
            <a:endParaRPr lang="en-US" sz="2600" dirty="0"/>
          </a:p>
        </p:txBody>
      </p:sp>
      <p:sp>
        <p:nvSpPr>
          <p:cNvPr id="29" name="Text 27"/>
          <p:cNvSpPr txBox="1"/>
          <p:nvPr/>
        </p:nvSpPr>
        <p:spPr>
          <a:xfrm>
            <a:off x="3401568" y="3852367"/>
            <a:ext cx="243230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measurement interval, 10:00–15:00 daily window</a:t>
            </a:r>
            <a:endParaRPr lang="en-US" sz="1150" dirty="0"/>
          </a:p>
        </p:txBody>
      </p:sp>
      <p:sp>
        <p:nvSpPr>
          <p:cNvPr id="30" name="Shape 28"/>
          <p:cNvSpPr/>
          <p:nvPr/>
        </p:nvSpPr>
        <p:spPr>
          <a:xfrm>
            <a:off x="6080760" y="3200400"/>
            <a:ext cx="265176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31" name="Text 29"/>
          <p:cNvSpPr txBox="1"/>
          <p:nvPr/>
        </p:nvSpPr>
        <p:spPr>
          <a:xfrm>
            <a:off x="6190488" y="3310128"/>
            <a:ext cx="243230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~24,000</a:t>
            </a:r>
            <a:endParaRPr lang="en-US" sz="2600" dirty="0"/>
          </a:p>
        </p:txBody>
      </p:sp>
      <p:sp>
        <p:nvSpPr>
          <p:cNvPr id="32" name="Text 30"/>
          <p:cNvSpPr txBox="1"/>
          <p:nvPr/>
        </p:nvSpPr>
        <p:spPr>
          <a:xfrm>
            <a:off x="6190488" y="3852367"/>
            <a:ext cx="243230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rows for each 6-year city (Amherst: 12,056)</a:t>
            </a:r>
            <a:endParaRPr lang="en-US" sz="1150" dirty="0"/>
          </a:p>
        </p:txBody>
      </p:sp>
      <p:sp>
        <p:nvSpPr>
          <p:cNvPr id="33" name="Shape 31"/>
          <p:cNvSpPr/>
          <p:nvPr/>
        </p:nvSpPr>
        <p:spPr>
          <a:xfrm>
            <a:off x="8869680" y="3200400"/>
            <a:ext cx="265176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34" name="Text 32"/>
          <p:cNvSpPr txBox="1"/>
          <p:nvPr/>
        </p:nvSpPr>
        <p:spPr>
          <a:xfrm>
            <a:off x="8979408" y="3310128"/>
            <a:ext cx="2432304" cy="578358"/>
          </a:xfrm>
          <a:prstGeom prst="rect">
            <a:avLst/>
          </a:prstGeom>
          <a:noFill/>
          <a:ln/>
        </p:spPr>
        <p:txBody>
          <a:bodyPr wrap="square" lIns="0" tIns="0" rIns="0" bIns="0" rtlCol="0" anchor="b"/>
          <a:lstStyle/>
          <a:p>
            <a:pPr algn="ctr" indent="0" marL="0">
              <a:buNone/>
            </a:pPr>
            <a:r>
              <a:rPr lang="en-US" sz="2600" b="1" dirty="0">
                <a:solidFill>
                  <a:srgbClr val="C0524A"/>
                </a:solidFill>
                <a:latin typeface="Cambria" pitchFamily="34" charset="0"/>
                <a:ea typeface="Cambria" pitchFamily="34" charset="-122"/>
                <a:cs typeface="Cambria" pitchFamily="34" charset="-120"/>
              </a:rPr>
              <a:t>3.5×</a:t>
            </a:r>
            <a:endParaRPr lang="en-US" sz="2600" dirty="0"/>
          </a:p>
        </p:txBody>
      </p:sp>
      <p:sp>
        <p:nvSpPr>
          <p:cNvPr id="35" name="Text 33"/>
          <p:cNvSpPr txBox="1"/>
          <p:nvPr/>
        </p:nvSpPr>
        <p:spPr>
          <a:xfrm>
            <a:off x="8979408" y="3852367"/>
            <a:ext cx="243230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Davis's output scale vs. the smallest city</a:t>
            </a:r>
            <a:endParaRPr lang="en-US" sz="1150" dirty="0"/>
          </a:p>
        </p:txBody>
      </p:sp>
      <p:sp>
        <p:nvSpPr>
          <p:cNvPr id="36" name="Shape 34"/>
          <p:cNvSpPr/>
          <p:nvPr/>
        </p:nvSpPr>
        <p:spPr>
          <a:xfrm>
            <a:off x="502920" y="4617720"/>
            <a:ext cx="11183112" cy="1691640"/>
          </a:xfrm>
          <a:prstGeom prst="roundRect">
            <a:avLst>
              <a:gd name="adj" fmla="val 4324"/>
            </a:avLst>
          </a:prstGeom>
          <a:solidFill>
            <a:srgbClr val="132A46"/>
          </a:solidFill>
          <a:ln/>
        </p:spPr>
      </p:sp>
      <p:sp>
        <p:nvSpPr>
          <p:cNvPr id="37" name="Text 35"/>
          <p:cNvSpPr txBox="1"/>
          <p:nvPr/>
        </p:nvSpPr>
        <p:spPr>
          <a:xfrm>
            <a:off x="731520" y="4800600"/>
            <a:ext cx="10698480" cy="365760"/>
          </a:xfrm>
          <a:prstGeom prst="rect">
            <a:avLst/>
          </a:prstGeom>
          <a:noFill/>
          <a:ln/>
        </p:spPr>
        <p:txBody>
          <a:bodyPr wrap="square" lIns="0" tIns="0" rIns="0" bIns="0" rtlCol="0" anchor="ctr"/>
          <a:lstStyle/>
          <a:p>
            <a:pPr indent="0" marL="0">
              <a:buNone/>
            </a:pPr>
            <a:r>
              <a:rPr lang="en-US" sz="1450" b="1" dirty="0">
                <a:solidFill>
                  <a:srgbClr val="F5A623"/>
                </a:solidFill>
                <a:latin typeface="Calibri" pitchFamily="34" charset="0"/>
                <a:ea typeface="Calibri" pitchFamily="34" charset="-122"/>
                <a:cs typeface="Calibri" pitchFamily="34" charset="-120"/>
              </a:rPr>
              <a:t>The central challenge running through this project:</a:t>
            </a:r>
            <a:endParaRPr lang="en-US" sz="1450" dirty="0"/>
          </a:p>
        </p:txBody>
      </p:sp>
      <p:sp>
        <p:nvSpPr>
          <p:cNvPr id="38" name="Text 36"/>
          <p:cNvSpPr txBox="1"/>
          <p:nvPr/>
        </p:nvSpPr>
        <p:spPr>
          <a:xfrm>
            <a:off x="731520" y="5193792"/>
            <a:ext cx="10698480" cy="1005840"/>
          </a:xfrm>
          <a:prstGeom prst="rect">
            <a:avLst/>
          </a:prstGeom>
          <a:noFill/>
          <a:ln/>
        </p:spPr>
        <p:txBody>
          <a:bodyPr wrap="square" lIns="0" tIns="0" rIns="0" bIns="0" rtlCol="0" anchor="ctr"/>
          <a:lstStyle/>
          <a:p>
            <a:pPr indent="0" marL="0">
              <a:buNone/>
            </a:pPr>
            <a:r>
              <a:rPr lang="en-US" sz="1450" dirty="0">
                <a:solidFill>
                  <a:srgbClr val="E7ECF2"/>
                </a:solidFill>
                <a:latin typeface="Calibri" pitchFamily="34" charset="0"/>
                <a:ea typeface="Calibri" pitchFamily="34" charset="-122"/>
                <a:cs typeface="Calibri" pitchFamily="34" charset="-120"/>
              </a:rPr>
              <a:t>Output Power has a different physical scale in every city, and the data is a time series — so every train/test split in this project is chronological (earliest 80% train, latest 20% test), never randomly shuffled. Shuffling first would let a model trained on next Tuesday predict last Monday.</a:t>
            </a:r>
            <a:endParaRPr lang="en-US" sz="1450" dirty="0"/>
          </a:p>
        </p:txBody>
      </p:sp>
      <p:sp>
        <p:nvSpPr>
          <p:cNvPr id="39" name="Text 37"/>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One Shared Experimental Framework</a:t>
            </a:r>
            <a:endParaRPr lang="en-US" sz="3000" dirty="0"/>
          </a:p>
        </p:txBody>
      </p:sp>
      <p:sp>
        <p:nvSpPr>
          <p:cNvPr id="4" name="Shape 2"/>
          <p:cNvSpPr/>
          <p:nvPr/>
        </p:nvSpPr>
        <p:spPr>
          <a:xfrm>
            <a:off x="530352" y="1554480"/>
            <a:ext cx="1417320" cy="914400"/>
          </a:xfrm>
          <a:prstGeom prst="roundRect">
            <a:avLst>
              <a:gd name="adj" fmla="val 6000"/>
            </a:avLst>
          </a:prstGeom>
          <a:solidFill>
            <a:srgbClr val="132A46"/>
          </a:solidFill>
          <a:ln/>
        </p:spPr>
      </p:sp>
      <p:sp>
        <p:nvSpPr>
          <p:cNvPr id="5" name="Text 3"/>
          <p:cNvSpPr txBox="1"/>
          <p:nvPr/>
        </p:nvSpPr>
        <p:spPr>
          <a:xfrm>
            <a:off x="530352" y="1554480"/>
            <a:ext cx="14173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Raw Excel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Data</a:t>
            </a:r>
            <a:endParaRPr lang="en-US" sz="1150" dirty="0"/>
          </a:p>
        </p:txBody>
      </p:sp>
      <p:sp>
        <p:nvSpPr>
          <p:cNvPr id="6" name="Text 4"/>
          <p:cNvSpPr txBox="1"/>
          <p:nvPr/>
        </p:nvSpPr>
        <p:spPr>
          <a:xfrm>
            <a:off x="1947672" y="1554480"/>
            <a:ext cx="219456"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148840" y="1554480"/>
            <a:ext cx="1417320" cy="914400"/>
          </a:xfrm>
          <a:prstGeom prst="roundRect">
            <a:avLst>
              <a:gd name="adj" fmla="val 6000"/>
            </a:avLst>
          </a:prstGeom>
          <a:solidFill>
            <a:srgbClr val="132A46"/>
          </a:solidFill>
          <a:ln/>
        </p:spPr>
      </p:sp>
      <p:sp>
        <p:nvSpPr>
          <p:cNvPr id="8" name="Text 6"/>
          <p:cNvSpPr txBox="1"/>
          <p:nvPr/>
        </p:nvSpPr>
        <p:spPr>
          <a:xfrm>
            <a:off x="2148840" y="1554480"/>
            <a:ext cx="14173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Cleaning</a:t>
            </a:r>
            <a:endParaRPr lang="en-US" sz="1150" dirty="0"/>
          </a:p>
        </p:txBody>
      </p:sp>
      <p:sp>
        <p:nvSpPr>
          <p:cNvPr id="9" name="Text 7"/>
          <p:cNvSpPr txBox="1"/>
          <p:nvPr/>
        </p:nvSpPr>
        <p:spPr>
          <a:xfrm>
            <a:off x="3566160" y="1554480"/>
            <a:ext cx="219456"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767328" y="1554480"/>
            <a:ext cx="1417320" cy="914400"/>
          </a:xfrm>
          <a:prstGeom prst="roundRect">
            <a:avLst>
              <a:gd name="adj" fmla="val 6000"/>
            </a:avLst>
          </a:prstGeom>
          <a:solidFill>
            <a:srgbClr val="132A46"/>
          </a:solidFill>
          <a:ln/>
        </p:spPr>
      </p:sp>
      <p:sp>
        <p:nvSpPr>
          <p:cNvPr id="11" name="Text 9"/>
          <p:cNvSpPr txBox="1"/>
          <p:nvPr/>
        </p:nvSpPr>
        <p:spPr>
          <a:xfrm>
            <a:off x="3767328" y="1554480"/>
            <a:ext cx="14173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Engineering</a:t>
            </a:r>
            <a:endParaRPr lang="en-US" sz="1150" dirty="0"/>
          </a:p>
        </p:txBody>
      </p:sp>
      <p:sp>
        <p:nvSpPr>
          <p:cNvPr id="12" name="Text 10"/>
          <p:cNvSpPr txBox="1"/>
          <p:nvPr/>
        </p:nvSpPr>
        <p:spPr>
          <a:xfrm>
            <a:off x="5184648" y="1554480"/>
            <a:ext cx="219456"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385816" y="1554480"/>
            <a:ext cx="1417320" cy="914400"/>
          </a:xfrm>
          <a:prstGeom prst="roundRect">
            <a:avLst>
              <a:gd name="adj" fmla="val 6000"/>
            </a:avLst>
          </a:prstGeom>
          <a:solidFill>
            <a:srgbClr val="132A46"/>
          </a:solidFill>
          <a:ln/>
        </p:spPr>
      </p:sp>
      <p:sp>
        <p:nvSpPr>
          <p:cNvPr id="14" name="Text 12"/>
          <p:cNvSpPr txBox="1"/>
          <p:nvPr/>
        </p:nvSpPr>
        <p:spPr>
          <a:xfrm>
            <a:off x="5385816" y="1554480"/>
            <a:ext cx="14173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Chronological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Split</a:t>
            </a:r>
            <a:endParaRPr lang="en-US" sz="1150" dirty="0"/>
          </a:p>
        </p:txBody>
      </p:sp>
      <p:sp>
        <p:nvSpPr>
          <p:cNvPr id="15" name="Text 13"/>
          <p:cNvSpPr txBox="1"/>
          <p:nvPr/>
        </p:nvSpPr>
        <p:spPr>
          <a:xfrm>
            <a:off x="6803136" y="1554480"/>
            <a:ext cx="219456"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004304" y="1554480"/>
            <a:ext cx="1417320" cy="914400"/>
          </a:xfrm>
          <a:prstGeom prst="roundRect">
            <a:avLst>
              <a:gd name="adj" fmla="val 6000"/>
            </a:avLst>
          </a:prstGeom>
          <a:solidFill>
            <a:srgbClr val="132A46"/>
          </a:solidFill>
          <a:ln/>
        </p:spPr>
      </p:sp>
      <p:sp>
        <p:nvSpPr>
          <p:cNvPr id="17" name="Text 15"/>
          <p:cNvSpPr txBox="1"/>
          <p:nvPr/>
        </p:nvSpPr>
        <p:spPr>
          <a:xfrm>
            <a:off x="7004304" y="1554480"/>
            <a:ext cx="14173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Scaling /</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Encoding</a:t>
            </a:r>
            <a:endParaRPr lang="en-US" sz="1150" dirty="0"/>
          </a:p>
        </p:txBody>
      </p:sp>
      <p:sp>
        <p:nvSpPr>
          <p:cNvPr id="18" name="Text 16"/>
          <p:cNvSpPr txBox="1"/>
          <p:nvPr/>
        </p:nvSpPr>
        <p:spPr>
          <a:xfrm>
            <a:off x="8421624" y="1554480"/>
            <a:ext cx="219456"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8622792" y="1554480"/>
            <a:ext cx="1417320" cy="914400"/>
          </a:xfrm>
          <a:prstGeom prst="roundRect">
            <a:avLst>
              <a:gd name="adj" fmla="val 6000"/>
            </a:avLst>
          </a:prstGeom>
          <a:solidFill>
            <a:srgbClr val="132A46"/>
          </a:solidFill>
          <a:ln/>
        </p:spPr>
      </p:sp>
      <p:sp>
        <p:nvSpPr>
          <p:cNvPr id="20" name="Text 18"/>
          <p:cNvSpPr txBox="1"/>
          <p:nvPr/>
        </p:nvSpPr>
        <p:spPr>
          <a:xfrm>
            <a:off x="8622792" y="1554480"/>
            <a:ext cx="14173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Training</a:t>
            </a:r>
            <a:endParaRPr lang="en-US" sz="1150" dirty="0"/>
          </a:p>
        </p:txBody>
      </p:sp>
      <p:sp>
        <p:nvSpPr>
          <p:cNvPr id="21" name="Text 19"/>
          <p:cNvSpPr txBox="1"/>
          <p:nvPr/>
        </p:nvSpPr>
        <p:spPr>
          <a:xfrm>
            <a:off x="10040112" y="1554480"/>
            <a:ext cx="219456"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10241280" y="1554480"/>
            <a:ext cx="1417320" cy="914400"/>
          </a:xfrm>
          <a:prstGeom prst="roundRect">
            <a:avLst>
              <a:gd name="adj" fmla="val 6000"/>
            </a:avLst>
          </a:prstGeom>
          <a:solidFill>
            <a:srgbClr val="2A9D8F"/>
          </a:solidFill>
          <a:ln/>
        </p:spPr>
      </p:sp>
      <p:sp>
        <p:nvSpPr>
          <p:cNvPr id="23" name="Text 21"/>
          <p:cNvSpPr txBox="1"/>
          <p:nvPr/>
        </p:nvSpPr>
        <p:spPr>
          <a:xfrm>
            <a:off x="10241280" y="1554480"/>
            <a:ext cx="14173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Evaluation</a:t>
            </a:r>
            <a:endParaRPr lang="en-US" sz="1150" dirty="0"/>
          </a:p>
        </p:txBody>
      </p:sp>
      <p:sp>
        <p:nvSpPr>
          <p:cNvPr id="24" name="Text 22"/>
          <p:cNvSpPr txBox="1"/>
          <p:nvPr/>
        </p:nvSpPr>
        <p:spPr>
          <a:xfrm>
            <a:off x="502920" y="2697480"/>
            <a:ext cx="11155680" cy="365760"/>
          </a:xfrm>
          <a:prstGeom prst="rect">
            <a:avLst/>
          </a:prstGeom>
          <a:noFill/>
          <a:ln/>
        </p:spPr>
        <p:txBody>
          <a:bodyPr wrap="square" lIns="0" tIns="0" rIns="0" bIns="0" rtlCol="0" anchor="ctr"/>
          <a:lstStyle/>
          <a:p>
            <a:pPr algn="ctr" indent="0" marL="0">
              <a:buNone/>
            </a:pPr>
            <a:r>
              <a:rPr lang="en-US" sz="1350" i="1" dirty="0">
                <a:solidFill>
                  <a:srgbClr val="5B6B7C"/>
                </a:solidFill>
                <a:latin typeface="Calibri" pitchFamily="34" charset="0"/>
                <a:ea typeface="Calibri" pitchFamily="34" charset="-122"/>
                <a:cs typeface="Calibri" pitchFamily="34" charset="-120"/>
              </a:rPr>
              <a:t>Every scaler and encoder is fit on training data only, then applied unchanged to test data — never the reverse.</a:t>
            </a:r>
            <a:endParaRPr lang="en-US" sz="1350" dirty="0"/>
          </a:p>
        </p:txBody>
      </p:sp>
      <p:sp>
        <p:nvSpPr>
          <p:cNvPr id="25" name="Text 23"/>
          <p:cNvSpPr txBox="1"/>
          <p:nvPr/>
        </p:nvSpPr>
        <p:spPr>
          <a:xfrm>
            <a:off x="502920" y="3337560"/>
            <a:ext cx="11155680" cy="365760"/>
          </a:xfrm>
          <a:prstGeom prst="rect">
            <a:avLst/>
          </a:prstGeom>
          <a:noFill/>
          <a:ln/>
        </p:spPr>
        <p:txBody>
          <a:bodyPr wrap="square" lIns="0" tIns="0" rIns="0" bIns="0" rtlCol="0" anchor="ctr"/>
          <a:lstStyle/>
          <a:p>
            <a:pPr indent="0" marL="0">
              <a:buNone/>
            </a:pPr>
            <a:r>
              <a:rPr lang="en-US" sz="1500" b="1" dirty="0">
                <a:solidFill>
                  <a:srgbClr val="132A46"/>
                </a:solidFill>
                <a:latin typeface="Calibri" pitchFamily="34" charset="0"/>
                <a:ea typeface="Calibri" pitchFamily="34" charset="-122"/>
                <a:cs typeface="Calibri" pitchFamily="34" charset="-120"/>
              </a:rPr>
              <a:t>This one pipeline feeds five ML paradigms:</a:t>
            </a:r>
            <a:endParaRPr lang="en-US" sz="1500" dirty="0"/>
          </a:p>
        </p:txBody>
      </p:sp>
      <p:sp>
        <p:nvSpPr>
          <p:cNvPr id="26" name="Shape 24"/>
          <p:cNvSpPr/>
          <p:nvPr/>
        </p:nvSpPr>
        <p:spPr>
          <a:xfrm>
            <a:off x="502920" y="3794760"/>
            <a:ext cx="2157984" cy="1737360"/>
          </a:xfrm>
          <a:prstGeom prst="roundRect">
            <a:avLst>
              <a:gd name="adj" fmla="val 3684"/>
            </a:avLst>
          </a:prstGeom>
          <a:solidFill>
            <a:srgbClr val="FFFFFF"/>
          </a:solidFill>
          <a:ln w="12700">
            <a:solidFill>
              <a:srgbClr val="E1E6EC"/>
            </a:solidFill>
            <a:prstDash val="solid"/>
          </a:ln>
        </p:spPr>
      </p:sp>
      <p:sp>
        <p:nvSpPr>
          <p:cNvPr id="27" name="Shape 25"/>
          <p:cNvSpPr/>
          <p:nvPr/>
        </p:nvSpPr>
        <p:spPr>
          <a:xfrm>
            <a:off x="640080" y="3931920"/>
            <a:ext cx="457200" cy="457200"/>
          </a:xfrm>
          <a:prstGeom prst="ellipse">
            <a:avLst/>
          </a:prstGeom>
          <a:solidFill>
            <a:srgbClr val="F5A623"/>
          </a:solidFill>
          <a:ln/>
        </p:spPr>
      </p:sp>
      <p:sp>
        <p:nvSpPr>
          <p:cNvPr id="28" name="Text 26"/>
          <p:cNvSpPr txBox="1"/>
          <p:nvPr/>
        </p:nvSpPr>
        <p:spPr>
          <a:xfrm>
            <a:off x="640080" y="393192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1</a:t>
            </a:r>
            <a:endParaRPr lang="en-US" sz="1800" dirty="0"/>
          </a:p>
        </p:txBody>
      </p:sp>
      <p:sp>
        <p:nvSpPr>
          <p:cNvPr id="29" name="Text 27"/>
          <p:cNvSpPr txBox="1"/>
          <p:nvPr/>
        </p:nvSpPr>
        <p:spPr>
          <a:xfrm>
            <a:off x="640080" y="450799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Classification</a:t>
            </a:r>
            <a:endParaRPr lang="en-US" sz="1350" dirty="0"/>
          </a:p>
        </p:txBody>
      </p:sp>
      <p:sp>
        <p:nvSpPr>
          <p:cNvPr id="30" name="Text 28"/>
          <p:cNvSpPr txBox="1"/>
          <p:nvPr/>
        </p:nvSpPr>
        <p:spPr>
          <a:xfrm>
            <a:off x="640080" y="496519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Sky-condition &amp; generation-regime</a:t>
            </a:r>
            <a:endParaRPr lang="en-US" sz="1100" dirty="0"/>
          </a:p>
        </p:txBody>
      </p:sp>
      <p:sp>
        <p:nvSpPr>
          <p:cNvPr id="31" name="Shape 29"/>
          <p:cNvSpPr/>
          <p:nvPr/>
        </p:nvSpPr>
        <p:spPr>
          <a:xfrm>
            <a:off x="2715768" y="3794760"/>
            <a:ext cx="2157984" cy="1737360"/>
          </a:xfrm>
          <a:prstGeom prst="roundRect">
            <a:avLst>
              <a:gd name="adj" fmla="val 3684"/>
            </a:avLst>
          </a:prstGeom>
          <a:solidFill>
            <a:srgbClr val="FFFFFF"/>
          </a:solidFill>
          <a:ln w="12700">
            <a:solidFill>
              <a:srgbClr val="E1E6EC"/>
            </a:solidFill>
            <a:prstDash val="solid"/>
          </a:ln>
        </p:spPr>
      </p:sp>
      <p:sp>
        <p:nvSpPr>
          <p:cNvPr id="32" name="Shape 30"/>
          <p:cNvSpPr/>
          <p:nvPr/>
        </p:nvSpPr>
        <p:spPr>
          <a:xfrm>
            <a:off x="2852928" y="3931920"/>
            <a:ext cx="457200" cy="457200"/>
          </a:xfrm>
          <a:prstGeom prst="ellipse">
            <a:avLst/>
          </a:prstGeom>
          <a:solidFill>
            <a:srgbClr val="F5A623"/>
          </a:solidFill>
          <a:ln/>
        </p:spPr>
      </p:sp>
      <p:sp>
        <p:nvSpPr>
          <p:cNvPr id="33" name="Text 31"/>
          <p:cNvSpPr txBox="1"/>
          <p:nvPr/>
        </p:nvSpPr>
        <p:spPr>
          <a:xfrm>
            <a:off x="2852928" y="393192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2</a:t>
            </a:r>
            <a:endParaRPr lang="en-US" sz="1800" dirty="0"/>
          </a:p>
        </p:txBody>
      </p:sp>
      <p:sp>
        <p:nvSpPr>
          <p:cNvPr id="34" name="Text 32"/>
          <p:cNvSpPr txBox="1"/>
          <p:nvPr/>
        </p:nvSpPr>
        <p:spPr>
          <a:xfrm>
            <a:off x="2852928" y="450799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Regression</a:t>
            </a:r>
            <a:endParaRPr lang="en-US" sz="1350" dirty="0"/>
          </a:p>
        </p:txBody>
      </p:sp>
      <p:sp>
        <p:nvSpPr>
          <p:cNvPr id="35" name="Text 33"/>
          <p:cNvSpPr txBox="1"/>
          <p:nvPr/>
        </p:nvSpPr>
        <p:spPr>
          <a:xfrm>
            <a:off x="2852928" y="496519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Output Power — the core task</a:t>
            </a:r>
            <a:endParaRPr lang="en-US" sz="1100" dirty="0"/>
          </a:p>
        </p:txBody>
      </p:sp>
      <p:sp>
        <p:nvSpPr>
          <p:cNvPr id="36" name="Shape 34"/>
          <p:cNvSpPr/>
          <p:nvPr/>
        </p:nvSpPr>
        <p:spPr>
          <a:xfrm>
            <a:off x="4928616" y="3794760"/>
            <a:ext cx="2157984" cy="1737360"/>
          </a:xfrm>
          <a:prstGeom prst="roundRect">
            <a:avLst>
              <a:gd name="adj" fmla="val 3684"/>
            </a:avLst>
          </a:prstGeom>
          <a:solidFill>
            <a:srgbClr val="FFFFFF"/>
          </a:solidFill>
          <a:ln w="12700">
            <a:solidFill>
              <a:srgbClr val="E1E6EC"/>
            </a:solidFill>
            <a:prstDash val="solid"/>
          </a:ln>
        </p:spPr>
      </p:sp>
      <p:sp>
        <p:nvSpPr>
          <p:cNvPr id="37" name="Shape 35"/>
          <p:cNvSpPr/>
          <p:nvPr/>
        </p:nvSpPr>
        <p:spPr>
          <a:xfrm>
            <a:off x="5065776" y="3931920"/>
            <a:ext cx="457200" cy="457200"/>
          </a:xfrm>
          <a:prstGeom prst="ellipse">
            <a:avLst/>
          </a:prstGeom>
          <a:solidFill>
            <a:srgbClr val="F5A623"/>
          </a:solidFill>
          <a:ln/>
        </p:spPr>
      </p:sp>
      <p:sp>
        <p:nvSpPr>
          <p:cNvPr id="38" name="Text 36"/>
          <p:cNvSpPr txBox="1"/>
          <p:nvPr/>
        </p:nvSpPr>
        <p:spPr>
          <a:xfrm>
            <a:off x="5065776" y="393192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3</a:t>
            </a:r>
            <a:endParaRPr lang="en-US" sz="1800" dirty="0"/>
          </a:p>
        </p:txBody>
      </p:sp>
      <p:sp>
        <p:nvSpPr>
          <p:cNvPr id="39" name="Text 37"/>
          <p:cNvSpPr txBox="1"/>
          <p:nvPr/>
        </p:nvSpPr>
        <p:spPr>
          <a:xfrm>
            <a:off x="5065776" y="450799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Dimension Reduction</a:t>
            </a:r>
            <a:endParaRPr lang="en-US" sz="1350" dirty="0"/>
          </a:p>
        </p:txBody>
      </p:sp>
      <p:sp>
        <p:nvSpPr>
          <p:cNvPr id="40" name="Text 38"/>
          <p:cNvSpPr txBox="1"/>
          <p:nvPr/>
        </p:nvSpPr>
        <p:spPr>
          <a:xfrm>
            <a:off x="5065776" y="496519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PCA &amp; autoencoder compression</a:t>
            </a:r>
            <a:endParaRPr lang="en-US" sz="1100" dirty="0"/>
          </a:p>
        </p:txBody>
      </p:sp>
      <p:sp>
        <p:nvSpPr>
          <p:cNvPr id="41" name="Shape 39"/>
          <p:cNvSpPr/>
          <p:nvPr/>
        </p:nvSpPr>
        <p:spPr>
          <a:xfrm>
            <a:off x="7141464" y="3794760"/>
            <a:ext cx="2157984" cy="1737360"/>
          </a:xfrm>
          <a:prstGeom prst="roundRect">
            <a:avLst>
              <a:gd name="adj" fmla="val 3684"/>
            </a:avLst>
          </a:prstGeom>
          <a:solidFill>
            <a:srgbClr val="FFFFFF"/>
          </a:solidFill>
          <a:ln w="12700">
            <a:solidFill>
              <a:srgbClr val="E1E6EC"/>
            </a:solidFill>
            <a:prstDash val="solid"/>
          </a:ln>
        </p:spPr>
      </p:sp>
      <p:sp>
        <p:nvSpPr>
          <p:cNvPr id="42" name="Shape 40"/>
          <p:cNvSpPr/>
          <p:nvPr/>
        </p:nvSpPr>
        <p:spPr>
          <a:xfrm>
            <a:off x="7278624" y="3931920"/>
            <a:ext cx="457200" cy="457200"/>
          </a:xfrm>
          <a:prstGeom prst="ellipse">
            <a:avLst/>
          </a:prstGeom>
          <a:solidFill>
            <a:srgbClr val="F5A623"/>
          </a:solidFill>
          <a:ln/>
        </p:spPr>
      </p:sp>
      <p:sp>
        <p:nvSpPr>
          <p:cNvPr id="43" name="Text 41"/>
          <p:cNvSpPr txBox="1"/>
          <p:nvPr/>
        </p:nvSpPr>
        <p:spPr>
          <a:xfrm>
            <a:off x="7278624" y="393192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4</a:t>
            </a:r>
            <a:endParaRPr lang="en-US" sz="1800" dirty="0"/>
          </a:p>
        </p:txBody>
      </p:sp>
      <p:sp>
        <p:nvSpPr>
          <p:cNvPr id="44" name="Text 42"/>
          <p:cNvSpPr txBox="1"/>
          <p:nvPr/>
        </p:nvSpPr>
        <p:spPr>
          <a:xfrm>
            <a:off x="7278624" y="450799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Semi-Supervised</a:t>
            </a:r>
            <a:endParaRPr lang="en-US" sz="1350" dirty="0"/>
          </a:p>
        </p:txBody>
      </p:sp>
      <p:sp>
        <p:nvSpPr>
          <p:cNvPr id="45" name="Text 43"/>
          <p:cNvSpPr txBox="1"/>
          <p:nvPr/>
        </p:nvSpPr>
        <p:spPr>
          <a:xfrm>
            <a:off x="7278624" y="496519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Learning from partly-labeled data</a:t>
            </a:r>
            <a:endParaRPr lang="en-US" sz="1100" dirty="0"/>
          </a:p>
        </p:txBody>
      </p:sp>
      <p:sp>
        <p:nvSpPr>
          <p:cNvPr id="46" name="Shape 44"/>
          <p:cNvSpPr/>
          <p:nvPr/>
        </p:nvSpPr>
        <p:spPr>
          <a:xfrm>
            <a:off x="9354312" y="3794760"/>
            <a:ext cx="2157984" cy="1737360"/>
          </a:xfrm>
          <a:prstGeom prst="roundRect">
            <a:avLst>
              <a:gd name="adj" fmla="val 3684"/>
            </a:avLst>
          </a:prstGeom>
          <a:solidFill>
            <a:srgbClr val="FFFFFF"/>
          </a:solidFill>
          <a:ln w="12700">
            <a:solidFill>
              <a:srgbClr val="E1E6EC"/>
            </a:solidFill>
            <a:prstDash val="solid"/>
          </a:ln>
        </p:spPr>
      </p:sp>
      <p:sp>
        <p:nvSpPr>
          <p:cNvPr id="47" name="Shape 45"/>
          <p:cNvSpPr/>
          <p:nvPr/>
        </p:nvSpPr>
        <p:spPr>
          <a:xfrm>
            <a:off x="9491472" y="3931920"/>
            <a:ext cx="457200" cy="457200"/>
          </a:xfrm>
          <a:prstGeom prst="ellipse">
            <a:avLst/>
          </a:prstGeom>
          <a:solidFill>
            <a:srgbClr val="F5A623"/>
          </a:solidFill>
          <a:ln/>
        </p:spPr>
      </p:sp>
      <p:sp>
        <p:nvSpPr>
          <p:cNvPr id="48" name="Text 46"/>
          <p:cNvSpPr txBox="1"/>
          <p:nvPr/>
        </p:nvSpPr>
        <p:spPr>
          <a:xfrm>
            <a:off x="9491472" y="393192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5</a:t>
            </a:r>
            <a:endParaRPr lang="en-US" sz="1800" dirty="0"/>
          </a:p>
        </p:txBody>
      </p:sp>
      <p:sp>
        <p:nvSpPr>
          <p:cNvPr id="49" name="Text 47"/>
          <p:cNvSpPr txBox="1"/>
          <p:nvPr/>
        </p:nvSpPr>
        <p:spPr>
          <a:xfrm>
            <a:off x="9491472" y="450799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Transfer Learning</a:t>
            </a:r>
            <a:endParaRPr lang="en-US" sz="1350" dirty="0"/>
          </a:p>
        </p:txBody>
      </p:sp>
      <p:sp>
        <p:nvSpPr>
          <p:cNvPr id="50" name="Text 48"/>
          <p:cNvSpPr txBox="1"/>
          <p:nvPr/>
        </p:nvSpPr>
        <p:spPr>
          <a:xfrm>
            <a:off x="9491472" y="496519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Davis → Amherst knowledge transfer</a:t>
            </a:r>
            <a:endParaRPr lang="en-US" sz="1100" dirty="0"/>
          </a:p>
        </p:txBody>
      </p:sp>
      <p:sp>
        <p:nvSpPr>
          <p:cNvPr id="51" name="Text 49"/>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1</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Supervised Classification</a:t>
            </a:r>
            <a:endParaRPr lang="en-US" sz="3000" dirty="0"/>
          </a:p>
        </p:txBody>
      </p:sp>
      <p:sp>
        <p:nvSpPr>
          <p:cNvPr id="4" name="Text 2"/>
          <p:cNvSpPr txBox="1"/>
          <p:nvPr/>
        </p:nvSpPr>
        <p:spPr>
          <a:xfrm>
            <a:off x="502920" y="1417320"/>
            <a:ext cx="6309360" cy="77724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Predict sky-condition (Clear / Partly Cloudy / Overcast) from weather features — with GHI and irradiance columns deliberately excluded, since they define the label itself.</a:t>
            </a:r>
            <a:endParaRPr lang="en-US" sz="1450" dirty="0"/>
          </a:p>
        </p:txBody>
      </p:sp>
      <p:sp>
        <p:nvSpPr>
          <p:cNvPr id="5" name="Shape 3"/>
          <p:cNvSpPr/>
          <p:nvPr/>
        </p:nvSpPr>
        <p:spPr>
          <a:xfrm>
            <a:off x="502920" y="2331720"/>
            <a:ext cx="306324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6" name="Text 4"/>
          <p:cNvSpPr txBox="1"/>
          <p:nvPr/>
        </p:nvSpPr>
        <p:spPr>
          <a:xfrm>
            <a:off x="612648" y="2441448"/>
            <a:ext cx="284378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0.772</a:t>
            </a:r>
            <a:endParaRPr lang="en-US" sz="2600" dirty="0"/>
          </a:p>
        </p:txBody>
      </p:sp>
      <p:sp>
        <p:nvSpPr>
          <p:cNvPr id="7" name="Text 5"/>
          <p:cNvSpPr txBox="1"/>
          <p:nvPr/>
        </p:nvSpPr>
        <p:spPr>
          <a:xfrm>
            <a:off x="612648" y="2983687"/>
            <a:ext cx="284378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Balanced Accuracy (Davis)</a:t>
            </a:r>
            <a:endParaRPr lang="en-US" sz="1150" dirty="0"/>
          </a:p>
        </p:txBody>
      </p:sp>
      <p:sp>
        <p:nvSpPr>
          <p:cNvPr id="8" name="Shape 6"/>
          <p:cNvSpPr/>
          <p:nvPr/>
        </p:nvSpPr>
        <p:spPr>
          <a:xfrm>
            <a:off x="3703320" y="2331720"/>
            <a:ext cx="306324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9" name="Text 7"/>
          <p:cNvSpPr txBox="1"/>
          <p:nvPr/>
        </p:nvSpPr>
        <p:spPr>
          <a:xfrm>
            <a:off x="3813048" y="2441448"/>
            <a:ext cx="284378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0.720</a:t>
            </a:r>
            <a:endParaRPr lang="en-US" sz="2600" dirty="0"/>
          </a:p>
        </p:txBody>
      </p:sp>
      <p:sp>
        <p:nvSpPr>
          <p:cNvPr id="10" name="Text 8"/>
          <p:cNvSpPr txBox="1"/>
          <p:nvPr/>
        </p:nvSpPr>
        <p:spPr>
          <a:xfrm>
            <a:off x="3813048" y="2983687"/>
            <a:ext cx="284378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Macro F1 (Davis)</a:t>
            </a:r>
            <a:endParaRPr lang="en-US" sz="1150" dirty="0"/>
          </a:p>
        </p:txBody>
      </p:sp>
      <p:sp>
        <p:nvSpPr>
          <p:cNvPr id="11" name="Text 9"/>
          <p:cNvSpPr txBox="1"/>
          <p:nvPr/>
        </p:nvSpPr>
        <p:spPr>
          <a:xfrm>
            <a:off x="502920" y="3566160"/>
            <a:ext cx="6309360" cy="32004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Best model: Logistic Regression (balanced weight)</a:t>
            </a:r>
            <a:endParaRPr lang="en-US" sz="1350" dirty="0"/>
          </a:p>
        </p:txBody>
      </p:sp>
      <p:sp>
        <p:nvSpPr>
          <p:cNvPr id="12" name="Text 10"/>
          <p:cNvSpPr txBox="1"/>
          <p:nvPr/>
        </p:nvSpPr>
        <p:spPr>
          <a:xfrm>
            <a:off x="502920" y="3931920"/>
            <a:ext cx="6309360" cy="237744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Notably not an ensemble or neural network — a well-regularized linear model, since the remaining features relate to sky-condition fairly directly</a:t>
            </a:r>
            <a:endParaRPr lang="en-US" sz="1400" dirty="0"/>
          </a:p>
          <a:p>
            <a:pPr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Clear conditions: F1 = 0.946 (easiest, majority class)</a:t>
            </a:r>
            <a:endParaRPr lang="en-US" sz="1400" dirty="0"/>
          </a:p>
          <a:p>
            <a:pPr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Partly Cloudy: F1 = 0.566 (hardest — sits between both other classes)</a:t>
            </a:r>
            <a:endParaRPr lang="en-US" sz="1400" dirty="0"/>
          </a:p>
        </p:txBody>
      </p:sp>
      <p:sp>
        <p:nvSpPr>
          <p:cNvPr id="13" name="Shape 11"/>
          <p:cNvSpPr/>
          <p:nvPr/>
        </p:nvSpPr>
        <p:spPr>
          <a:xfrm>
            <a:off x="7360920" y="1417320"/>
            <a:ext cx="4343400" cy="4572000"/>
          </a:xfrm>
          <a:prstGeom prst="roundRect">
            <a:avLst>
              <a:gd name="adj" fmla="val 1263"/>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14" name="Image 0" descr="/home/claude/ECE571_Project/figures/problem1/problem1_sky_condition_confusion_matrix_Davis.png">    </p:cNvPr>
          <p:cNvPicPr>
            <a:picLocks noChangeAspect="1"/>
          </p:cNvPicPr>
          <p:nvPr/>
        </p:nvPicPr>
        <p:blipFill>
          <a:blip r:embed="rId1"/>
          <a:srcRect l="0" r="0" t="0" b="0"/>
          <a:stretch/>
        </p:blipFill>
        <p:spPr>
          <a:xfrm>
            <a:off x="7470648" y="1527048"/>
            <a:ext cx="4123944" cy="4005072"/>
          </a:xfrm>
          <a:prstGeom prst="rect">
            <a:avLst/>
          </a:prstGeom>
        </p:spPr>
      </p:pic>
      <p:sp>
        <p:nvSpPr>
          <p:cNvPr id="15" name="Text 12"/>
          <p:cNvSpPr txBox="1"/>
          <p:nvPr/>
        </p:nvSpPr>
        <p:spPr>
          <a:xfrm>
            <a:off x="7470648" y="5586984"/>
            <a:ext cx="412394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Confusion matrix, best Davis sky-condition model</a:t>
            </a:r>
            <a:endParaRPr lang="en-US" sz="1100" dirty="0"/>
          </a:p>
        </p:txBody>
      </p:sp>
      <p:sp>
        <p:nvSpPr>
          <p:cNvPr id="16" name="Text 13"/>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2 — CORE TASK</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Supervised Regression</a:t>
            </a:r>
            <a:endParaRPr lang="en-US" sz="3000" dirty="0"/>
          </a:p>
        </p:txBody>
      </p:sp>
      <p:sp>
        <p:nvSpPr>
          <p:cNvPr id="4" name="Text 2"/>
          <p:cNvSpPr txBox="1"/>
          <p:nvPr/>
        </p:nvSpPr>
        <p:spPr>
          <a:xfrm>
            <a:off x="502920" y="1417320"/>
            <a:ext cx="6309360" cy="68580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Predict continuous Output Power (kW) from weather + irradiance features — same-city, cross-city, and as a short-term sequence forecast.</a:t>
            </a:r>
            <a:endParaRPr lang="en-US" sz="1450" dirty="0"/>
          </a:p>
        </p:txBody>
      </p:sp>
      <p:sp>
        <p:nvSpPr>
          <p:cNvPr id="5" name="Shape 3"/>
          <p:cNvSpPr/>
          <p:nvPr/>
        </p:nvSpPr>
        <p:spPr>
          <a:xfrm>
            <a:off x="502920" y="2240280"/>
            <a:ext cx="201168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6" name="Text 4"/>
          <p:cNvSpPr txBox="1"/>
          <p:nvPr/>
        </p:nvSpPr>
        <p:spPr>
          <a:xfrm>
            <a:off x="612648" y="2350008"/>
            <a:ext cx="179222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15.17</a:t>
            </a:r>
            <a:endParaRPr lang="en-US" sz="2600" dirty="0"/>
          </a:p>
        </p:txBody>
      </p:sp>
      <p:sp>
        <p:nvSpPr>
          <p:cNvPr id="7" name="Text 5"/>
          <p:cNvSpPr txBox="1"/>
          <p:nvPr/>
        </p:nvSpPr>
        <p:spPr>
          <a:xfrm>
            <a:off x="612648" y="2892247"/>
            <a:ext cx="179222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RMSE (kW)</a:t>
            </a:r>
            <a:endParaRPr lang="en-US" sz="1150" dirty="0"/>
          </a:p>
        </p:txBody>
      </p:sp>
      <p:sp>
        <p:nvSpPr>
          <p:cNvPr id="8" name="Shape 6"/>
          <p:cNvSpPr/>
          <p:nvPr/>
        </p:nvSpPr>
        <p:spPr>
          <a:xfrm>
            <a:off x="2606040" y="2240280"/>
            <a:ext cx="201168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9" name="Text 7"/>
          <p:cNvSpPr txBox="1"/>
          <p:nvPr/>
        </p:nvSpPr>
        <p:spPr>
          <a:xfrm>
            <a:off x="2715768" y="2350008"/>
            <a:ext cx="179222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8.31</a:t>
            </a:r>
            <a:endParaRPr lang="en-US" sz="2600" dirty="0"/>
          </a:p>
        </p:txBody>
      </p:sp>
      <p:sp>
        <p:nvSpPr>
          <p:cNvPr id="10" name="Text 8"/>
          <p:cNvSpPr txBox="1"/>
          <p:nvPr/>
        </p:nvSpPr>
        <p:spPr>
          <a:xfrm>
            <a:off x="2715768" y="2892247"/>
            <a:ext cx="179222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MAE (kW)</a:t>
            </a:r>
            <a:endParaRPr lang="en-US" sz="1150" dirty="0"/>
          </a:p>
        </p:txBody>
      </p:sp>
      <p:sp>
        <p:nvSpPr>
          <p:cNvPr id="11" name="Shape 9"/>
          <p:cNvSpPr/>
          <p:nvPr/>
        </p:nvSpPr>
        <p:spPr>
          <a:xfrm>
            <a:off x="4709160" y="2240280"/>
            <a:ext cx="210312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12" name="Text 10"/>
          <p:cNvSpPr txBox="1"/>
          <p:nvPr/>
        </p:nvSpPr>
        <p:spPr>
          <a:xfrm>
            <a:off x="4818888" y="2350008"/>
            <a:ext cx="188366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0.953</a:t>
            </a:r>
            <a:endParaRPr lang="en-US" sz="2600" dirty="0"/>
          </a:p>
        </p:txBody>
      </p:sp>
      <p:sp>
        <p:nvSpPr>
          <p:cNvPr id="13" name="Text 11"/>
          <p:cNvSpPr txBox="1"/>
          <p:nvPr/>
        </p:nvSpPr>
        <p:spPr>
          <a:xfrm>
            <a:off x="4818888" y="2892247"/>
            <a:ext cx="188366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R² (Davis)</a:t>
            </a:r>
            <a:endParaRPr lang="en-US" sz="1150" dirty="0"/>
          </a:p>
        </p:txBody>
      </p:sp>
      <p:sp>
        <p:nvSpPr>
          <p:cNvPr id="14" name="Text 12"/>
          <p:cNvSpPr txBox="1"/>
          <p:nvPr/>
        </p:nvSpPr>
        <p:spPr>
          <a:xfrm>
            <a:off x="502920" y="3474720"/>
            <a:ext cx="6309360" cy="32004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Best model: Gradient Boosting (Davis, same-city)</a:t>
            </a:r>
            <a:endParaRPr lang="en-US" sz="1350" dirty="0"/>
          </a:p>
        </p:txBody>
      </p:sp>
      <p:sp>
        <p:nvSpPr>
          <p:cNvPr id="15" name="Text 13"/>
          <p:cNvSpPr txBox="1"/>
          <p:nvPr/>
        </p:nvSpPr>
        <p:spPr>
          <a:xfrm>
            <a:off x="502920" y="3840480"/>
            <a:ext cx="6309360" cy="246888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Cross-city zero-shot (Davis → Huron/Santa Barbara/La Jolla) failed severely (RMSE ≈ 125 kW) — almost entirely a scale-mismatch problem, not a modeling failure</a:t>
            </a:r>
            <a:endParaRPr lang="en-US" sz="1400" dirty="0"/>
          </a:p>
          <a:p>
            <a:pPr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K=12 sequence GRU (17.58 kW) clearly beat a persistence baseline (21.97 kW) — genuine temporal structure, though a harder task than same-timestep regression</a:t>
            </a:r>
            <a:endParaRPr lang="en-US" sz="1400" dirty="0"/>
          </a:p>
        </p:txBody>
      </p:sp>
      <p:sp>
        <p:nvSpPr>
          <p:cNvPr id="16" name="Shape 14"/>
          <p:cNvSpPr/>
          <p:nvPr/>
        </p:nvSpPr>
        <p:spPr>
          <a:xfrm>
            <a:off x="7635240" y="1417320"/>
            <a:ext cx="4069080" cy="4572000"/>
          </a:xfrm>
          <a:prstGeom prst="roundRect">
            <a:avLst>
              <a:gd name="adj" fmla="val 1348"/>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17" name="Image 0" descr="/home/claude/ECE571_Project/figures/problem2/problem2_predicted_vs_actual_davis.png">    </p:cNvPr>
          <p:cNvPicPr>
            <a:picLocks noChangeAspect="1"/>
          </p:cNvPicPr>
          <p:nvPr/>
        </p:nvPicPr>
        <p:blipFill>
          <a:blip r:embed="rId1"/>
          <a:srcRect l="0" r="0" t="0" b="0"/>
          <a:stretch/>
        </p:blipFill>
        <p:spPr>
          <a:xfrm>
            <a:off x="7744968" y="1527048"/>
            <a:ext cx="3849624" cy="4005072"/>
          </a:xfrm>
          <a:prstGeom prst="rect">
            <a:avLst/>
          </a:prstGeom>
        </p:spPr>
      </p:pic>
      <p:sp>
        <p:nvSpPr>
          <p:cNvPr id="18" name="Text 15"/>
          <p:cNvSpPr txBox="1"/>
          <p:nvPr/>
        </p:nvSpPr>
        <p:spPr>
          <a:xfrm>
            <a:off x="7744968" y="5586984"/>
            <a:ext cx="384962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Predicted vs. actual Output Power, Davis</a:t>
            </a:r>
            <a:endParaRPr lang="en-US" sz="1100" dirty="0"/>
          </a:p>
        </p:txBody>
      </p:sp>
      <p:sp>
        <p:nvSpPr>
          <p:cNvPr id="19" name="Text 16"/>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3</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Dimension Reduction</a:t>
            </a:r>
            <a:endParaRPr lang="en-US" sz="3000" dirty="0"/>
          </a:p>
        </p:txBody>
      </p:sp>
      <p:sp>
        <p:nvSpPr>
          <p:cNvPr id="4" name="Text 2"/>
          <p:cNvSpPr txBox="1"/>
          <p:nvPr/>
        </p:nvSpPr>
        <p:spPr>
          <a:xfrm>
            <a:off x="502920" y="1417320"/>
            <a:ext cx="11155680" cy="59436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Compress 23 features to d = 2, 5, or 10 dimensions with PCA (linear) and an autoencoder (nonlinear) — fit with zero label access — then test whether Problems 1 &amp; 2 still work as well.</a:t>
            </a:r>
            <a:endParaRPr lang="en-US" sz="1450" dirty="0"/>
          </a:p>
        </p:txBody>
      </p:sp>
      <p:sp>
        <p:nvSpPr>
          <p:cNvPr id="5" name="Shape 3"/>
          <p:cNvSpPr/>
          <p:nvPr/>
        </p:nvSpPr>
        <p:spPr>
          <a:xfrm>
            <a:off x="502920" y="2148840"/>
            <a:ext cx="5349240" cy="3886200"/>
          </a:xfrm>
          <a:prstGeom prst="roundRect">
            <a:avLst>
              <a:gd name="adj" fmla="val 1412"/>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6" name="Image 0" descr="/home/claude/ECE571_Project/figures/problem3/problem3_downstream_classification.png">    </p:cNvPr>
          <p:cNvPicPr>
            <a:picLocks noChangeAspect="1"/>
          </p:cNvPicPr>
          <p:nvPr/>
        </p:nvPicPr>
        <p:blipFill>
          <a:blip r:embed="rId1"/>
          <a:srcRect l="0" r="0" t="0" b="0"/>
          <a:stretch/>
        </p:blipFill>
        <p:spPr>
          <a:xfrm>
            <a:off x="612648" y="2258568"/>
            <a:ext cx="5129784" cy="3319272"/>
          </a:xfrm>
          <a:prstGeom prst="rect">
            <a:avLst/>
          </a:prstGeom>
        </p:spPr>
      </p:pic>
      <p:sp>
        <p:nvSpPr>
          <p:cNvPr id="7" name="Text 4"/>
          <p:cNvSpPr txBox="1"/>
          <p:nvPr/>
        </p:nvSpPr>
        <p:spPr>
          <a:xfrm>
            <a:off x="612648" y="5632704"/>
            <a:ext cx="512978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Downstream classification accuracy: raw vs. every reduced representation</a:t>
            </a:r>
            <a:endParaRPr lang="en-US" sz="1100" dirty="0"/>
          </a:p>
        </p:txBody>
      </p:sp>
      <p:sp>
        <p:nvSpPr>
          <p:cNvPr id="8" name="Shape 5"/>
          <p:cNvSpPr/>
          <p:nvPr/>
        </p:nvSpPr>
        <p:spPr>
          <a:xfrm>
            <a:off x="6080760" y="2148840"/>
            <a:ext cx="5605272" cy="3886200"/>
          </a:xfrm>
          <a:prstGeom prst="roundRect">
            <a:avLst>
              <a:gd name="adj" fmla="val 1882"/>
            </a:avLst>
          </a:prstGeom>
          <a:solidFill>
            <a:srgbClr val="132A46"/>
          </a:solidFill>
          <a:ln/>
        </p:spPr>
      </p:sp>
      <p:sp>
        <p:nvSpPr>
          <p:cNvPr id="9" name="Text 6"/>
          <p:cNvSpPr txBox="1"/>
          <p:nvPr/>
        </p:nvSpPr>
        <p:spPr>
          <a:xfrm>
            <a:off x="6309360" y="2377440"/>
            <a:ext cx="5120640" cy="45720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The key question: did compression help or hurt?</a:t>
            </a:r>
            <a:endParaRPr lang="en-US" sz="1500" dirty="0"/>
          </a:p>
        </p:txBody>
      </p:sp>
      <p:sp>
        <p:nvSpPr>
          <p:cNvPr id="10" name="Text 7"/>
          <p:cNvSpPr txBox="1"/>
          <p:nvPr/>
        </p:nvSpPr>
        <p:spPr>
          <a:xfrm>
            <a:off x="6309360" y="2926080"/>
            <a:ext cx="5120640" cy="2926080"/>
          </a:xfrm>
          <a:prstGeom prst="rect">
            <a:avLst/>
          </a:prstGeom>
          <a:noFill/>
          <a:ln/>
        </p:spPr>
        <p:txBody>
          <a:bodyPr wrap="square" lIns="0" tIns="0" rIns="0" bIns="0" rtlCol="0" anchor="t"/>
          <a:lstStyle/>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Raw features beat every PCA/autoencoder representation, at every tested dimension, on both classification and regression</a:t>
            </a:r>
            <a:endParaRPr lang="en-US" sz="1350" dirty="0"/>
          </a:p>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Raw: 0.743 balanced accuracy vs. best reduced (Autoencoder, d=10): 0.661</a:t>
            </a:r>
            <a:endParaRPr lang="en-US" sz="1350" dirty="0"/>
          </a:p>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Autoencoder consistently beat PCA — it can learn nonlinear compressions PCA cannot</a:t>
            </a:r>
            <a:endParaRPr lang="en-US" sz="1350" dirty="0"/>
          </a:p>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Traced to a cause: Cloud Type (highly predictive) compresses poorly into a few continuous dimensions</a:t>
            </a:r>
            <a:endParaRPr lang="en-US" sz="1350" dirty="0"/>
          </a:p>
        </p:txBody>
      </p:sp>
      <p:sp>
        <p:nvSpPr>
          <p:cNvPr id="11" name="Text 8"/>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4</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Semi-Supervised Learning</a:t>
            </a:r>
            <a:endParaRPr lang="en-US" sz="3000" dirty="0"/>
          </a:p>
        </p:txBody>
      </p:sp>
      <p:sp>
        <p:nvSpPr>
          <p:cNvPr id="4" name="Text 2"/>
          <p:cNvSpPr txBox="1"/>
          <p:nvPr/>
        </p:nvSpPr>
        <p:spPr>
          <a:xfrm>
            <a:off x="502920" y="1417320"/>
            <a:ext cx="11155680" cy="6400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Only 10%, 30%, or 50% of Davis's sky-condition labels are available. Can pseudo-labeling — using the model's own confident predictions on unlabeled data — beat training on the labeled subset alone?</a:t>
            </a:r>
            <a:endParaRPr lang="en-US" sz="1450" dirty="0"/>
          </a:p>
        </p:txBody>
      </p:sp>
      <p:sp>
        <p:nvSpPr>
          <p:cNvPr id="5" name="Shape 3"/>
          <p:cNvSpPr/>
          <p:nvPr/>
        </p:nvSpPr>
        <p:spPr>
          <a:xfrm>
            <a:off x="502920" y="2194560"/>
            <a:ext cx="5349240" cy="3840480"/>
          </a:xfrm>
          <a:prstGeom prst="roundRect">
            <a:avLst>
              <a:gd name="adj" fmla="val 1429"/>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6" name="Image 0" descr="/home/claude/ECE571_Project/figures/problem4/problem4_label_efficiency_curve.png">    </p:cNvPr>
          <p:cNvPicPr>
            <a:picLocks noChangeAspect="1"/>
          </p:cNvPicPr>
          <p:nvPr/>
        </p:nvPicPr>
        <p:blipFill>
          <a:blip r:embed="rId1"/>
          <a:srcRect l="0" r="0" t="0" b="0"/>
          <a:stretch/>
        </p:blipFill>
        <p:spPr>
          <a:xfrm>
            <a:off x="612648" y="2304288"/>
            <a:ext cx="5129784" cy="3273552"/>
          </a:xfrm>
          <a:prstGeom prst="rect">
            <a:avLst/>
          </a:prstGeom>
        </p:spPr>
      </p:pic>
      <p:sp>
        <p:nvSpPr>
          <p:cNvPr id="7" name="Text 4"/>
          <p:cNvSpPr txBox="1"/>
          <p:nvPr/>
        </p:nvSpPr>
        <p:spPr>
          <a:xfrm>
            <a:off x="612648" y="5632704"/>
            <a:ext cx="512978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Label-efficiency curve: supervised-only vs. SSL</a:t>
            </a:r>
            <a:endParaRPr lang="en-US" sz="1100" dirty="0"/>
          </a:p>
        </p:txBody>
      </p:sp>
      <p:sp>
        <p:nvSpPr>
          <p:cNvPr id="8" name="Text 5"/>
          <p:cNvSpPr txBox="1"/>
          <p:nvPr/>
        </p:nvSpPr>
        <p:spPr>
          <a:xfrm>
            <a:off x="6080760" y="2286000"/>
            <a:ext cx="5605272" cy="411480"/>
          </a:xfrm>
          <a:prstGeom prst="rect">
            <a:avLst/>
          </a:prstGeom>
          <a:noFill/>
          <a:ln/>
        </p:spPr>
        <p:txBody>
          <a:bodyPr wrap="square" lIns="0" tIns="0" rIns="0" bIns="0" rtlCol="0" anchor="ctr"/>
          <a:lstStyle/>
          <a:p>
            <a:pPr indent="0" marL="0">
              <a:buNone/>
            </a:pPr>
            <a:r>
              <a:rPr lang="en-US" sz="1600" b="1" dirty="0">
                <a:solidFill>
                  <a:srgbClr val="C0524A"/>
                </a:solidFill>
                <a:latin typeface="Calibri" pitchFamily="34" charset="0"/>
                <a:ea typeface="Calibri" pitchFamily="34" charset="-122"/>
                <a:cs typeface="Calibri" pitchFamily="34" charset="-120"/>
              </a:rPr>
              <a:t>Did SSL beat supervised-only at 10% labels? NO.</a:t>
            </a:r>
            <a:endParaRPr lang="en-US" sz="1600" dirty="0"/>
          </a:p>
        </p:txBody>
      </p:sp>
      <p:sp>
        <p:nvSpPr>
          <p:cNvPr id="9" name="Text 6"/>
          <p:cNvSpPr txBox="1"/>
          <p:nvPr/>
        </p:nvSpPr>
        <p:spPr>
          <a:xfrm>
            <a:off x="6080760" y="2834640"/>
            <a:ext cx="5605272" cy="3108960"/>
          </a:xfrm>
          <a:prstGeom prst="rect">
            <a:avLst/>
          </a:prstGeom>
          <a:noFill/>
          <a:ln/>
        </p:spPr>
        <p:txBody>
          <a:bodyPr wrap="square" lIns="0" tIns="0" rIns="0" bIns="0" rtlCol="0" anchor="t"/>
          <a:lstStyle/>
          <a:p>
            <a:pPr marL="228600" indent="-228600">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SSL gain was slightly negative at every fraction tested (10%, 30%, 50%) — an honest, reported finding</a:t>
            </a:r>
            <a:endParaRPr lang="en-US" sz="1350" dirty="0"/>
          </a:p>
          <a:p>
            <a:pPr marL="228600" indent="-228600">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Diagnosis: pseudo-labels were 100% accurate (checked after training only) — but 98% of the first round were the easy “Clear” class</a:t>
            </a:r>
            <a:endParaRPr lang="en-US" sz="1350" dirty="0"/>
          </a:p>
          <a:p>
            <a:pPr marL="228600" indent="-228600">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Correct, but redundant — reinforced what the model already knew instead of helping with the hard Partly Cloudy / Overcast boundary</a:t>
            </a:r>
            <a:endParaRPr lang="en-US" sz="1350" dirty="0"/>
          </a:p>
        </p:txBody>
      </p:sp>
      <p:sp>
        <p:nvSpPr>
          <p:cNvPr id="10" name="Text 7"/>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5</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Transfer Learning</a:t>
            </a:r>
            <a:endParaRPr lang="en-US" sz="3000" dirty="0"/>
          </a:p>
        </p:txBody>
      </p:sp>
      <p:sp>
        <p:nvSpPr>
          <p:cNvPr id="4" name="Shape 2"/>
          <p:cNvSpPr/>
          <p:nvPr/>
        </p:nvSpPr>
        <p:spPr>
          <a:xfrm>
            <a:off x="502920" y="1508760"/>
            <a:ext cx="1737360" cy="777240"/>
          </a:xfrm>
          <a:prstGeom prst="roundRect">
            <a:avLst>
              <a:gd name="adj" fmla="val 7059"/>
            </a:avLst>
          </a:prstGeom>
          <a:solidFill>
            <a:srgbClr val="132A46"/>
          </a:solidFill>
          <a:ln/>
        </p:spPr>
      </p:sp>
      <p:sp>
        <p:nvSpPr>
          <p:cNvPr id="5" name="Text 3"/>
          <p:cNvSpPr txBox="1"/>
          <p:nvPr/>
        </p:nvSpPr>
        <p:spPr>
          <a:xfrm>
            <a:off x="502920" y="1508760"/>
            <a:ext cx="173736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Davis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6 years</a:t>
            </a:r>
            <a:endParaRPr lang="en-US" sz="1250" dirty="0"/>
          </a:p>
        </p:txBody>
      </p:sp>
      <p:sp>
        <p:nvSpPr>
          <p:cNvPr id="6" name="Text 4"/>
          <p:cNvSpPr txBox="1"/>
          <p:nvPr/>
        </p:nvSpPr>
        <p:spPr>
          <a:xfrm>
            <a:off x="2240280" y="1508760"/>
            <a:ext cx="457200" cy="777240"/>
          </a:xfrm>
          <a:prstGeom prst="rect">
            <a:avLst/>
          </a:prstGeom>
          <a:noFill/>
          <a:ln/>
        </p:spPr>
        <p:txBody>
          <a:bodyPr wrap="square" lIns="0" tIns="0" rIns="0" bIns="0" rtlCol="0" anchor="ctr"/>
          <a:lstStyle/>
          <a:p>
            <a:pPr algn="ctr" indent="0" marL="0">
              <a:buNone/>
            </a:pPr>
            <a:r>
              <a:rPr lang="en-US" sz="1800" dirty="0">
                <a:solidFill>
                  <a:srgbClr val="5B6B7C"/>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2697480" y="1508760"/>
            <a:ext cx="1737360" cy="777240"/>
          </a:xfrm>
          <a:prstGeom prst="roundRect">
            <a:avLst>
              <a:gd name="adj" fmla="val 7059"/>
            </a:avLst>
          </a:prstGeom>
          <a:solidFill>
            <a:srgbClr val="24466E"/>
          </a:solidFill>
          <a:ln/>
        </p:spPr>
      </p:sp>
      <p:sp>
        <p:nvSpPr>
          <p:cNvPr id="8" name="Text 6"/>
          <p:cNvSpPr txBox="1"/>
          <p:nvPr/>
        </p:nvSpPr>
        <p:spPr>
          <a:xfrm>
            <a:off x="2697480" y="1508760"/>
            <a:ext cx="173736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p>
        </p:txBody>
      </p:sp>
      <p:sp>
        <p:nvSpPr>
          <p:cNvPr id="9" name="Text 7"/>
          <p:cNvSpPr txBox="1"/>
          <p:nvPr/>
        </p:nvSpPr>
        <p:spPr>
          <a:xfrm>
            <a:off x="4434840" y="1508760"/>
            <a:ext cx="457200" cy="777240"/>
          </a:xfrm>
          <a:prstGeom prst="rect">
            <a:avLst/>
          </a:prstGeom>
          <a:noFill/>
          <a:ln/>
        </p:spPr>
        <p:txBody>
          <a:bodyPr wrap="square" lIns="0" tIns="0" rIns="0" bIns="0" rtlCol="0" anchor="ctr"/>
          <a:lstStyle/>
          <a:p>
            <a:pPr algn="ctr" indent="0" marL="0">
              <a:buNone/>
            </a:pPr>
            <a:r>
              <a:rPr lang="en-US" sz="1800" dirty="0">
                <a:solidFill>
                  <a:srgbClr val="5B6B7C"/>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4892040" y="1508760"/>
            <a:ext cx="1737360" cy="777240"/>
          </a:xfrm>
          <a:prstGeom prst="roundRect">
            <a:avLst>
              <a:gd name="adj" fmla="val 7059"/>
            </a:avLst>
          </a:prstGeom>
          <a:solidFill>
            <a:srgbClr val="F5A623"/>
          </a:solidFill>
          <a:ln/>
        </p:spPr>
      </p:sp>
      <p:sp>
        <p:nvSpPr>
          <p:cNvPr id="11" name="Text 9"/>
          <p:cNvSpPr txBox="1"/>
          <p:nvPr/>
        </p:nvSpPr>
        <p:spPr>
          <a:xfrm>
            <a:off x="4892040" y="1508760"/>
            <a:ext cx="1737360" cy="777240"/>
          </a:xfrm>
          <a:prstGeom prst="rect">
            <a:avLst/>
          </a:prstGeom>
          <a:noFill/>
          <a:ln/>
        </p:spPr>
        <p:txBody>
          <a:bodyPr wrap="square" lIns="0" tIns="0" rIns="0" bIns="0" rtlCol="0" anchor="ctr"/>
          <a:lstStyle/>
          <a:p>
            <a:pPr algn="ctr" indent="0" marL="0">
              <a:buNone/>
            </a:pPr>
            <a:r>
              <a:rPr lang="en-US" sz="1250" b="1" dirty="0">
                <a:solidFill>
                  <a:srgbClr val="132A46"/>
                </a:solidFill>
                <a:latin typeface="Calibri" pitchFamily="34" charset="0"/>
                <a:ea typeface="Calibri" pitchFamily="34" charset="-122"/>
                <a:cs typeface="Calibri" pitchFamily="34" charset="-120"/>
              </a:rPr>
              <a:t>Fine-Tune</a:t>
            </a:r>
            <a:endParaRPr lang="en-US" sz="1250" dirty="0"/>
          </a:p>
        </p:txBody>
      </p:sp>
      <p:sp>
        <p:nvSpPr>
          <p:cNvPr id="12" name="Text 10"/>
          <p:cNvSpPr txBox="1"/>
          <p:nvPr/>
        </p:nvSpPr>
        <p:spPr>
          <a:xfrm>
            <a:off x="6629400" y="1508760"/>
            <a:ext cx="457200" cy="777240"/>
          </a:xfrm>
          <a:prstGeom prst="rect">
            <a:avLst/>
          </a:prstGeom>
          <a:noFill/>
          <a:ln/>
        </p:spPr>
        <p:txBody>
          <a:bodyPr wrap="square" lIns="0" tIns="0" rIns="0" bIns="0" rtlCol="0" anchor="ctr"/>
          <a:lstStyle/>
          <a:p>
            <a:pPr algn="ctr" indent="0" marL="0">
              <a:buNone/>
            </a:pPr>
            <a:r>
              <a:rPr lang="en-US" sz="1800" dirty="0">
                <a:solidFill>
                  <a:srgbClr val="5B6B7C"/>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7086600" y="1508760"/>
            <a:ext cx="1737360" cy="777240"/>
          </a:xfrm>
          <a:prstGeom prst="roundRect">
            <a:avLst>
              <a:gd name="adj" fmla="val 7059"/>
            </a:avLst>
          </a:prstGeom>
          <a:solidFill>
            <a:srgbClr val="2A9D8F"/>
          </a:solidFill>
          <a:ln/>
        </p:spPr>
      </p:sp>
      <p:sp>
        <p:nvSpPr>
          <p:cNvPr id="14" name="Text 12"/>
          <p:cNvSpPr txBox="1"/>
          <p:nvPr/>
        </p:nvSpPr>
        <p:spPr>
          <a:xfrm>
            <a:off x="7086600" y="1508760"/>
            <a:ext cx="173736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Amherst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3 years</a:t>
            </a:r>
            <a:endParaRPr lang="en-US" sz="1250" dirty="0"/>
          </a:p>
        </p:txBody>
      </p:sp>
      <p:sp>
        <p:nvSpPr>
          <p:cNvPr id="15" name="Shape 13"/>
          <p:cNvSpPr/>
          <p:nvPr/>
        </p:nvSpPr>
        <p:spPr>
          <a:xfrm>
            <a:off x="502920" y="2606040"/>
            <a:ext cx="2697480" cy="1005840"/>
          </a:xfrm>
          <a:prstGeom prst="roundRect">
            <a:avLst>
              <a:gd name="adj" fmla="val 7273"/>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16" name="Text 14"/>
          <p:cNvSpPr txBox="1"/>
          <p:nvPr/>
        </p:nvSpPr>
        <p:spPr>
          <a:xfrm>
            <a:off x="612648" y="2715768"/>
            <a:ext cx="2478024" cy="553212"/>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+21.4%</a:t>
            </a:r>
            <a:endParaRPr lang="en-US" sz="2600" dirty="0"/>
          </a:p>
        </p:txBody>
      </p:sp>
      <p:sp>
        <p:nvSpPr>
          <p:cNvPr id="17" name="Text 15"/>
          <p:cNvSpPr txBox="1"/>
          <p:nvPr/>
        </p:nvSpPr>
        <p:spPr>
          <a:xfrm>
            <a:off x="612648" y="3229661"/>
            <a:ext cx="2478024" cy="341986"/>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Transfer gain at k=10 samples</a:t>
            </a:r>
            <a:endParaRPr lang="en-US" sz="1150" dirty="0"/>
          </a:p>
        </p:txBody>
      </p:sp>
      <p:sp>
        <p:nvSpPr>
          <p:cNvPr id="18" name="Shape 16"/>
          <p:cNvSpPr/>
          <p:nvPr/>
        </p:nvSpPr>
        <p:spPr>
          <a:xfrm>
            <a:off x="3337560" y="2606040"/>
            <a:ext cx="2697480" cy="1005840"/>
          </a:xfrm>
          <a:prstGeom prst="roundRect">
            <a:avLst>
              <a:gd name="adj" fmla="val 7273"/>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19" name="Text 17"/>
          <p:cNvSpPr txBox="1"/>
          <p:nvPr/>
        </p:nvSpPr>
        <p:spPr>
          <a:xfrm>
            <a:off x="3447288" y="2715768"/>
            <a:ext cx="2478024" cy="553212"/>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30.03</a:t>
            </a:r>
            <a:endParaRPr lang="en-US" sz="2600" dirty="0"/>
          </a:p>
        </p:txBody>
      </p:sp>
      <p:sp>
        <p:nvSpPr>
          <p:cNvPr id="20" name="Text 18"/>
          <p:cNvSpPr txBox="1"/>
          <p:nvPr/>
        </p:nvSpPr>
        <p:spPr>
          <a:xfrm>
            <a:off x="3447288" y="3229661"/>
            <a:ext cx="2478024" cy="341986"/>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Transfer RMSE (kW), k=10</a:t>
            </a:r>
            <a:endParaRPr lang="en-US" sz="1150" dirty="0"/>
          </a:p>
        </p:txBody>
      </p:sp>
      <p:sp>
        <p:nvSpPr>
          <p:cNvPr id="21" name="Shape 19"/>
          <p:cNvSpPr/>
          <p:nvPr/>
        </p:nvSpPr>
        <p:spPr>
          <a:xfrm>
            <a:off x="6172200" y="2606040"/>
            <a:ext cx="2697480" cy="1005840"/>
          </a:xfrm>
          <a:prstGeom prst="roundRect">
            <a:avLst>
              <a:gd name="adj" fmla="val 7273"/>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22" name="Text 20"/>
          <p:cNvSpPr txBox="1"/>
          <p:nvPr/>
        </p:nvSpPr>
        <p:spPr>
          <a:xfrm>
            <a:off x="6281928" y="2715768"/>
            <a:ext cx="2478024" cy="553212"/>
          </a:xfrm>
          <a:prstGeom prst="rect">
            <a:avLst/>
          </a:prstGeom>
          <a:noFill/>
          <a:ln/>
        </p:spPr>
        <p:txBody>
          <a:bodyPr wrap="square" lIns="0" tIns="0" rIns="0" bIns="0" rtlCol="0" anchor="b"/>
          <a:lstStyle/>
          <a:p>
            <a:pPr algn="ctr" indent="0" marL="0">
              <a:buNone/>
            </a:pPr>
            <a:r>
              <a:rPr lang="en-US" sz="2600" b="1" dirty="0">
                <a:solidFill>
                  <a:srgbClr val="C0524A"/>
                </a:solidFill>
                <a:latin typeface="Cambria" pitchFamily="34" charset="0"/>
                <a:ea typeface="Cambria" pitchFamily="34" charset="-122"/>
                <a:cs typeface="Cambria" pitchFamily="34" charset="-120"/>
              </a:rPr>
              <a:t>184.17</a:t>
            </a:r>
            <a:endParaRPr lang="en-US" sz="2600" dirty="0"/>
          </a:p>
        </p:txBody>
      </p:sp>
      <p:sp>
        <p:nvSpPr>
          <p:cNvPr id="23" name="Text 21"/>
          <p:cNvSpPr txBox="1"/>
          <p:nvPr/>
        </p:nvSpPr>
        <p:spPr>
          <a:xfrm>
            <a:off x="6281928" y="3229661"/>
            <a:ext cx="2478024" cy="341986"/>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Zero-shot RMSE (kW) — no adaptation</a:t>
            </a:r>
            <a:endParaRPr lang="en-US" sz="1150" dirty="0"/>
          </a:p>
        </p:txBody>
      </p:sp>
      <p:sp>
        <p:nvSpPr>
          <p:cNvPr id="24" name="Text 22"/>
          <p:cNvSpPr txBox="1"/>
          <p:nvPr/>
        </p:nvSpPr>
        <p:spPr>
          <a:xfrm>
            <a:off x="502920" y="3794760"/>
            <a:ext cx="5486400" cy="265176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Zero-shot (no Amherst training) fails badly — same scale mismatch as Problem 2</a:t>
            </a:r>
            <a:endParaRPr lang="en-US" sz="1350" dirty="0"/>
          </a:p>
          <a:p>
            <a:pPr marL="228600" indent="-2286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Transfer (Davis-pretrained + fine-tuned) beats training from scratch on the same k samples, at every k — most when data is scarcest</a:t>
            </a:r>
            <a:endParaRPr lang="en-US" sz="1350" dirty="0"/>
          </a:p>
          <a:p>
            <a:pPr marL="228600" indent="-2286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An early version, with too-small a fine-tuning learning rate, caused negative transfer (worse than from-scratch) — found and fixed</a:t>
            </a:r>
            <a:endParaRPr lang="en-US" sz="1350" dirty="0"/>
          </a:p>
        </p:txBody>
      </p:sp>
      <p:sp>
        <p:nvSpPr>
          <p:cNvPr id="25" name="Shape 23"/>
          <p:cNvSpPr/>
          <p:nvPr/>
        </p:nvSpPr>
        <p:spPr>
          <a:xfrm>
            <a:off x="6080760" y="3657600"/>
            <a:ext cx="5623560" cy="2788920"/>
          </a:xfrm>
          <a:prstGeom prst="roundRect">
            <a:avLst>
              <a:gd name="adj" fmla="val 196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26" name="Image 0" descr="/home/claude/ECE571_Project/figures/problem5/problem5_transfer_curve.png">    </p:cNvPr>
          <p:cNvPicPr>
            <a:picLocks noChangeAspect="1"/>
          </p:cNvPicPr>
          <p:nvPr/>
        </p:nvPicPr>
        <p:blipFill>
          <a:blip r:embed="rId1"/>
          <a:srcRect l="0" r="0" t="0" b="0"/>
          <a:stretch/>
        </p:blipFill>
        <p:spPr>
          <a:xfrm>
            <a:off x="6190488" y="3767328"/>
            <a:ext cx="5404104" cy="2221992"/>
          </a:xfrm>
          <a:prstGeom prst="rect">
            <a:avLst/>
          </a:prstGeom>
        </p:spPr>
      </p:pic>
      <p:sp>
        <p:nvSpPr>
          <p:cNvPr id="27" name="Text 24"/>
          <p:cNvSpPr txBox="1"/>
          <p:nvPr/>
        </p:nvSpPr>
        <p:spPr>
          <a:xfrm>
            <a:off x="6190488" y="6044184"/>
            <a:ext cx="540410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RMSE vs. Amherst labeled sample count</a:t>
            </a:r>
            <a:endParaRPr lang="en-US" sz="1100" dirty="0"/>
          </a:p>
        </p:txBody>
      </p:sp>
      <p:sp>
        <p:nvSpPr>
          <p:cNvPr id="28" name="Text 25"/>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THE WHOLE PROJECT, AT A GLANCE</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Cross-Problem Results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4206240"/>
        </p:xfrm>
        <a:graphic>
          <a:graphicData uri="http://schemas.openxmlformats.org/drawingml/2006/table">
            <a:tbl>
              <a:tblPr/>
              <a:tblGrid>
                <a:gridCol w="2148840"/>
                <a:gridCol w="2331720"/>
                <a:gridCol w="2862072"/>
                <a:gridCol w="3840480"/>
              </a:tblGrid>
              <a:tr h="6858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Problem</a:t>
                      </a:r>
                      <a:endParaRPr lang="en-US" sz="130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132A46"/>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Best Method</a:t>
                      </a:r>
                      <a:endParaRPr lang="en-US" sz="130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132A46"/>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Best Result</a:t>
                      </a:r>
                      <a:endParaRPr lang="en-US" sz="130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132A46"/>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Main Finding</a:t>
                      </a:r>
                      <a:endParaRPr lang="en-US" sz="130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132A46"/>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P1 — Classification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0.772 Bal. Acc. (Davis)</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 simple linear model beat every ensemble and neural net</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P2 — Regression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Gradient Boosting</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RMSE 15.17 kW (R²=0.953)</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Strongest result in the entire project</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P3 — Dimension Reduction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Raw features (no reduction)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0.743 Bal. Acc. / RMSE 23.86 kW</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Compression hurt at every dimension tested</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P4 — Semi-Supervised</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Pseudo-labeling</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Macro F1 ≈ 0.70 (all fractions)</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SSL gain ≈ 0 — labels correct, but redundant</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P5 — Transfer Learning</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Transfer (k=10)</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RMSE 30.03 kW (+21.4%)</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Transfer clearly helped, most when data was scarce</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02920" y="5943600"/>
            <a:ext cx="11183112" cy="502920"/>
          </a:xfrm>
          <a:prstGeom prst="rect">
            <a:avLst/>
          </a:prstGeom>
          <a:noFill/>
          <a:ln/>
        </p:spPr>
        <p:txBody>
          <a:bodyPr wrap="square" lIns="0" tIns="0" rIns="0" bIns="0" rtlCol="0" anchor="ctr"/>
          <a:lstStyle/>
          <a:p>
            <a:pPr indent="0" marL="0">
              <a:buNone/>
            </a:pPr>
            <a:r>
              <a:rPr lang="en-US" sz="1350" i="1" dirty="0">
                <a:solidFill>
                  <a:srgbClr val="5B6B7C"/>
                </a:solidFill>
                <a:latin typeface="Calibri" pitchFamily="34" charset="0"/>
                <a:ea typeface="Calibri" pitchFamily="34" charset="-122"/>
                <a:cs typeface="Calibri" pitchFamily="34" charset="-120"/>
              </a:rPr>
              <a:t>Two paradigms clearly helped (supervised learning, transfer learning); two produced genuinely negative results (dimension reduction, semi-supervised learning) — all reported honestly.</a:t>
            </a:r>
            <a:endParaRPr lang="en-US" sz="1350" dirty="0"/>
          </a:p>
        </p:txBody>
      </p:sp>
      <p:sp>
        <p:nvSpPr>
          <p:cNvPr id="6" name="Text 3"/>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MOST INTERESTING FINDING</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One Learning Rate, Two Opposite Outcomes</a:t>
            </a:r>
            <a:endParaRPr lang="en-US" sz="3000" dirty="0"/>
          </a:p>
        </p:txBody>
      </p:sp>
      <p:sp>
        <p:nvSpPr>
          <p:cNvPr id="4" name="Text 2"/>
          <p:cNvSpPr txBox="1"/>
          <p:nvPr/>
        </p:nvSpPr>
        <p:spPr>
          <a:xfrm>
            <a:off x="502920" y="1417320"/>
            <a:ext cx="11155680" cy="59436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The exact same transfer setup — same cities, same 10 Amherst samples — produced either a severe failure or a clear win, depending only on the fine-tuning learning rate.</a:t>
            </a:r>
            <a:endParaRPr lang="en-US" sz="1500" dirty="0"/>
          </a:p>
        </p:txBody>
      </p:sp>
      <p:graphicFrame>
        <p:nvGraphicFramePr>
          <p:cNvPr id="5" name="Chart 0" descr=""/>
          <p:cNvGraphicFramePr/>
          <p:nvPr/>
        </p:nvGraphicFramePr>
        <p:xfrm>
          <a:off x="502920" y="219456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172200" y="2194560"/>
            <a:ext cx="5513832" cy="3566160"/>
          </a:xfrm>
          <a:prstGeom prst="roundRect">
            <a:avLst>
              <a:gd name="adj" fmla="val 2051"/>
            </a:avLst>
          </a:prstGeom>
          <a:solidFill>
            <a:srgbClr val="132A46"/>
          </a:solidFill>
          <a:ln/>
        </p:spPr>
      </p:sp>
      <p:sp>
        <p:nvSpPr>
          <p:cNvPr id="7" name="Text 4"/>
          <p:cNvSpPr txBox="1"/>
          <p:nvPr/>
        </p:nvSpPr>
        <p:spPr>
          <a:xfrm>
            <a:off x="6400800" y="2423160"/>
            <a:ext cx="5074920" cy="3200400"/>
          </a:xfrm>
          <a:prstGeom prst="rect">
            <a:avLst/>
          </a:prstGeom>
          <a:noFill/>
          <a:ln/>
        </p:spPr>
        <p:txBody>
          <a:bodyPr wrap="square" lIns="0" tIns="0" rIns="0" bIns="0" rtlCol="0" anchor="t"/>
          <a:lstStyle/>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Too small a fine-tuning learning rate (following the assignment's own suggested strategy) couldn't shift the model's output from Davis's ~164 kW scale to Amherst's ~64 kW scale in time</a:t>
            </a:r>
            <a:endParaRPr lang="en-US" sz="1350" dirty="0"/>
          </a:p>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Matching the pretraining learning rate instead let it adapt — RMSE dropped from 140.9 to 27.2 kW</a:t>
            </a:r>
            <a:endParaRPr lang="en-US" sz="1350" dirty="0"/>
          </a:p>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This is why the final, reported result (30.03 kW, mean of 3 seeds) clearly beats few-shot, not loses to it</a:t>
            </a:r>
            <a:endParaRPr lang="en-US" sz="1350" dirty="0"/>
          </a:p>
        </p:txBody>
      </p:sp>
      <p:sp>
        <p:nvSpPr>
          <p:cNvPr id="8" name="Text 5"/>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BEING HONEST ABOUT WHAT DIDN'T WORK</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Failure Analysis</a:t>
            </a:r>
            <a:endParaRPr lang="en-US" sz="3000" dirty="0"/>
          </a:p>
        </p:txBody>
      </p:sp>
      <p:sp>
        <p:nvSpPr>
          <p:cNvPr id="4" name="Shape 2"/>
          <p:cNvSpPr/>
          <p:nvPr/>
        </p:nvSpPr>
        <p:spPr>
          <a:xfrm>
            <a:off x="502920" y="1463040"/>
            <a:ext cx="11183112" cy="1051560"/>
          </a:xfrm>
          <a:prstGeom prst="roundRect">
            <a:avLst>
              <a:gd name="adj" fmla="val 6957"/>
            </a:avLst>
          </a:prstGeom>
          <a:solidFill>
            <a:srgbClr val="FBEEED"/>
          </a:solidFill>
          <a:ln w="12700">
            <a:solidFill>
              <a:srgbClr val="C0524A"/>
            </a:solidFill>
            <a:prstDash val="solid"/>
          </a:ln>
        </p:spPr>
      </p:sp>
      <p:sp>
        <p:nvSpPr>
          <p:cNvPr id="5" name="Text 3"/>
          <p:cNvSpPr txBox="1"/>
          <p:nvPr/>
        </p:nvSpPr>
        <p:spPr>
          <a:xfrm>
            <a:off x="731520" y="1627632"/>
            <a:ext cx="10698480" cy="365760"/>
          </a:xfrm>
          <a:prstGeom prst="rect">
            <a:avLst/>
          </a:prstGeom>
          <a:noFill/>
          <a:ln/>
        </p:spPr>
        <p:txBody>
          <a:bodyPr wrap="square" lIns="0" tIns="0" rIns="0" bIns="0" rtlCol="0" anchor="ctr"/>
          <a:lstStyle/>
          <a:p>
            <a:pPr indent="0" marL="0">
              <a:buNone/>
            </a:pPr>
            <a:r>
              <a:rPr lang="en-US" sz="1500" b="1" dirty="0">
                <a:solidFill>
                  <a:srgbClr val="C0524A"/>
                </a:solidFill>
                <a:latin typeface="Calibri" pitchFamily="34" charset="0"/>
                <a:ea typeface="Calibri" pitchFamily="34" charset="-122"/>
                <a:cs typeface="Calibri" pitchFamily="34" charset="-120"/>
              </a:rPr>
              <a:t>Main failure: Dimension reduction hurt every task, at every dimension tested</a:t>
            </a:r>
            <a:endParaRPr lang="en-US" sz="1500" dirty="0"/>
          </a:p>
        </p:txBody>
      </p:sp>
      <p:sp>
        <p:nvSpPr>
          <p:cNvPr id="6" name="Text 4"/>
          <p:cNvSpPr txBox="1"/>
          <p:nvPr/>
        </p:nvSpPr>
        <p:spPr>
          <a:xfrm>
            <a:off x="731520" y="2011680"/>
            <a:ext cx="10698480"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Even at d=10 (using most of the original information, 94.6% explained variance for PCA), compressed features still lost real predictive power on both classification and regression.</a:t>
            </a:r>
            <a:endParaRPr lang="en-US" sz="1300" dirty="0"/>
          </a:p>
        </p:txBody>
      </p:sp>
      <p:sp>
        <p:nvSpPr>
          <p:cNvPr id="7" name="Text 5"/>
          <p:cNvSpPr txBox="1"/>
          <p:nvPr/>
        </p:nvSpPr>
        <p:spPr>
          <a:xfrm>
            <a:off x="502920" y="2743200"/>
            <a:ext cx="2743200" cy="365760"/>
          </a:xfrm>
          <a:prstGeom prst="rect">
            <a:avLst/>
          </a:prstGeom>
          <a:noFill/>
          <a:ln/>
        </p:spPr>
        <p:txBody>
          <a:bodyPr wrap="square" lIns="0" tIns="0" rIns="0" bIns="0" rtlCol="0" anchor="ctr"/>
          <a:lstStyle/>
          <a:p>
            <a:pPr indent="0" marL="0">
              <a:buNone/>
            </a:pPr>
            <a:r>
              <a:rPr lang="en-US" sz="1500" b="1" dirty="0">
                <a:solidFill>
                  <a:srgbClr val="132A46"/>
                </a:solidFill>
                <a:latin typeface="Calibri" pitchFamily="34" charset="0"/>
                <a:ea typeface="Calibri" pitchFamily="34" charset="-122"/>
                <a:cs typeface="Calibri" pitchFamily="34" charset="-120"/>
              </a:rPr>
              <a:t>Why?</a:t>
            </a:r>
            <a:endParaRPr lang="en-US" sz="1500" dirty="0"/>
          </a:p>
        </p:txBody>
      </p:sp>
      <p:sp>
        <p:nvSpPr>
          <p:cNvPr id="8" name="Text 6"/>
          <p:cNvSpPr txBox="1"/>
          <p:nvPr/>
        </p:nvSpPr>
        <p:spPr>
          <a:xfrm>
            <a:off x="502920" y="3154680"/>
            <a:ext cx="5349240" cy="2468880"/>
          </a:xfrm>
          <a:prstGeom prst="rect">
            <a:avLst/>
          </a:prstGeom>
          <a:noFill/>
          <a:ln/>
        </p:spPr>
        <p:txBody>
          <a:bodyPr wrap="square" lIns="0" tIns="0" rIns="0" bIns="0" rtlCol="0" anchor="t"/>
          <a:lstStyle/>
          <a:p>
            <a:pPr marL="228600" indent="-2286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Cloud Type is categorical and highly predictive, but doesn't compress well into a few continuous dimensions</a:t>
            </a:r>
            <a:endParaRPr lang="en-US" sz="1400" dirty="0"/>
          </a:p>
          <a:p>
            <a:pPr marL="228600" indent="-2286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Verified directly: removing Cloud Type raised explained variance but lowered both reconstruction quality and downstream accuracy</a:t>
            </a:r>
            <a:endParaRPr lang="en-US" sz="1400" dirty="0"/>
          </a:p>
        </p:txBody>
      </p:sp>
      <p:sp>
        <p:nvSpPr>
          <p:cNvPr id="9" name="Text 7"/>
          <p:cNvSpPr txBox="1"/>
          <p:nvPr/>
        </p:nvSpPr>
        <p:spPr>
          <a:xfrm>
            <a:off x="6172200" y="2743200"/>
            <a:ext cx="5394960" cy="365760"/>
          </a:xfrm>
          <a:prstGeom prst="rect">
            <a:avLst/>
          </a:prstGeom>
          <a:noFill/>
          <a:ln/>
        </p:spPr>
        <p:txBody>
          <a:bodyPr wrap="square" lIns="0" tIns="0" rIns="0" bIns="0" rtlCol="0" anchor="ctr"/>
          <a:lstStyle/>
          <a:p>
            <a:pPr indent="0" marL="0">
              <a:buNone/>
            </a:pPr>
            <a:r>
              <a:rPr lang="en-US" sz="1500" b="1" dirty="0">
                <a:solidFill>
                  <a:srgbClr val="132A46"/>
                </a:solidFill>
                <a:latin typeface="Calibri" pitchFamily="34" charset="0"/>
                <a:ea typeface="Calibri" pitchFamily="34" charset="-122"/>
                <a:cs typeface="Calibri" pitchFamily="34" charset="-120"/>
              </a:rPr>
              <a:t>What did I learn from it?</a:t>
            </a:r>
            <a:endParaRPr lang="en-US" sz="1500" dirty="0"/>
          </a:p>
        </p:txBody>
      </p:sp>
      <p:sp>
        <p:nvSpPr>
          <p:cNvPr id="10" name="Text 8"/>
          <p:cNvSpPr txBox="1"/>
          <p:nvPr/>
        </p:nvSpPr>
        <p:spPr>
          <a:xfrm>
            <a:off x="6172200" y="3154680"/>
            <a:ext cx="5349240" cy="2468880"/>
          </a:xfrm>
          <a:prstGeom prst="rect">
            <a:avLst/>
          </a:prstGeom>
          <a:noFill/>
          <a:ln/>
        </p:spPr>
        <p:txBody>
          <a:bodyPr wrap="square" lIns="0" tIns="0" rIns="0" bIns="0" rtlCol="0" anchor="t"/>
          <a:lstStyle/>
          <a:p>
            <a:pPr marL="228600" indent="-2286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“Unsupervised compression should be harmless” is an assumption, not a guarantee — it has to be tested for each dataset</a:t>
            </a:r>
            <a:endParaRPr lang="en-US" sz="1400" dirty="0"/>
          </a:p>
          <a:p>
            <a:pPr marL="228600" indent="-2286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A secondary failure (Problem 4): SSL's pseudo-labels were 100% accurate but redundant — a different, subtler kind of failure than being simply wrong</a:t>
            </a:r>
            <a:endParaRPr lang="en-US" sz="1400" dirty="0"/>
          </a:p>
        </p:txBody>
      </p:sp>
      <p:sp>
        <p:nvSpPr>
          <p:cNvPr id="11" name="Text 9"/>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SCOPE</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Limitations &amp; Future Work</a:t>
            </a:r>
            <a:endParaRPr lang="en-US" sz="3000" dirty="0"/>
          </a:p>
        </p:txBody>
      </p:sp>
      <p:sp>
        <p:nvSpPr>
          <p:cNvPr id="4" name="Shape 2"/>
          <p:cNvSpPr/>
          <p:nvPr/>
        </p:nvSpPr>
        <p:spPr>
          <a:xfrm>
            <a:off x="502920" y="1463040"/>
            <a:ext cx="5440680" cy="4572000"/>
          </a:xfrm>
          <a:prstGeom prst="roundRect">
            <a:avLst>
              <a:gd name="adj" fmla="val 1600"/>
            </a:avLst>
          </a:prstGeom>
          <a:solidFill>
            <a:srgbClr val="FFFFFF"/>
          </a:solidFill>
          <a:ln w="12700">
            <a:solidFill>
              <a:srgbClr val="E1E6EC"/>
            </a:solidFill>
            <a:prstDash val="solid"/>
          </a:ln>
        </p:spPr>
      </p:sp>
      <p:sp>
        <p:nvSpPr>
          <p:cNvPr id="5" name="Text 3"/>
          <p:cNvSpPr txBox="1"/>
          <p:nvPr/>
        </p:nvSpPr>
        <p:spPr>
          <a:xfrm>
            <a:off x="731520" y="1691640"/>
            <a:ext cx="5029200" cy="365760"/>
          </a:xfrm>
          <a:prstGeom prst="rect">
            <a:avLst/>
          </a:prstGeom>
          <a:noFill/>
          <a:ln/>
        </p:spPr>
        <p:txBody>
          <a:bodyPr wrap="square" lIns="0" tIns="0" rIns="0" bIns="0" rtlCol="0" anchor="ctr"/>
          <a:lstStyle/>
          <a:p>
            <a:pPr indent="0" marL="0">
              <a:buNone/>
            </a:pPr>
            <a:r>
              <a:rPr lang="en-US" sz="1600" b="1" dirty="0">
                <a:solidFill>
                  <a:srgbClr val="C0524A"/>
                </a:solidFill>
                <a:latin typeface="Calibri" pitchFamily="34" charset="0"/>
                <a:ea typeface="Calibri" pitchFamily="34" charset="-122"/>
                <a:cs typeface="Calibri" pitchFamily="34" charset="-120"/>
              </a:rPr>
              <a:t>Limitations</a:t>
            </a:r>
            <a:endParaRPr lang="en-US" sz="1600" dirty="0"/>
          </a:p>
        </p:txBody>
      </p:sp>
      <p:sp>
        <p:nvSpPr>
          <p:cNvPr id="6" name="Text 4"/>
          <p:cNvSpPr txBox="1"/>
          <p:nvPr/>
        </p:nvSpPr>
        <p:spPr>
          <a:xfrm>
            <a:off x="731520" y="2148840"/>
            <a:ext cx="4983480" cy="3749040"/>
          </a:xfrm>
          <a:prstGeom prst="rect">
            <a:avLst/>
          </a:prstGeom>
          <a:noFill/>
          <a:ln/>
        </p:spPr>
        <p:txBody>
          <a:bodyPr wrap="square" lIns="0" tIns="0" rIns="0" bIns="0" rtlCol="0" anchor="t"/>
          <a:lstStyle/>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5 cities, mostly 6 years — enough to demonstrate methods, not to generalize broadly</a:t>
            </a:r>
            <a:endParaRPr lang="en-US" sz="1350" dirty="0"/>
          </a:p>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Different PV plant scales across cities are a recurring complication, not a solved problem</a:t>
            </a:r>
            <a:endParaRPr lang="en-US" sz="1350" dirty="0"/>
          </a:p>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Deliberately small hyperparameter searches (3-5 options) throughout</a:t>
            </a:r>
            <a:endParaRPr lang="en-US" sz="1350" dirty="0"/>
          </a:p>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No GPU in development — all models trained on CPU (will use CUDA automatically)</a:t>
            </a:r>
            <a:endParaRPr lang="en-US" sz="1350" dirty="0"/>
          </a:p>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No real-time weather forecast input, no live deployment testing</a:t>
            </a:r>
            <a:endParaRPr lang="en-US" sz="1350" dirty="0"/>
          </a:p>
        </p:txBody>
      </p:sp>
      <p:sp>
        <p:nvSpPr>
          <p:cNvPr id="7" name="Shape 5"/>
          <p:cNvSpPr/>
          <p:nvPr/>
        </p:nvSpPr>
        <p:spPr>
          <a:xfrm>
            <a:off x="6245352" y="1463040"/>
            <a:ext cx="5440680" cy="4572000"/>
          </a:xfrm>
          <a:prstGeom prst="roundRect">
            <a:avLst>
              <a:gd name="adj" fmla="val 1600"/>
            </a:avLst>
          </a:prstGeom>
          <a:solidFill>
            <a:srgbClr val="FFFFFF"/>
          </a:solidFill>
          <a:ln w="12700">
            <a:solidFill>
              <a:srgbClr val="E1E6EC"/>
            </a:solidFill>
            <a:prstDash val="solid"/>
          </a:ln>
        </p:spPr>
      </p:sp>
      <p:sp>
        <p:nvSpPr>
          <p:cNvPr id="8" name="Text 6"/>
          <p:cNvSpPr txBox="1"/>
          <p:nvPr/>
        </p:nvSpPr>
        <p:spPr>
          <a:xfrm>
            <a:off x="6473952" y="1691640"/>
            <a:ext cx="5029200" cy="365760"/>
          </a:xfrm>
          <a:prstGeom prst="rect">
            <a:avLst/>
          </a:prstGeom>
          <a:noFill/>
          <a:ln/>
        </p:spPr>
        <p:txBody>
          <a:bodyPr wrap="square" lIns="0" tIns="0" rIns="0" bIns="0" rtlCol="0" anchor="ctr"/>
          <a:lstStyle/>
          <a:p>
            <a:pPr indent="0" marL="0">
              <a:buNone/>
            </a:pPr>
            <a:r>
              <a:rPr lang="en-US" sz="1600" b="1" dirty="0">
                <a:solidFill>
                  <a:srgbClr val="2A9D8F"/>
                </a:solidFill>
                <a:latin typeface="Calibri" pitchFamily="34" charset="0"/>
                <a:ea typeface="Calibri" pitchFamily="34" charset="-122"/>
                <a:cs typeface="Calibri" pitchFamily="34" charset="-120"/>
              </a:rPr>
              <a:t>Future Work</a:t>
            </a:r>
            <a:endParaRPr lang="en-US" sz="1600" dirty="0"/>
          </a:p>
        </p:txBody>
      </p:sp>
      <p:sp>
        <p:nvSpPr>
          <p:cNvPr id="9" name="Text 7"/>
          <p:cNvSpPr txBox="1"/>
          <p:nvPr/>
        </p:nvSpPr>
        <p:spPr>
          <a:xfrm>
            <a:off x="6473952" y="2148840"/>
            <a:ext cx="4983480" cy="3749040"/>
          </a:xfrm>
          <a:prstGeom prst="rect">
            <a:avLst/>
          </a:prstGeom>
          <a:noFill/>
          <a:ln/>
        </p:spPr>
        <p:txBody>
          <a:bodyPr wrap="square" lIns="0" tIns="0" rIns="0" bIns="0" rtlCol="0" anchor="t"/>
          <a:lstStyle/>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A larger hyperparameter search, now that a working baseline exists for each paradigm</a:t>
            </a:r>
            <a:endParaRPr lang="en-US" sz="1350" dirty="0"/>
          </a:p>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Investigate the Wind Speed domain-shift anomaly flagged in Problem 5</a:t>
            </a:r>
            <a:endParaRPr lang="en-US" sz="1350" dirty="0"/>
          </a:p>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Extend transfer learning to Huron, Santa Barbara, and La Jolla (currently zero-shot only)</a:t>
            </a:r>
            <a:endParaRPr lang="en-US" sz="1350" dirty="0"/>
          </a:p>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Longer forecasting horizons and real weather-forecast inputs, not just historical readings</a:t>
            </a:r>
            <a:endParaRPr lang="en-US" sz="1350" dirty="0"/>
          </a:p>
          <a:p>
            <a:pPr marL="228600" indent="-228600">
              <a:spcAft>
                <a:spcPts val="1300"/>
              </a:spcAft>
              <a:buSzPct val="100000"/>
              <a:buChar char="•"/>
            </a:pPr>
            <a:r>
              <a:rPr lang="en-US" sz="1350" dirty="0">
                <a:solidFill>
                  <a:srgbClr val="1A1A1A"/>
                </a:solidFill>
                <a:latin typeface="Calibri" pitchFamily="34" charset="0"/>
                <a:ea typeface="Calibri" pitchFamily="34" charset="-122"/>
                <a:cs typeface="Calibri" pitchFamily="34" charset="-120"/>
              </a:rPr>
              <a:t>Uncertainty estimation alongside point predictions</a:t>
            </a:r>
            <a:endParaRPr lang="en-US" sz="1350" dirty="0"/>
          </a:p>
        </p:txBody>
      </p:sp>
      <p:sp>
        <p:nvSpPr>
          <p:cNvPr id="10" name="Text 8"/>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A46"/>
        </a:solidFill>
      </p:bgPr>
    </p:bg>
    <p:spTree>
      <p:nvGrpSpPr>
        <p:cNvPr id="1" name=""/>
        <p:cNvGrpSpPr/>
        <p:nvPr/>
      </p:nvGrpSpPr>
      <p:grpSpPr>
        <a:xfrm>
          <a:off x="0" y="0"/>
          <a:ext cx="0" cy="0"/>
          <a:chOff x="0" y="0"/>
          <a:chExt cx="0" cy="0"/>
        </a:xfrm>
      </p:grpSpPr>
      <p:sp>
        <p:nvSpPr>
          <p:cNvPr id="2" name="Text 0"/>
          <p:cNvSpPr txBox="1"/>
          <p:nvPr/>
        </p:nvSpPr>
        <p:spPr>
          <a:xfrm>
            <a:off x="502920" y="502920"/>
            <a:ext cx="9144000" cy="320040"/>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CONCLUSION</a:t>
            </a:r>
            <a:endParaRPr lang="en-US" sz="1300" dirty="0"/>
          </a:p>
        </p:txBody>
      </p:sp>
      <p:sp>
        <p:nvSpPr>
          <p:cNvPr id="3" name="Text 1"/>
          <p:cNvSpPr txBox="1"/>
          <p:nvPr/>
        </p:nvSpPr>
        <p:spPr>
          <a:xfrm>
            <a:off x="502920" y="82296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Five Takeaways</a:t>
            </a:r>
            <a:endParaRPr lang="en-US" sz="3000" dirty="0"/>
          </a:p>
        </p:txBody>
      </p:sp>
      <p:sp>
        <p:nvSpPr>
          <p:cNvPr id="4" name="Shape 2"/>
          <p:cNvSpPr/>
          <p:nvPr/>
        </p:nvSpPr>
        <p:spPr>
          <a:xfrm>
            <a:off x="502920" y="1691640"/>
            <a:ext cx="457200" cy="457200"/>
          </a:xfrm>
          <a:prstGeom prst="ellipse">
            <a:avLst/>
          </a:prstGeom>
          <a:solidFill>
            <a:srgbClr val="F5A623"/>
          </a:solidFill>
          <a:ln/>
        </p:spPr>
      </p:sp>
      <p:sp>
        <p:nvSpPr>
          <p:cNvPr id="5" name="Text 3"/>
          <p:cNvSpPr txBox="1"/>
          <p:nvPr/>
        </p:nvSpPr>
        <p:spPr>
          <a:xfrm>
            <a:off x="502920" y="1691640"/>
            <a:ext cx="457200" cy="457200"/>
          </a:xfrm>
          <a:prstGeom prst="rect">
            <a:avLst/>
          </a:prstGeom>
          <a:noFill/>
          <a:ln/>
        </p:spPr>
        <p:txBody>
          <a:bodyPr wrap="square" lIns="0" tIns="0" rIns="0" bIns="0" rtlCol="0" anchor="ctr"/>
          <a:lstStyle/>
          <a:p>
            <a:pPr algn="ctr" indent="0" marL="0">
              <a:buNone/>
            </a:pPr>
            <a:r>
              <a:rPr lang="en-US" sz="1600" b="1" dirty="0">
                <a:solidFill>
                  <a:srgbClr val="132A46"/>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143000" y="1664208"/>
            <a:ext cx="103327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PV output can be predicted very effectively from weather and irradiance alone</a:t>
            </a:r>
            <a:endParaRPr lang="en-US" sz="1500" dirty="0"/>
          </a:p>
        </p:txBody>
      </p:sp>
      <p:sp>
        <p:nvSpPr>
          <p:cNvPr id="7" name="Text 5"/>
          <p:cNvSpPr txBox="1"/>
          <p:nvPr/>
        </p:nvSpPr>
        <p:spPr>
          <a:xfrm>
            <a:off x="1143000" y="2029968"/>
            <a:ext cx="10332720" cy="320040"/>
          </a:xfrm>
          <a:prstGeom prst="rect">
            <a:avLst/>
          </a:prstGeom>
          <a:noFill/>
          <a:ln/>
        </p:spPr>
        <p:txBody>
          <a:bodyPr wrap="square" lIns="0" tIns="0" rIns="0" bIns="0" rtlCol="0" anchor="ctr"/>
          <a:lstStyle/>
          <a:p>
            <a:pPr indent="0" marL="0">
              <a:buNone/>
            </a:pPr>
            <a:r>
              <a:rPr lang="en-US" sz="1250" i="1" dirty="0">
                <a:solidFill>
                  <a:srgbClr val="AEC0D4"/>
                </a:solidFill>
                <a:latin typeface="Calibri" pitchFamily="34" charset="0"/>
                <a:ea typeface="Calibri" pitchFamily="34" charset="-122"/>
                <a:cs typeface="Calibri" pitchFamily="34" charset="-120"/>
              </a:rPr>
              <a:t>R² = 0.953 for same-city Davis regression</a:t>
            </a:r>
            <a:endParaRPr lang="en-US" sz="1250" dirty="0"/>
          </a:p>
        </p:txBody>
      </p:sp>
      <p:sp>
        <p:nvSpPr>
          <p:cNvPr id="8" name="Shape 6"/>
          <p:cNvSpPr/>
          <p:nvPr/>
        </p:nvSpPr>
        <p:spPr>
          <a:xfrm>
            <a:off x="502920" y="2606040"/>
            <a:ext cx="457200" cy="457200"/>
          </a:xfrm>
          <a:prstGeom prst="ellipse">
            <a:avLst/>
          </a:prstGeom>
          <a:solidFill>
            <a:srgbClr val="F5A623"/>
          </a:solidFill>
          <a:ln/>
        </p:spPr>
      </p:sp>
      <p:sp>
        <p:nvSpPr>
          <p:cNvPr id="9" name="Text 7"/>
          <p:cNvSpPr txBox="1"/>
          <p:nvPr/>
        </p:nvSpPr>
        <p:spPr>
          <a:xfrm>
            <a:off x="502920" y="2606040"/>
            <a:ext cx="457200" cy="457200"/>
          </a:xfrm>
          <a:prstGeom prst="rect">
            <a:avLst/>
          </a:prstGeom>
          <a:noFill/>
          <a:ln/>
        </p:spPr>
        <p:txBody>
          <a:bodyPr wrap="square" lIns="0" tIns="0" rIns="0" bIns="0" rtlCol="0" anchor="ctr"/>
          <a:lstStyle/>
          <a:p>
            <a:pPr algn="ctr" indent="0" marL="0">
              <a:buNone/>
            </a:pPr>
            <a:r>
              <a:rPr lang="en-US" sz="1600" b="1" dirty="0">
                <a:solidFill>
                  <a:srgbClr val="132A46"/>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143000" y="2578608"/>
            <a:ext cx="103327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Different ML paradigms provide genuinely different, non-interchangeable benefits</a:t>
            </a:r>
            <a:endParaRPr lang="en-US" sz="1500" dirty="0"/>
          </a:p>
        </p:txBody>
      </p:sp>
      <p:sp>
        <p:nvSpPr>
          <p:cNvPr id="11" name="Text 9"/>
          <p:cNvSpPr txBox="1"/>
          <p:nvPr/>
        </p:nvSpPr>
        <p:spPr>
          <a:xfrm>
            <a:off x="1143000" y="2944368"/>
            <a:ext cx="10332720" cy="320040"/>
          </a:xfrm>
          <a:prstGeom prst="rect">
            <a:avLst/>
          </a:prstGeom>
          <a:noFill/>
          <a:ln/>
        </p:spPr>
        <p:txBody>
          <a:bodyPr wrap="square" lIns="0" tIns="0" rIns="0" bIns="0" rtlCol="0" anchor="ctr"/>
          <a:lstStyle/>
          <a:p>
            <a:pPr indent="0" marL="0">
              <a:buNone/>
            </a:pPr>
            <a:r>
              <a:rPr lang="en-US" sz="1250" i="1" dirty="0">
                <a:solidFill>
                  <a:srgbClr val="AEC0D4"/>
                </a:solidFill>
                <a:latin typeface="Calibri" pitchFamily="34" charset="0"/>
                <a:ea typeface="Calibri" pitchFamily="34" charset="-122"/>
                <a:cs typeface="Calibri" pitchFamily="34" charset="-120"/>
              </a:rPr>
              <a:t>Supervised learning, transfer learning, dimension reduction, and SSL all behaved differently</a:t>
            </a:r>
            <a:endParaRPr lang="en-US" sz="1250" dirty="0"/>
          </a:p>
        </p:txBody>
      </p:sp>
      <p:sp>
        <p:nvSpPr>
          <p:cNvPr id="12" name="Shape 10"/>
          <p:cNvSpPr/>
          <p:nvPr/>
        </p:nvSpPr>
        <p:spPr>
          <a:xfrm>
            <a:off x="502920" y="3520440"/>
            <a:ext cx="457200" cy="457200"/>
          </a:xfrm>
          <a:prstGeom prst="ellipse">
            <a:avLst/>
          </a:prstGeom>
          <a:solidFill>
            <a:srgbClr val="F5A623"/>
          </a:solidFill>
          <a:ln/>
        </p:spPr>
      </p:sp>
      <p:sp>
        <p:nvSpPr>
          <p:cNvPr id="13" name="Text 11"/>
          <p:cNvSpPr txBox="1"/>
          <p:nvPr/>
        </p:nvSpPr>
        <p:spPr>
          <a:xfrm>
            <a:off x="502920" y="3520440"/>
            <a:ext cx="457200" cy="457200"/>
          </a:xfrm>
          <a:prstGeom prst="rect">
            <a:avLst/>
          </a:prstGeom>
          <a:noFill/>
          <a:ln/>
        </p:spPr>
        <p:txBody>
          <a:bodyPr wrap="square" lIns="0" tIns="0" rIns="0" bIns="0" rtlCol="0" anchor="ctr"/>
          <a:lstStyle/>
          <a:p>
            <a:pPr algn="ctr" indent="0" marL="0">
              <a:buNone/>
            </a:pPr>
            <a:r>
              <a:rPr lang="en-US" sz="1600" b="1" dirty="0">
                <a:solidFill>
                  <a:srgbClr val="132A46"/>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143000" y="3493008"/>
            <a:ext cx="103327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Cross-city transfer is possible, but output-scale mismatch has to be handled explicitly</a:t>
            </a:r>
            <a:endParaRPr lang="en-US" sz="1500" dirty="0"/>
          </a:p>
        </p:txBody>
      </p:sp>
      <p:sp>
        <p:nvSpPr>
          <p:cNvPr id="15" name="Text 13"/>
          <p:cNvSpPr txBox="1"/>
          <p:nvPr/>
        </p:nvSpPr>
        <p:spPr>
          <a:xfrm>
            <a:off x="1143000" y="3858768"/>
            <a:ext cx="10332720" cy="320040"/>
          </a:xfrm>
          <a:prstGeom prst="rect">
            <a:avLst/>
          </a:prstGeom>
          <a:noFill/>
          <a:ln/>
        </p:spPr>
        <p:txBody>
          <a:bodyPr wrap="square" lIns="0" tIns="0" rIns="0" bIns="0" rtlCol="0" anchor="ctr"/>
          <a:lstStyle/>
          <a:p>
            <a:pPr indent="0" marL="0">
              <a:buNone/>
            </a:pPr>
            <a:r>
              <a:rPr lang="en-US" sz="1250" i="1" dirty="0">
                <a:solidFill>
                  <a:srgbClr val="AEC0D4"/>
                </a:solidFill>
                <a:latin typeface="Calibri" pitchFamily="34" charset="0"/>
                <a:ea typeface="Calibri" pitchFamily="34" charset="-122"/>
                <a:cs typeface="Calibri" pitchFamily="34" charset="-120"/>
              </a:rPr>
              <a:t>Raw zero-shot transfer failed everywhere it was tried</a:t>
            </a:r>
            <a:endParaRPr lang="en-US" sz="1250" dirty="0"/>
          </a:p>
        </p:txBody>
      </p:sp>
      <p:sp>
        <p:nvSpPr>
          <p:cNvPr id="16" name="Shape 14"/>
          <p:cNvSpPr/>
          <p:nvPr/>
        </p:nvSpPr>
        <p:spPr>
          <a:xfrm>
            <a:off x="502920" y="4434840"/>
            <a:ext cx="457200" cy="457200"/>
          </a:xfrm>
          <a:prstGeom prst="ellipse">
            <a:avLst/>
          </a:prstGeom>
          <a:solidFill>
            <a:srgbClr val="F5A623"/>
          </a:solidFill>
          <a:ln/>
        </p:spPr>
      </p:sp>
      <p:sp>
        <p:nvSpPr>
          <p:cNvPr id="17" name="Text 15"/>
          <p:cNvSpPr txBox="1"/>
          <p:nvPr/>
        </p:nvSpPr>
        <p:spPr>
          <a:xfrm>
            <a:off x="502920" y="4434840"/>
            <a:ext cx="457200" cy="457200"/>
          </a:xfrm>
          <a:prstGeom prst="rect">
            <a:avLst/>
          </a:prstGeom>
          <a:noFill/>
          <a:ln/>
        </p:spPr>
        <p:txBody>
          <a:bodyPr wrap="square" lIns="0" tIns="0" rIns="0" bIns="0" rtlCol="0" anchor="ctr"/>
          <a:lstStyle/>
          <a:p>
            <a:pPr algn="ctr" indent="0" marL="0">
              <a:buNone/>
            </a:pPr>
            <a:r>
              <a:rPr lang="en-US" sz="1600" b="1" dirty="0">
                <a:solidFill>
                  <a:srgbClr val="132A46"/>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143000" y="4407408"/>
            <a:ext cx="103327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Transfer learning helped substantially; semi-supervised learning did not, here</a:t>
            </a:r>
            <a:endParaRPr lang="en-US" sz="1500" dirty="0"/>
          </a:p>
        </p:txBody>
      </p:sp>
      <p:sp>
        <p:nvSpPr>
          <p:cNvPr id="19" name="Text 17"/>
          <p:cNvSpPr txBox="1"/>
          <p:nvPr/>
        </p:nvSpPr>
        <p:spPr>
          <a:xfrm>
            <a:off x="1143000" y="4773168"/>
            <a:ext cx="10332720" cy="320040"/>
          </a:xfrm>
          <a:prstGeom prst="rect">
            <a:avLst/>
          </a:prstGeom>
          <a:noFill/>
          <a:ln/>
        </p:spPr>
        <p:txBody>
          <a:bodyPr wrap="square" lIns="0" tIns="0" rIns="0" bIns="0" rtlCol="0" anchor="ctr"/>
          <a:lstStyle/>
          <a:p>
            <a:pPr indent="0" marL="0">
              <a:buNone/>
            </a:pPr>
            <a:r>
              <a:rPr lang="en-US" sz="1250" i="1" dirty="0">
                <a:solidFill>
                  <a:srgbClr val="AEC0D4"/>
                </a:solidFill>
                <a:latin typeface="Calibri" pitchFamily="34" charset="0"/>
                <a:ea typeface="Calibri" pitchFamily="34" charset="-122"/>
                <a:cs typeface="Calibri" pitchFamily="34" charset="-120"/>
              </a:rPr>
              <a:t>+21.4% RMSE at k=10 vs. an SSL gain of essentially zero</a:t>
            </a:r>
            <a:endParaRPr lang="en-US" sz="1250" dirty="0"/>
          </a:p>
        </p:txBody>
      </p:sp>
      <p:sp>
        <p:nvSpPr>
          <p:cNvPr id="20" name="Shape 18"/>
          <p:cNvSpPr/>
          <p:nvPr/>
        </p:nvSpPr>
        <p:spPr>
          <a:xfrm>
            <a:off x="502920" y="5349240"/>
            <a:ext cx="457200" cy="457200"/>
          </a:xfrm>
          <a:prstGeom prst="ellipse">
            <a:avLst/>
          </a:prstGeom>
          <a:solidFill>
            <a:srgbClr val="F5A623"/>
          </a:solidFill>
          <a:ln/>
        </p:spPr>
      </p:sp>
      <p:sp>
        <p:nvSpPr>
          <p:cNvPr id="21" name="Text 19"/>
          <p:cNvSpPr txBox="1"/>
          <p:nvPr/>
        </p:nvSpPr>
        <p:spPr>
          <a:xfrm>
            <a:off x="502920" y="5349240"/>
            <a:ext cx="457200" cy="457200"/>
          </a:xfrm>
          <a:prstGeom prst="rect">
            <a:avLst/>
          </a:prstGeom>
          <a:noFill/>
          <a:ln/>
        </p:spPr>
        <p:txBody>
          <a:bodyPr wrap="square" lIns="0" tIns="0" rIns="0" bIns="0" rtlCol="0" anchor="ctr"/>
          <a:lstStyle/>
          <a:p>
            <a:pPr algn="ctr" indent="0" marL="0">
              <a:buNone/>
            </a:pPr>
            <a:r>
              <a:rPr lang="en-US" sz="1600" b="1" dirty="0">
                <a:solidFill>
                  <a:srgbClr val="132A46"/>
                </a:solidFill>
                <a:latin typeface="Cambria" pitchFamily="34" charset="0"/>
                <a:ea typeface="Cambria" pitchFamily="34" charset="-122"/>
                <a:cs typeface="Cambria" pitchFamily="34" charset="-120"/>
              </a:rPr>
              <a:t>5</a:t>
            </a:r>
            <a:endParaRPr lang="en-US" sz="1600" dirty="0"/>
          </a:p>
        </p:txBody>
      </p:sp>
      <p:sp>
        <p:nvSpPr>
          <p:cNvPr id="22" name="Text 20"/>
          <p:cNvSpPr txBox="1"/>
          <p:nvPr/>
        </p:nvSpPr>
        <p:spPr>
          <a:xfrm>
            <a:off x="1143000" y="5321808"/>
            <a:ext cx="103327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Understanding WHY a technique fails is as valuable as the number itself</a:t>
            </a:r>
            <a:endParaRPr lang="en-US" sz="1500" dirty="0"/>
          </a:p>
        </p:txBody>
      </p:sp>
      <p:sp>
        <p:nvSpPr>
          <p:cNvPr id="23" name="Text 21"/>
          <p:cNvSpPr txBox="1"/>
          <p:nvPr/>
        </p:nvSpPr>
        <p:spPr>
          <a:xfrm>
            <a:off x="1143000" y="5687568"/>
            <a:ext cx="10332720" cy="320040"/>
          </a:xfrm>
          <a:prstGeom prst="rect">
            <a:avLst/>
          </a:prstGeom>
          <a:noFill/>
          <a:ln/>
        </p:spPr>
        <p:txBody>
          <a:bodyPr wrap="square" lIns="0" tIns="0" rIns="0" bIns="0" rtlCol="0" anchor="ctr"/>
          <a:lstStyle/>
          <a:p>
            <a:pPr indent="0" marL="0">
              <a:buNone/>
            </a:pPr>
            <a:r>
              <a:rPr lang="en-US" sz="1250" i="1" dirty="0">
                <a:solidFill>
                  <a:srgbClr val="AEC0D4"/>
                </a:solidFill>
                <a:latin typeface="Calibri" pitchFamily="34" charset="0"/>
                <a:ea typeface="Calibri" pitchFamily="34" charset="-122"/>
                <a:cs typeface="Calibri" pitchFamily="34" charset="-120"/>
              </a:rPr>
              <a:t>Every negative result in this project was traced to a specific, explainable cause</a:t>
            </a:r>
            <a:endParaRPr lang="en-US" sz="1250" dirty="0"/>
          </a:p>
        </p:txBody>
      </p:sp>
      <p:sp>
        <p:nvSpPr>
          <p:cNvPr id="24" name="Text 22"/>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8FA3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A46"/>
        </a:solidFill>
      </p:bgPr>
    </p:bg>
    <p:spTree>
      <p:nvGrpSpPr>
        <p:cNvPr id="1" name=""/>
        <p:cNvGrpSpPr/>
        <p:nvPr/>
      </p:nvGrpSpPr>
      <p:grpSpPr>
        <a:xfrm>
          <a:off x="0" y="0"/>
          <a:ext cx="0" cy="0"/>
          <a:chOff x="0" y="0"/>
          <a:chExt cx="0" cy="0"/>
        </a:xfrm>
      </p:grpSpPr>
      <p:sp>
        <p:nvSpPr>
          <p:cNvPr id="2" name="Shape 0"/>
          <p:cNvSpPr/>
          <p:nvPr/>
        </p:nvSpPr>
        <p:spPr>
          <a:xfrm>
            <a:off x="9418320" y="-1188720"/>
            <a:ext cx="4206240" cy="4206240"/>
          </a:xfrm>
          <a:prstGeom prst="ellipse">
            <a:avLst/>
          </a:prstGeom>
          <a:solidFill>
            <a:srgbClr val="24466E"/>
          </a:solidFill>
          <a:ln/>
        </p:spPr>
      </p:sp>
      <p:sp>
        <p:nvSpPr>
          <p:cNvPr id="3" name="Shape 1"/>
          <p:cNvSpPr/>
          <p:nvPr/>
        </p:nvSpPr>
        <p:spPr>
          <a:xfrm>
            <a:off x="9966960" y="-640080"/>
            <a:ext cx="3108960" cy="3108960"/>
          </a:xfrm>
          <a:prstGeom prst="ellipse">
            <a:avLst/>
          </a:prstGeom>
          <a:solidFill>
            <a:srgbClr val="3A5A82"/>
          </a:solidFill>
          <a:ln/>
        </p:spPr>
      </p:sp>
      <p:sp>
        <p:nvSpPr>
          <p:cNvPr id="4" name="Shape 2"/>
          <p:cNvSpPr/>
          <p:nvPr/>
        </p:nvSpPr>
        <p:spPr>
          <a:xfrm>
            <a:off x="10515600" y="-91440"/>
            <a:ext cx="2011680" cy="2011680"/>
          </a:xfrm>
          <a:prstGeom prst="ellipse">
            <a:avLst/>
          </a:prstGeom>
          <a:solidFill>
            <a:srgbClr val="F5A623"/>
          </a:solidFill>
          <a:ln/>
        </p:spPr>
      </p:sp>
      <p:sp>
        <p:nvSpPr>
          <p:cNvPr id="5" name="Text 3"/>
          <p:cNvSpPr txBox="1"/>
          <p:nvPr/>
        </p:nvSpPr>
        <p:spPr>
          <a:xfrm>
            <a:off x="502920" y="2834640"/>
            <a:ext cx="8229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6" name="Text 4"/>
          <p:cNvSpPr txBox="1"/>
          <p:nvPr/>
        </p:nvSpPr>
        <p:spPr>
          <a:xfrm>
            <a:off x="502920" y="3794760"/>
            <a:ext cx="82296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Photovoltaic Power Prediction on Large-Scale Spatiotemporal Data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ECE571 Machine Learning Course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Photovoltaic Power Prediction on Large-Scale Spatiotemporal Data</dc:title>
  <dc:subject>PptxGenJS Presentation</dc:subject>
  <dc:creator>ECE571 Student</dc:creator>
  <cp:lastModifiedBy>ECE571 Student</cp:lastModifiedBy>
  <cp:revision>1</cp:revision>
  <dcterms:created xsi:type="dcterms:W3CDTF">2026-09-15T10:48:43Z</dcterms:created>
  <dcterms:modified xsi:type="dcterms:W3CDTF">2026-09-15T10:48:43Z</dcterms:modified>
</cp:coreProperties>
</file>